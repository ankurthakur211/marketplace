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60" r:id="rId3"/>
    <p:sldId id="261" r:id="rId4"/>
    <p:sldId id="273" r:id="rId5"/>
    <p:sldId id="274" r:id="rId6"/>
    <p:sldId id="276" r:id="rId7"/>
    <p:sldId id="285" r:id="rId8"/>
    <p:sldId id="279" r:id="rId9"/>
    <p:sldId id="286" r:id="rId10"/>
    <p:sldId id="287" r:id="rId11"/>
    <p:sldId id="282" r:id="rId12"/>
    <p:sldId id="284" r:id="rId1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A060706-D9F8-4C26-BCC8-5BE32EF9AA81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C42DABB9-F74E-4C9D-B8D1-E5323D52A089}">
      <dgm:prSet/>
      <dgm:spPr/>
      <dgm:t>
        <a:bodyPr/>
        <a:lstStyle/>
        <a:p>
          <a:r>
            <a:rPr lang="en-US" b="1" i="0" baseline="0" dirty="0"/>
            <a:t>What is the API Marketplace?</a:t>
          </a:r>
          <a:endParaRPr lang="en-US" dirty="0"/>
        </a:p>
      </dgm:t>
    </dgm:pt>
    <dgm:pt modelId="{22838F25-2446-46F9-8031-CADCAAFFDE89}" type="parTrans" cxnId="{E4ADA8FF-A8E6-4E09-AE8D-659FFDF8179B}">
      <dgm:prSet/>
      <dgm:spPr/>
      <dgm:t>
        <a:bodyPr/>
        <a:lstStyle/>
        <a:p>
          <a:endParaRPr lang="en-US"/>
        </a:p>
      </dgm:t>
    </dgm:pt>
    <dgm:pt modelId="{563CA4B4-4822-4481-91C8-AB611EC2FE5B}" type="sibTrans" cxnId="{E4ADA8FF-A8E6-4E09-AE8D-659FFDF8179B}">
      <dgm:prSet/>
      <dgm:spPr/>
      <dgm:t>
        <a:bodyPr/>
        <a:lstStyle/>
        <a:p>
          <a:endParaRPr lang="en-US"/>
        </a:p>
      </dgm:t>
    </dgm:pt>
    <dgm:pt modelId="{73198D95-931B-4164-8A00-00C670708DFA}">
      <dgm:prSet/>
      <dgm:spPr/>
      <dgm:t>
        <a:bodyPr/>
        <a:lstStyle/>
        <a:p>
          <a:r>
            <a:rPr lang="en-US" b="0" i="0" baseline="0" dirty="0"/>
            <a:t>A Centralized platform to expose APIs for mutual fund investments.</a:t>
          </a:r>
          <a:endParaRPr lang="en-US" dirty="0"/>
        </a:p>
      </dgm:t>
    </dgm:pt>
    <dgm:pt modelId="{83B7C2CE-FF1B-47E0-BEB8-3241576657C0}" type="parTrans" cxnId="{66E577DB-017F-4F57-B91C-9A2F4CD45AFB}">
      <dgm:prSet/>
      <dgm:spPr/>
      <dgm:t>
        <a:bodyPr/>
        <a:lstStyle/>
        <a:p>
          <a:endParaRPr lang="en-US"/>
        </a:p>
      </dgm:t>
    </dgm:pt>
    <dgm:pt modelId="{5978D0D4-6B40-451E-A47B-233F8AC21EF3}" type="sibTrans" cxnId="{66E577DB-017F-4F57-B91C-9A2F4CD45AFB}">
      <dgm:prSet/>
      <dgm:spPr/>
      <dgm:t>
        <a:bodyPr/>
        <a:lstStyle/>
        <a:p>
          <a:endParaRPr lang="en-US"/>
        </a:p>
      </dgm:t>
    </dgm:pt>
    <dgm:pt modelId="{FBCCBF10-26F0-49D4-9882-B2D2511702CD}">
      <dgm:prSet/>
      <dgm:spPr/>
      <dgm:t>
        <a:bodyPr/>
        <a:lstStyle/>
        <a:p>
          <a:r>
            <a:rPr lang="en-US" b="0" i="0" baseline="0" dirty="0"/>
            <a:t>Enables ARB subsidiaries to offer mutual fund services through their digital channels.</a:t>
          </a:r>
          <a:endParaRPr lang="en-US" dirty="0"/>
        </a:p>
      </dgm:t>
    </dgm:pt>
    <dgm:pt modelId="{754D441D-FC03-4CCB-A809-B82EAA38F0BC}" type="parTrans" cxnId="{5C61EE41-FABC-4A63-9E8A-037428559A38}">
      <dgm:prSet/>
      <dgm:spPr/>
      <dgm:t>
        <a:bodyPr/>
        <a:lstStyle/>
        <a:p>
          <a:endParaRPr lang="en-US"/>
        </a:p>
      </dgm:t>
    </dgm:pt>
    <dgm:pt modelId="{35C5FD5E-1D54-4F9A-A328-FA237EAAF288}" type="sibTrans" cxnId="{5C61EE41-FABC-4A63-9E8A-037428559A38}">
      <dgm:prSet/>
      <dgm:spPr/>
      <dgm:t>
        <a:bodyPr/>
        <a:lstStyle/>
        <a:p>
          <a:endParaRPr lang="en-US"/>
        </a:p>
      </dgm:t>
    </dgm:pt>
    <dgm:pt modelId="{AC27039C-8A63-42C8-8A73-0FEB5654A4F8}">
      <dgm:prSet/>
      <dgm:spPr/>
      <dgm:t>
        <a:bodyPr/>
        <a:lstStyle/>
        <a:p>
          <a:r>
            <a:rPr lang="en-US" b="1" i="0" baseline="0"/>
            <a:t>What is a Mutual Fund?</a:t>
          </a:r>
          <a:endParaRPr lang="en-US"/>
        </a:p>
      </dgm:t>
    </dgm:pt>
    <dgm:pt modelId="{45193768-5C9E-4AFB-B1AC-9E695691A591}" type="parTrans" cxnId="{C897C80A-4B8F-41B4-ACE4-FC3A365D5E38}">
      <dgm:prSet/>
      <dgm:spPr/>
      <dgm:t>
        <a:bodyPr/>
        <a:lstStyle/>
        <a:p>
          <a:endParaRPr lang="en-US"/>
        </a:p>
      </dgm:t>
    </dgm:pt>
    <dgm:pt modelId="{657D77B6-F183-44F4-ADFE-94D9B4DBC8A5}" type="sibTrans" cxnId="{C897C80A-4B8F-41B4-ACE4-FC3A365D5E38}">
      <dgm:prSet/>
      <dgm:spPr/>
      <dgm:t>
        <a:bodyPr/>
        <a:lstStyle/>
        <a:p>
          <a:endParaRPr lang="en-US"/>
        </a:p>
      </dgm:t>
    </dgm:pt>
    <dgm:pt modelId="{2D4530ED-362E-4349-BA55-3C256886275A}">
      <dgm:prSet/>
      <dgm:spPr/>
      <dgm:t>
        <a:bodyPr/>
        <a:lstStyle/>
        <a:p>
          <a:r>
            <a:rPr lang="en-US" b="1" i="0" baseline="0" dirty="0"/>
            <a:t>Mutual Fund:</a:t>
          </a:r>
          <a:r>
            <a:rPr lang="en-US" b="0" i="0" baseline="0" dirty="0"/>
            <a:t> A pooled investment managed by professionals, offering investors proportional ownership of a diversified portfolio.</a:t>
          </a:r>
          <a:endParaRPr lang="en-US" dirty="0"/>
        </a:p>
      </dgm:t>
    </dgm:pt>
    <dgm:pt modelId="{8C2989A3-EC72-41E3-B1CC-DE5B4B5318ED}" type="parTrans" cxnId="{E3DD3257-780C-4007-AE92-B68C2B851479}">
      <dgm:prSet/>
      <dgm:spPr/>
      <dgm:t>
        <a:bodyPr/>
        <a:lstStyle/>
        <a:p>
          <a:endParaRPr lang="en-US"/>
        </a:p>
      </dgm:t>
    </dgm:pt>
    <dgm:pt modelId="{FD281F8E-389A-48BE-82EC-1A074D3AC8BC}" type="sibTrans" cxnId="{E3DD3257-780C-4007-AE92-B68C2B851479}">
      <dgm:prSet/>
      <dgm:spPr/>
      <dgm:t>
        <a:bodyPr/>
        <a:lstStyle/>
        <a:p>
          <a:endParaRPr lang="en-US"/>
        </a:p>
      </dgm:t>
    </dgm:pt>
    <dgm:pt modelId="{DCC2C35C-51D8-4DE7-BC1F-686ECDF327B8}">
      <dgm:prSet/>
      <dgm:spPr/>
      <dgm:t>
        <a:bodyPr/>
        <a:lstStyle/>
        <a:p>
          <a:r>
            <a:rPr lang="en-US" b="1" i="0" baseline="0" dirty="0"/>
            <a:t>What Mutual Funds Do:</a:t>
          </a:r>
          <a:endParaRPr lang="en-US" dirty="0"/>
        </a:p>
      </dgm:t>
    </dgm:pt>
    <dgm:pt modelId="{302DD62B-6211-4B8D-8B69-3F0EC04D0CD0}" type="parTrans" cxnId="{D6747A9C-3B84-4618-BEF5-1058F9CD9973}">
      <dgm:prSet/>
      <dgm:spPr/>
      <dgm:t>
        <a:bodyPr/>
        <a:lstStyle/>
        <a:p>
          <a:endParaRPr lang="en-US"/>
        </a:p>
      </dgm:t>
    </dgm:pt>
    <dgm:pt modelId="{1B4D23E5-9C63-4699-BB72-CA0252068377}" type="sibTrans" cxnId="{D6747A9C-3B84-4618-BEF5-1058F9CD9973}">
      <dgm:prSet/>
      <dgm:spPr/>
      <dgm:t>
        <a:bodyPr/>
        <a:lstStyle/>
        <a:p>
          <a:endParaRPr lang="en-US"/>
        </a:p>
      </dgm:t>
    </dgm:pt>
    <dgm:pt modelId="{7863DC93-544D-4ACF-B906-2B638B370E5C}">
      <dgm:prSet/>
      <dgm:spPr/>
      <dgm:t>
        <a:bodyPr/>
        <a:lstStyle/>
        <a:p>
          <a:r>
            <a:rPr lang="en-US" b="0" i="0" baseline="0" dirty="0"/>
            <a:t>Allow investors to subscribe (buy) units and redeem (Sell) units </a:t>
          </a:r>
          <a:endParaRPr lang="en-US" dirty="0"/>
        </a:p>
      </dgm:t>
    </dgm:pt>
    <dgm:pt modelId="{704F2830-4864-4072-B10B-D55B0186AAAC}" type="parTrans" cxnId="{139D65D9-FE42-4752-8AFA-C536BD269F96}">
      <dgm:prSet/>
      <dgm:spPr/>
      <dgm:t>
        <a:bodyPr/>
        <a:lstStyle/>
        <a:p>
          <a:endParaRPr lang="en-US"/>
        </a:p>
      </dgm:t>
    </dgm:pt>
    <dgm:pt modelId="{D2253F9F-9422-4C04-84F8-F6352759CD1A}" type="sibTrans" cxnId="{139D65D9-FE42-4752-8AFA-C536BD269F96}">
      <dgm:prSet/>
      <dgm:spPr/>
      <dgm:t>
        <a:bodyPr/>
        <a:lstStyle/>
        <a:p>
          <a:endParaRPr lang="en-US"/>
        </a:p>
      </dgm:t>
    </dgm:pt>
    <dgm:pt modelId="{384D3C3D-65D1-4390-8309-34992F4CA8FF}">
      <dgm:prSet/>
      <dgm:spPr/>
      <dgm:t>
        <a:bodyPr/>
        <a:lstStyle/>
        <a:p>
          <a:r>
            <a:rPr lang="en-US" b="1" i="0" baseline="0"/>
            <a:t>How It Will Be Used (B2B):</a:t>
          </a:r>
          <a:endParaRPr lang="en-US"/>
        </a:p>
      </dgm:t>
    </dgm:pt>
    <dgm:pt modelId="{B38AB9FF-7AE8-4220-A75D-5369B2D89978}" type="parTrans" cxnId="{158D8E0D-EF20-4071-B035-D172093E2D68}">
      <dgm:prSet/>
      <dgm:spPr/>
      <dgm:t>
        <a:bodyPr/>
        <a:lstStyle/>
        <a:p>
          <a:endParaRPr lang="en-US"/>
        </a:p>
      </dgm:t>
    </dgm:pt>
    <dgm:pt modelId="{D8D18996-7906-482B-A441-6C6C6D279202}" type="sibTrans" cxnId="{158D8E0D-EF20-4071-B035-D172093E2D68}">
      <dgm:prSet/>
      <dgm:spPr/>
      <dgm:t>
        <a:bodyPr/>
        <a:lstStyle/>
        <a:p>
          <a:endParaRPr lang="en-US"/>
        </a:p>
      </dgm:t>
    </dgm:pt>
    <dgm:pt modelId="{42227CF5-B727-4182-862D-20DF10D99E65}">
      <dgm:prSet/>
      <dgm:spPr/>
      <dgm:t>
        <a:bodyPr/>
        <a:lstStyle/>
        <a:p>
          <a:r>
            <a:rPr lang="en-US" b="0" i="0" baseline="0"/>
            <a:t>Your business (Consumer) integrates with API Marketplace to offer these services to your customers.</a:t>
          </a:r>
          <a:endParaRPr lang="en-US"/>
        </a:p>
      </dgm:t>
    </dgm:pt>
    <dgm:pt modelId="{9A93F41F-08BC-426D-9BCA-58BF9C722525}" type="parTrans" cxnId="{A4BFAD85-8314-40F0-A136-F0DCCA59BDF6}">
      <dgm:prSet/>
      <dgm:spPr/>
      <dgm:t>
        <a:bodyPr/>
        <a:lstStyle/>
        <a:p>
          <a:endParaRPr lang="en-US"/>
        </a:p>
      </dgm:t>
    </dgm:pt>
    <dgm:pt modelId="{4F431550-7485-4065-92F0-D8B9B63497E7}" type="sibTrans" cxnId="{A4BFAD85-8314-40F0-A136-F0DCCA59BDF6}">
      <dgm:prSet/>
      <dgm:spPr/>
      <dgm:t>
        <a:bodyPr/>
        <a:lstStyle/>
        <a:p>
          <a:endParaRPr lang="en-US"/>
        </a:p>
      </dgm:t>
    </dgm:pt>
    <dgm:pt modelId="{8FC7585F-A4CD-40A0-A9ED-BFA29F1E0FE0}">
      <dgm:prSet/>
      <dgm:spPr/>
      <dgm:t>
        <a:bodyPr/>
        <a:lstStyle/>
        <a:p>
          <a:r>
            <a:rPr lang="en-US" b="1" i="0" baseline="0" dirty="0"/>
            <a:t>Advantages of Mutual Funds (Business View):</a:t>
          </a:r>
          <a:endParaRPr lang="en-US" dirty="0"/>
        </a:p>
      </dgm:t>
    </dgm:pt>
    <dgm:pt modelId="{87A78F33-18E4-4079-81D9-3B2E47A6F81B}" type="parTrans" cxnId="{773FEB47-8EE3-4B43-A0CB-39B0C3F6808E}">
      <dgm:prSet/>
      <dgm:spPr/>
      <dgm:t>
        <a:bodyPr/>
        <a:lstStyle/>
        <a:p>
          <a:endParaRPr lang="en-US"/>
        </a:p>
      </dgm:t>
    </dgm:pt>
    <dgm:pt modelId="{9CD4A373-B7AE-4E57-BB9F-2EA4503346E2}" type="sibTrans" cxnId="{773FEB47-8EE3-4B43-A0CB-39B0C3F6808E}">
      <dgm:prSet/>
      <dgm:spPr/>
      <dgm:t>
        <a:bodyPr/>
        <a:lstStyle/>
        <a:p>
          <a:endParaRPr lang="en-US"/>
        </a:p>
      </dgm:t>
    </dgm:pt>
    <dgm:pt modelId="{9E76E955-686C-4642-9DDC-A077FCC98FAA}">
      <dgm:prSet/>
      <dgm:spPr/>
      <dgm:t>
        <a:bodyPr/>
        <a:lstStyle/>
        <a:p>
          <a:r>
            <a:rPr lang="en-US" b="0" i="0" baseline="0"/>
            <a:t>Expand product offerings without building your own investment platform.</a:t>
          </a:r>
          <a:endParaRPr lang="en-US"/>
        </a:p>
      </dgm:t>
    </dgm:pt>
    <dgm:pt modelId="{F0A2EA9D-FDDC-4679-A024-6ED7CBD7A83A}" type="parTrans" cxnId="{06980FB4-900A-4FC9-AF71-295CF8651712}">
      <dgm:prSet/>
      <dgm:spPr/>
      <dgm:t>
        <a:bodyPr/>
        <a:lstStyle/>
        <a:p>
          <a:endParaRPr lang="en-US"/>
        </a:p>
      </dgm:t>
    </dgm:pt>
    <dgm:pt modelId="{CA123E5C-7765-4304-8D38-D993AB3C4D21}" type="sibTrans" cxnId="{06980FB4-900A-4FC9-AF71-295CF8651712}">
      <dgm:prSet/>
      <dgm:spPr/>
      <dgm:t>
        <a:bodyPr/>
        <a:lstStyle/>
        <a:p>
          <a:endParaRPr lang="en-US"/>
        </a:p>
      </dgm:t>
    </dgm:pt>
    <dgm:pt modelId="{6C708B65-77D9-401A-9C0A-566CD0AD527C}">
      <dgm:prSet/>
      <dgm:spPr/>
      <dgm:t>
        <a:bodyPr/>
        <a:lstStyle/>
        <a:p>
          <a:r>
            <a:rPr lang="en-US" b="0" i="0" baseline="0"/>
            <a:t>Quick time</a:t>
          </a:r>
          <a:r>
            <a:rPr lang="ar-EG" b="0" i="0" baseline="0"/>
            <a:t> </a:t>
          </a:r>
          <a:r>
            <a:rPr lang="en-US" b="0" i="0" baseline="0"/>
            <a:t>to</a:t>
          </a:r>
          <a:r>
            <a:rPr lang="ar-EG" b="0" i="0" baseline="0"/>
            <a:t> </a:t>
          </a:r>
          <a:r>
            <a:rPr lang="en-US" b="0" i="0" baseline="0"/>
            <a:t>market through standardized APIs.</a:t>
          </a:r>
          <a:endParaRPr lang="en-US"/>
        </a:p>
      </dgm:t>
    </dgm:pt>
    <dgm:pt modelId="{5FD8FF36-CEC9-4C67-93E0-EEB4323551AE}" type="parTrans" cxnId="{30FE3EA6-5895-4C7F-BB8E-B40D68D49573}">
      <dgm:prSet/>
      <dgm:spPr/>
      <dgm:t>
        <a:bodyPr/>
        <a:lstStyle/>
        <a:p>
          <a:endParaRPr lang="en-US"/>
        </a:p>
      </dgm:t>
    </dgm:pt>
    <dgm:pt modelId="{B07B5D65-99BD-4DBB-AF47-7BEF6B8FFA70}" type="sibTrans" cxnId="{30FE3EA6-5895-4C7F-BB8E-B40D68D49573}">
      <dgm:prSet/>
      <dgm:spPr/>
      <dgm:t>
        <a:bodyPr/>
        <a:lstStyle/>
        <a:p>
          <a:endParaRPr lang="en-US"/>
        </a:p>
      </dgm:t>
    </dgm:pt>
    <dgm:pt modelId="{7567D899-7138-4803-8910-51EE77AEEE86}">
      <dgm:prSet/>
      <dgm:spPr/>
      <dgm:t>
        <a:bodyPr/>
        <a:lstStyle/>
        <a:p>
          <a:r>
            <a:rPr lang="en-US" b="0" i="0" baseline="0"/>
            <a:t>Multiple risk</a:t>
          </a:r>
          <a:r>
            <a:rPr lang="ar-EG" b="0" i="0" baseline="0"/>
            <a:t> </a:t>
          </a:r>
          <a:r>
            <a:rPr lang="en-US" b="0" i="0" baseline="0"/>
            <a:t>level options for customer choice.</a:t>
          </a:r>
          <a:endParaRPr lang="en-US"/>
        </a:p>
      </dgm:t>
    </dgm:pt>
    <dgm:pt modelId="{9963CF15-02DA-407A-BF94-4BA4E6E33F5B}" type="parTrans" cxnId="{18DC5B73-12AB-4250-BABA-4743A57EC5F1}">
      <dgm:prSet/>
      <dgm:spPr/>
      <dgm:t>
        <a:bodyPr/>
        <a:lstStyle/>
        <a:p>
          <a:endParaRPr lang="en-US"/>
        </a:p>
      </dgm:t>
    </dgm:pt>
    <dgm:pt modelId="{E4F300D9-19D3-47C8-8141-773820DDB04E}" type="sibTrans" cxnId="{18DC5B73-12AB-4250-BABA-4743A57EC5F1}">
      <dgm:prSet/>
      <dgm:spPr/>
      <dgm:t>
        <a:bodyPr/>
        <a:lstStyle/>
        <a:p>
          <a:endParaRPr lang="en-US"/>
        </a:p>
      </dgm:t>
    </dgm:pt>
    <dgm:pt modelId="{E9F016D3-F7F1-4A7A-A342-30638FE709AE}">
      <dgm:prSet/>
      <dgm:spPr/>
      <dgm:t>
        <a:bodyPr/>
        <a:lstStyle/>
        <a:p>
          <a:r>
            <a:rPr lang="en-US" b="1" i="0" baseline="0" dirty="0"/>
            <a:t>How It Works (Business Flow):</a:t>
          </a:r>
          <a:endParaRPr lang="en-US" dirty="0"/>
        </a:p>
      </dgm:t>
    </dgm:pt>
    <dgm:pt modelId="{03CD996A-13C3-45EE-9551-DA3040B3A076}" type="parTrans" cxnId="{F33D6EBB-832E-4608-8050-1C90E565812B}">
      <dgm:prSet/>
      <dgm:spPr/>
      <dgm:t>
        <a:bodyPr/>
        <a:lstStyle/>
        <a:p>
          <a:endParaRPr lang="en-US"/>
        </a:p>
      </dgm:t>
    </dgm:pt>
    <dgm:pt modelId="{624C0C1A-B3EC-4B48-BE25-3F573BD81E47}" type="sibTrans" cxnId="{F33D6EBB-832E-4608-8050-1C90E565812B}">
      <dgm:prSet/>
      <dgm:spPr/>
      <dgm:t>
        <a:bodyPr/>
        <a:lstStyle/>
        <a:p>
          <a:endParaRPr lang="en-US"/>
        </a:p>
      </dgm:t>
    </dgm:pt>
    <dgm:pt modelId="{E5A7B317-1F22-4295-B31B-F74344768CC3}">
      <dgm:prSet/>
      <dgm:spPr/>
      <dgm:t>
        <a:bodyPr/>
        <a:lstStyle/>
        <a:p>
          <a:r>
            <a:rPr lang="en-US" b="0" i="0" baseline="0" dirty="0"/>
            <a:t>Your platform presents fund products, manages subscriptions/redemptions, and provides performance tracking to end customers.</a:t>
          </a:r>
          <a:endParaRPr lang="en-US" dirty="0"/>
        </a:p>
      </dgm:t>
    </dgm:pt>
    <dgm:pt modelId="{52F6B50B-1BB2-401C-9574-33428F2FE5B8}" type="parTrans" cxnId="{6E169BB6-7A1F-4B56-8A17-A3B43030781A}">
      <dgm:prSet/>
      <dgm:spPr/>
      <dgm:t>
        <a:bodyPr/>
        <a:lstStyle/>
        <a:p>
          <a:endParaRPr lang="en-US"/>
        </a:p>
      </dgm:t>
    </dgm:pt>
    <dgm:pt modelId="{1DC1C1BF-AF95-493A-B71C-AC0D1D37EB03}" type="sibTrans" cxnId="{6E169BB6-7A1F-4B56-8A17-A3B43030781A}">
      <dgm:prSet/>
      <dgm:spPr/>
      <dgm:t>
        <a:bodyPr/>
        <a:lstStyle/>
        <a:p>
          <a:endParaRPr lang="en-US"/>
        </a:p>
      </dgm:t>
    </dgm:pt>
    <dgm:pt modelId="{57CAF575-20F6-4C27-AE4E-10B002578FAF}" type="pres">
      <dgm:prSet presAssocID="{7A060706-D9F8-4C26-BCC8-5BE32EF9AA81}" presName="linear" presStyleCnt="0">
        <dgm:presLayoutVars>
          <dgm:animLvl val="lvl"/>
          <dgm:resizeHandles val="exact"/>
        </dgm:presLayoutVars>
      </dgm:prSet>
      <dgm:spPr/>
    </dgm:pt>
    <dgm:pt modelId="{5FC9FCF8-515D-47F4-A9AC-A3DD269D069B}" type="pres">
      <dgm:prSet presAssocID="{C42DABB9-F74E-4C9D-B8D1-E5323D52A089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04ACE86-75F0-4828-87A3-B42017A7985C}" type="pres">
      <dgm:prSet presAssocID="{C42DABB9-F74E-4C9D-B8D1-E5323D52A089}" presName="childText" presStyleLbl="revTx" presStyleIdx="0" presStyleCnt="5">
        <dgm:presLayoutVars>
          <dgm:bulletEnabled val="1"/>
        </dgm:presLayoutVars>
      </dgm:prSet>
      <dgm:spPr/>
    </dgm:pt>
    <dgm:pt modelId="{29B858FB-1B59-4A78-9166-EC0C5037E70B}" type="pres">
      <dgm:prSet presAssocID="{AC27039C-8A63-42C8-8A73-0FEB5654A4F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FFA72FD6-5DCA-4772-8C44-515236242EEA}" type="pres">
      <dgm:prSet presAssocID="{AC27039C-8A63-42C8-8A73-0FEB5654A4F8}" presName="childText" presStyleLbl="revTx" presStyleIdx="1" presStyleCnt="5">
        <dgm:presLayoutVars>
          <dgm:bulletEnabled val="1"/>
        </dgm:presLayoutVars>
      </dgm:prSet>
      <dgm:spPr/>
    </dgm:pt>
    <dgm:pt modelId="{013AEE08-2433-4D11-93FC-2045E3F4864E}" type="pres">
      <dgm:prSet presAssocID="{DCC2C35C-51D8-4DE7-BC1F-686ECDF327B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97DC510-E36E-4C37-9F8E-165ECA908B77}" type="pres">
      <dgm:prSet presAssocID="{DCC2C35C-51D8-4DE7-BC1F-686ECDF327B8}" presName="childText" presStyleLbl="revTx" presStyleIdx="2" presStyleCnt="5">
        <dgm:presLayoutVars>
          <dgm:bulletEnabled val="1"/>
        </dgm:presLayoutVars>
      </dgm:prSet>
      <dgm:spPr/>
    </dgm:pt>
    <dgm:pt modelId="{F82F0614-3EAD-4260-A165-F43D1FF85518}" type="pres">
      <dgm:prSet presAssocID="{8FC7585F-A4CD-40A0-A9ED-BFA29F1E0FE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03F72BF4-109B-4EA8-A0BA-C62D8A7569A2}" type="pres">
      <dgm:prSet presAssocID="{8FC7585F-A4CD-40A0-A9ED-BFA29F1E0FE0}" presName="childText" presStyleLbl="revTx" presStyleIdx="3" presStyleCnt="5">
        <dgm:presLayoutVars>
          <dgm:bulletEnabled val="1"/>
        </dgm:presLayoutVars>
      </dgm:prSet>
      <dgm:spPr/>
    </dgm:pt>
    <dgm:pt modelId="{79A21FE4-6A31-41C5-B970-DF4AD0C5CFEB}" type="pres">
      <dgm:prSet presAssocID="{E9F016D3-F7F1-4A7A-A342-30638FE709AE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51556A9C-C55D-4070-9686-50393F3E44C3}" type="pres">
      <dgm:prSet presAssocID="{E9F016D3-F7F1-4A7A-A342-30638FE709AE}" presName="childText" presStyleLbl="revTx" presStyleIdx="4" presStyleCnt="5">
        <dgm:presLayoutVars>
          <dgm:bulletEnabled val="1"/>
        </dgm:presLayoutVars>
      </dgm:prSet>
      <dgm:spPr/>
    </dgm:pt>
  </dgm:ptLst>
  <dgm:cxnLst>
    <dgm:cxn modelId="{6D8C5502-D967-4D5D-87A9-C3E45EDCFB3C}" type="presOf" srcId="{AC27039C-8A63-42C8-8A73-0FEB5654A4F8}" destId="{29B858FB-1B59-4A78-9166-EC0C5037E70B}" srcOrd="0" destOrd="0" presId="urn:microsoft.com/office/officeart/2005/8/layout/vList2"/>
    <dgm:cxn modelId="{C897C80A-4B8F-41B4-ACE4-FC3A365D5E38}" srcId="{7A060706-D9F8-4C26-BCC8-5BE32EF9AA81}" destId="{AC27039C-8A63-42C8-8A73-0FEB5654A4F8}" srcOrd="1" destOrd="0" parTransId="{45193768-5C9E-4AFB-B1AC-9E695691A591}" sibTransId="{657D77B6-F183-44F4-ADFE-94D9B4DBC8A5}"/>
    <dgm:cxn modelId="{158D8E0D-EF20-4071-B035-D172093E2D68}" srcId="{DCC2C35C-51D8-4DE7-BC1F-686ECDF327B8}" destId="{384D3C3D-65D1-4390-8309-34992F4CA8FF}" srcOrd="1" destOrd="0" parTransId="{B38AB9FF-7AE8-4220-A75D-5369B2D89978}" sibTransId="{D8D18996-7906-482B-A441-6C6C6D279202}"/>
    <dgm:cxn modelId="{442C151E-8CC5-4952-AD8C-CF19C4411947}" type="presOf" srcId="{384D3C3D-65D1-4390-8309-34992F4CA8FF}" destId="{997DC510-E36E-4C37-9F8E-165ECA908B77}" srcOrd="0" destOrd="1" presId="urn:microsoft.com/office/officeart/2005/8/layout/vList2"/>
    <dgm:cxn modelId="{333BD937-0F59-4D5D-97B8-F607265A0F40}" type="presOf" srcId="{E9F016D3-F7F1-4A7A-A342-30638FE709AE}" destId="{79A21FE4-6A31-41C5-B970-DF4AD0C5CFEB}" srcOrd="0" destOrd="0" presId="urn:microsoft.com/office/officeart/2005/8/layout/vList2"/>
    <dgm:cxn modelId="{973FBE5E-A991-4186-AB9A-5589108D8BD4}" type="presOf" srcId="{2D4530ED-362E-4349-BA55-3C256886275A}" destId="{FFA72FD6-5DCA-4772-8C44-515236242EEA}" srcOrd="0" destOrd="0" presId="urn:microsoft.com/office/officeart/2005/8/layout/vList2"/>
    <dgm:cxn modelId="{5C61EE41-FABC-4A63-9E8A-037428559A38}" srcId="{C42DABB9-F74E-4C9D-B8D1-E5323D52A089}" destId="{FBCCBF10-26F0-49D4-9882-B2D2511702CD}" srcOrd="1" destOrd="0" parTransId="{754D441D-FC03-4CCB-A809-B82EAA38F0BC}" sibTransId="{35C5FD5E-1D54-4F9A-A328-FA237EAAF288}"/>
    <dgm:cxn modelId="{773FEB47-8EE3-4B43-A0CB-39B0C3F6808E}" srcId="{7A060706-D9F8-4C26-BCC8-5BE32EF9AA81}" destId="{8FC7585F-A4CD-40A0-A9ED-BFA29F1E0FE0}" srcOrd="3" destOrd="0" parTransId="{87A78F33-18E4-4079-81D9-3B2E47A6F81B}" sibTransId="{9CD4A373-B7AE-4E57-BB9F-2EA4503346E2}"/>
    <dgm:cxn modelId="{0BD2236C-9E73-4FEE-9D17-AFA636A9F5BE}" type="presOf" srcId="{7863DC93-544D-4ACF-B906-2B638B370E5C}" destId="{997DC510-E36E-4C37-9F8E-165ECA908B77}" srcOrd="0" destOrd="0" presId="urn:microsoft.com/office/officeart/2005/8/layout/vList2"/>
    <dgm:cxn modelId="{06D15D51-8437-41DA-94A4-6B9348D00375}" type="presOf" srcId="{42227CF5-B727-4182-862D-20DF10D99E65}" destId="{997DC510-E36E-4C37-9F8E-165ECA908B77}" srcOrd="0" destOrd="2" presId="urn:microsoft.com/office/officeart/2005/8/layout/vList2"/>
    <dgm:cxn modelId="{4F3D8A71-6802-4CDF-9690-36E8266E85A5}" type="presOf" srcId="{6C708B65-77D9-401A-9C0A-566CD0AD527C}" destId="{03F72BF4-109B-4EA8-A0BA-C62D8A7569A2}" srcOrd="0" destOrd="1" presId="urn:microsoft.com/office/officeart/2005/8/layout/vList2"/>
    <dgm:cxn modelId="{18DC5B73-12AB-4250-BABA-4743A57EC5F1}" srcId="{8FC7585F-A4CD-40A0-A9ED-BFA29F1E0FE0}" destId="{7567D899-7138-4803-8910-51EE77AEEE86}" srcOrd="2" destOrd="0" parTransId="{9963CF15-02DA-407A-BF94-4BA4E6E33F5B}" sibTransId="{E4F300D9-19D3-47C8-8141-773820DDB04E}"/>
    <dgm:cxn modelId="{27349754-DC0E-4D8F-BC91-EF4F56D6C2F1}" type="presOf" srcId="{8FC7585F-A4CD-40A0-A9ED-BFA29F1E0FE0}" destId="{F82F0614-3EAD-4260-A165-F43D1FF85518}" srcOrd="0" destOrd="0" presId="urn:microsoft.com/office/officeart/2005/8/layout/vList2"/>
    <dgm:cxn modelId="{E3DD3257-780C-4007-AE92-B68C2B851479}" srcId="{AC27039C-8A63-42C8-8A73-0FEB5654A4F8}" destId="{2D4530ED-362E-4349-BA55-3C256886275A}" srcOrd="0" destOrd="0" parTransId="{8C2989A3-EC72-41E3-B1CC-DE5B4B5318ED}" sibTransId="{FD281F8E-389A-48BE-82EC-1A074D3AC8BC}"/>
    <dgm:cxn modelId="{CB813D82-5358-46E5-8361-3D4D9CE8E2EE}" type="presOf" srcId="{9E76E955-686C-4642-9DDC-A077FCC98FAA}" destId="{03F72BF4-109B-4EA8-A0BA-C62D8A7569A2}" srcOrd="0" destOrd="0" presId="urn:microsoft.com/office/officeart/2005/8/layout/vList2"/>
    <dgm:cxn modelId="{A4BFAD85-8314-40F0-A136-F0DCCA59BDF6}" srcId="{DCC2C35C-51D8-4DE7-BC1F-686ECDF327B8}" destId="{42227CF5-B727-4182-862D-20DF10D99E65}" srcOrd="2" destOrd="0" parTransId="{9A93F41F-08BC-426D-9BCA-58BF9C722525}" sibTransId="{4F431550-7485-4065-92F0-D8B9B63497E7}"/>
    <dgm:cxn modelId="{2A9B428C-9AF3-4C0E-B167-E224EF13D49E}" type="presOf" srcId="{7A060706-D9F8-4C26-BCC8-5BE32EF9AA81}" destId="{57CAF575-20F6-4C27-AE4E-10B002578FAF}" srcOrd="0" destOrd="0" presId="urn:microsoft.com/office/officeart/2005/8/layout/vList2"/>
    <dgm:cxn modelId="{D6747A9C-3B84-4618-BEF5-1058F9CD9973}" srcId="{7A060706-D9F8-4C26-BCC8-5BE32EF9AA81}" destId="{DCC2C35C-51D8-4DE7-BC1F-686ECDF327B8}" srcOrd="2" destOrd="0" parTransId="{302DD62B-6211-4B8D-8B69-3F0EC04D0CD0}" sibTransId="{1B4D23E5-9C63-4699-BB72-CA0252068377}"/>
    <dgm:cxn modelId="{30FE3EA6-5895-4C7F-BB8E-B40D68D49573}" srcId="{8FC7585F-A4CD-40A0-A9ED-BFA29F1E0FE0}" destId="{6C708B65-77D9-401A-9C0A-566CD0AD527C}" srcOrd="1" destOrd="0" parTransId="{5FD8FF36-CEC9-4C67-93E0-EEB4323551AE}" sibTransId="{B07B5D65-99BD-4DBB-AF47-7BEF6B8FFA70}"/>
    <dgm:cxn modelId="{A628F9A9-0DDB-43BE-98B7-C00E41147DA3}" type="presOf" srcId="{C42DABB9-F74E-4C9D-B8D1-E5323D52A089}" destId="{5FC9FCF8-515D-47F4-A9AC-A3DD269D069B}" srcOrd="0" destOrd="0" presId="urn:microsoft.com/office/officeart/2005/8/layout/vList2"/>
    <dgm:cxn modelId="{192D39AE-541A-49D6-925B-D9DB101DCFBA}" type="presOf" srcId="{E5A7B317-1F22-4295-B31B-F74344768CC3}" destId="{51556A9C-C55D-4070-9686-50393F3E44C3}" srcOrd="0" destOrd="0" presId="urn:microsoft.com/office/officeart/2005/8/layout/vList2"/>
    <dgm:cxn modelId="{06980FB4-900A-4FC9-AF71-295CF8651712}" srcId="{8FC7585F-A4CD-40A0-A9ED-BFA29F1E0FE0}" destId="{9E76E955-686C-4642-9DDC-A077FCC98FAA}" srcOrd="0" destOrd="0" parTransId="{F0A2EA9D-FDDC-4679-A024-6ED7CBD7A83A}" sibTransId="{CA123E5C-7765-4304-8D38-D993AB3C4D21}"/>
    <dgm:cxn modelId="{6E169BB6-7A1F-4B56-8A17-A3B43030781A}" srcId="{E9F016D3-F7F1-4A7A-A342-30638FE709AE}" destId="{E5A7B317-1F22-4295-B31B-F74344768CC3}" srcOrd="0" destOrd="0" parTransId="{52F6B50B-1BB2-401C-9574-33428F2FE5B8}" sibTransId="{1DC1C1BF-AF95-493A-B71C-AC0D1D37EB03}"/>
    <dgm:cxn modelId="{F33D6EBB-832E-4608-8050-1C90E565812B}" srcId="{7A060706-D9F8-4C26-BCC8-5BE32EF9AA81}" destId="{E9F016D3-F7F1-4A7A-A342-30638FE709AE}" srcOrd="4" destOrd="0" parTransId="{03CD996A-13C3-45EE-9551-DA3040B3A076}" sibTransId="{624C0C1A-B3EC-4B48-BE25-3F573BD81E47}"/>
    <dgm:cxn modelId="{139D65D9-FE42-4752-8AFA-C536BD269F96}" srcId="{DCC2C35C-51D8-4DE7-BC1F-686ECDF327B8}" destId="{7863DC93-544D-4ACF-B906-2B638B370E5C}" srcOrd="0" destOrd="0" parTransId="{704F2830-4864-4072-B10B-D55B0186AAAC}" sibTransId="{D2253F9F-9422-4C04-84F8-F6352759CD1A}"/>
    <dgm:cxn modelId="{327B69D9-B7F5-4145-807B-981E4A89B6EA}" type="presOf" srcId="{7567D899-7138-4803-8910-51EE77AEEE86}" destId="{03F72BF4-109B-4EA8-A0BA-C62D8A7569A2}" srcOrd="0" destOrd="2" presId="urn:microsoft.com/office/officeart/2005/8/layout/vList2"/>
    <dgm:cxn modelId="{66E577DB-017F-4F57-B91C-9A2F4CD45AFB}" srcId="{C42DABB9-F74E-4C9D-B8D1-E5323D52A089}" destId="{73198D95-931B-4164-8A00-00C670708DFA}" srcOrd="0" destOrd="0" parTransId="{83B7C2CE-FF1B-47E0-BEB8-3241576657C0}" sibTransId="{5978D0D4-6B40-451E-A47B-233F8AC21EF3}"/>
    <dgm:cxn modelId="{FE57F2E0-0FC6-4153-AC8B-8B695CB48B5B}" type="presOf" srcId="{DCC2C35C-51D8-4DE7-BC1F-686ECDF327B8}" destId="{013AEE08-2433-4D11-93FC-2045E3F4864E}" srcOrd="0" destOrd="0" presId="urn:microsoft.com/office/officeart/2005/8/layout/vList2"/>
    <dgm:cxn modelId="{D71947E4-76EF-46FD-91E5-F2E4BFFF9D66}" type="presOf" srcId="{73198D95-931B-4164-8A00-00C670708DFA}" destId="{904ACE86-75F0-4828-87A3-B42017A7985C}" srcOrd="0" destOrd="0" presId="urn:microsoft.com/office/officeart/2005/8/layout/vList2"/>
    <dgm:cxn modelId="{13D119F0-2F2B-454E-8B4D-995EF8ECC029}" type="presOf" srcId="{FBCCBF10-26F0-49D4-9882-B2D2511702CD}" destId="{904ACE86-75F0-4828-87A3-B42017A7985C}" srcOrd="0" destOrd="1" presId="urn:microsoft.com/office/officeart/2005/8/layout/vList2"/>
    <dgm:cxn modelId="{E4ADA8FF-A8E6-4E09-AE8D-659FFDF8179B}" srcId="{7A060706-D9F8-4C26-BCC8-5BE32EF9AA81}" destId="{C42DABB9-F74E-4C9D-B8D1-E5323D52A089}" srcOrd="0" destOrd="0" parTransId="{22838F25-2446-46F9-8031-CADCAAFFDE89}" sibTransId="{563CA4B4-4822-4481-91C8-AB611EC2FE5B}"/>
    <dgm:cxn modelId="{30114E5B-03FC-4529-B8AE-416814B41596}" type="presParOf" srcId="{57CAF575-20F6-4C27-AE4E-10B002578FAF}" destId="{5FC9FCF8-515D-47F4-A9AC-A3DD269D069B}" srcOrd="0" destOrd="0" presId="urn:microsoft.com/office/officeart/2005/8/layout/vList2"/>
    <dgm:cxn modelId="{B6E2B52F-E49D-4E2B-8479-8F66FCA7176B}" type="presParOf" srcId="{57CAF575-20F6-4C27-AE4E-10B002578FAF}" destId="{904ACE86-75F0-4828-87A3-B42017A7985C}" srcOrd="1" destOrd="0" presId="urn:microsoft.com/office/officeart/2005/8/layout/vList2"/>
    <dgm:cxn modelId="{D495DC9C-39CE-4DBB-8059-75FB69FDCE84}" type="presParOf" srcId="{57CAF575-20F6-4C27-AE4E-10B002578FAF}" destId="{29B858FB-1B59-4A78-9166-EC0C5037E70B}" srcOrd="2" destOrd="0" presId="urn:microsoft.com/office/officeart/2005/8/layout/vList2"/>
    <dgm:cxn modelId="{412F715F-52F5-40E8-9146-4CF45DE0C75D}" type="presParOf" srcId="{57CAF575-20F6-4C27-AE4E-10B002578FAF}" destId="{FFA72FD6-5DCA-4772-8C44-515236242EEA}" srcOrd="3" destOrd="0" presId="urn:microsoft.com/office/officeart/2005/8/layout/vList2"/>
    <dgm:cxn modelId="{5F61F3C7-333C-400E-BBF9-1841DC9F4659}" type="presParOf" srcId="{57CAF575-20F6-4C27-AE4E-10B002578FAF}" destId="{013AEE08-2433-4D11-93FC-2045E3F4864E}" srcOrd="4" destOrd="0" presId="urn:microsoft.com/office/officeart/2005/8/layout/vList2"/>
    <dgm:cxn modelId="{44BD0761-A545-4454-8467-E62E048B1F63}" type="presParOf" srcId="{57CAF575-20F6-4C27-AE4E-10B002578FAF}" destId="{997DC510-E36E-4C37-9F8E-165ECA908B77}" srcOrd="5" destOrd="0" presId="urn:microsoft.com/office/officeart/2005/8/layout/vList2"/>
    <dgm:cxn modelId="{67F6BD3E-5366-48B3-8210-6E35956A6D69}" type="presParOf" srcId="{57CAF575-20F6-4C27-AE4E-10B002578FAF}" destId="{F82F0614-3EAD-4260-A165-F43D1FF85518}" srcOrd="6" destOrd="0" presId="urn:microsoft.com/office/officeart/2005/8/layout/vList2"/>
    <dgm:cxn modelId="{5DA58EB1-F5FE-4F4A-B6AD-8FDDDD669E6C}" type="presParOf" srcId="{57CAF575-20F6-4C27-AE4E-10B002578FAF}" destId="{03F72BF4-109B-4EA8-A0BA-C62D8A7569A2}" srcOrd="7" destOrd="0" presId="urn:microsoft.com/office/officeart/2005/8/layout/vList2"/>
    <dgm:cxn modelId="{B408B2AF-F970-4612-BC86-764B97B4B05E}" type="presParOf" srcId="{57CAF575-20F6-4C27-AE4E-10B002578FAF}" destId="{79A21FE4-6A31-41C5-B970-DF4AD0C5CFEB}" srcOrd="8" destOrd="0" presId="urn:microsoft.com/office/officeart/2005/8/layout/vList2"/>
    <dgm:cxn modelId="{1B4FA090-3797-4980-9533-EE48783A3D17}" type="presParOf" srcId="{57CAF575-20F6-4C27-AE4E-10B002578FAF}" destId="{51556A9C-C55D-4070-9686-50393F3E44C3}" srcOrd="9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A263D1-7255-4B5E-A9BE-C8EB00007ECF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DE0E17A9-9804-451F-A4E6-58843DD734DD}">
      <dgm:prSet/>
      <dgm:spPr/>
      <dgm:t>
        <a:bodyPr/>
        <a:lstStyle/>
        <a:p>
          <a:r>
            <a:rPr lang="en-US" b="1" i="0" dirty="0"/>
            <a:t>1. Subscription Capabilities</a:t>
          </a:r>
          <a:endParaRPr lang="en-US" dirty="0"/>
        </a:p>
      </dgm:t>
    </dgm:pt>
    <dgm:pt modelId="{8303508F-2638-4372-92F9-A407DD6674F4}" type="parTrans" cxnId="{5389D8F1-2637-4FAC-9EA6-8AA24508329B}">
      <dgm:prSet/>
      <dgm:spPr/>
      <dgm:t>
        <a:bodyPr/>
        <a:lstStyle/>
        <a:p>
          <a:endParaRPr lang="en-US"/>
        </a:p>
      </dgm:t>
    </dgm:pt>
    <dgm:pt modelId="{EEDF4EE5-312B-4E69-BC02-1E40772BD7AA}" type="sibTrans" cxnId="{5389D8F1-2637-4FAC-9EA6-8AA24508329B}">
      <dgm:prSet/>
      <dgm:spPr/>
      <dgm:t>
        <a:bodyPr/>
        <a:lstStyle/>
        <a:p>
          <a:endParaRPr lang="en-US"/>
        </a:p>
      </dgm:t>
    </dgm:pt>
    <dgm:pt modelId="{397F4935-9BC7-4342-95FC-930D5CE0EC18}">
      <dgm:prSet/>
      <dgm:spPr/>
      <dgm:t>
        <a:bodyPr/>
        <a:lstStyle/>
        <a:p>
          <a:r>
            <a:rPr lang="en-US" b="0" i="0" dirty="0"/>
            <a:t>Access to a complete and up-to-date catalogue of available funds with relevant attributes </a:t>
          </a:r>
          <a:endParaRPr lang="en-US" dirty="0"/>
        </a:p>
      </dgm:t>
    </dgm:pt>
    <dgm:pt modelId="{F258F8CF-D911-4C5C-A214-112AE802C039}" type="parTrans" cxnId="{EAC0E5EA-B8DC-4D3C-80AB-EBE1A537E824}">
      <dgm:prSet/>
      <dgm:spPr/>
      <dgm:t>
        <a:bodyPr/>
        <a:lstStyle/>
        <a:p>
          <a:endParaRPr lang="en-US"/>
        </a:p>
      </dgm:t>
    </dgm:pt>
    <dgm:pt modelId="{0330FD8C-F8A1-4C72-B73A-A1E0684B5F8D}" type="sibTrans" cxnId="{EAC0E5EA-B8DC-4D3C-80AB-EBE1A537E824}">
      <dgm:prSet/>
      <dgm:spPr/>
      <dgm:t>
        <a:bodyPr/>
        <a:lstStyle/>
        <a:p>
          <a:endParaRPr lang="en-US"/>
        </a:p>
      </dgm:t>
    </dgm:pt>
    <dgm:pt modelId="{2FEE24FE-54EA-4C26-BD36-4F83459B8CCB}">
      <dgm:prSet/>
      <dgm:spPr/>
      <dgm:t>
        <a:bodyPr/>
        <a:lstStyle/>
        <a:p>
          <a:r>
            <a:rPr lang="en-US" b="0" i="0"/>
            <a:t>Automated eligibility and suitability checks before allowing an investment.</a:t>
          </a:r>
          <a:endParaRPr lang="en-US"/>
        </a:p>
      </dgm:t>
    </dgm:pt>
    <dgm:pt modelId="{4806A07D-DB49-4B0A-B04B-D16CAC303066}" type="parTrans" cxnId="{C92C69CC-C640-4F91-8DA4-645943121AD7}">
      <dgm:prSet/>
      <dgm:spPr/>
      <dgm:t>
        <a:bodyPr/>
        <a:lstStyle/>
        <a:p>
          <a:endParaRPr lang="en-US"/>
        </a:p>
      </dgm:t>
    </dgm:pt>
    <dgm:pt modelId="{91C1A7F1-A374-4C50-AFBE-07C5AA788884}" type="sibTrans" cxnId="{C92C69CC-C640-4F91-8DA4-645943121AD7}">
      <dgm:prSet/>
      <dgm:spPr/>
      <dgm:t>
        <a:bodyPr/>
        <a:lstStyle/>
        <a:p>
          <a:endParaRPr lang="en-US"/>
        </a:p>
      </dgm:t>
    </dgm:pt>
    <dgm:pt modelId="{66D389E7-193E-43C1-A9D5-DA66841ACA7C}">
      <dgm:prSet/>
      <dgm:spPr/>
      <dgm:t>
        <a:bodyPr/>
        <a:lstStyle/>
        <a:p>
          <a:r>
            <a:rPr lang="en-US" b="0" i="0"/>
            <a:t>Flexible investment amounts based on the fund’s minimum and maximum thresholds.</a:t>
          </a:r>
          <a:endParaRPr lang="en-US"/>
        </a:p>
      </dgm:t>
    </dgm:pt>
    <dgm:pt modelId="{A918585A-1C63-4552-9AC1-6ED927B6C59C}" type="parTrans" cxnId="{C3C0F87C-103F-42B2-B0B0-FA6EBB064D27}">
      <dgm:prSet/>
      <dgm:spPr/>
      <dgm:t>
        <a:bodyPr/>
        <a:lstStyle/>
        <a:p>
          <a:endParaRPr lang="en-US"/>
        </a:p>
      </dgm:t>
    </dgm:pt>
    <dgm:pt modelId="{84A5EA1E-977A-4F57-A788-774C4FC44B74}" type="sibTrans" cxnId="{C3C0F87C-103F-42B2-B0B0-FA6EBB064D27}">
      <dgm:prSet/>
      <dgm:spPr/>
      <dgm:t>
        <a:bodyPr/>
        <a:lstStyle/>
        <a:p>
          <a:endParaRPr lang="en-US"/>
        </a:p>
      </dgm:t>
    </dgm:pt>
    <dgm:pt modelId="{D7F42575-5460-4FF7-8742-A1BF2B506BC1}">
      <dgm:prSet/>
      <dgm:spPr/>
      <dgm:t>
        <a:bodyPr/>
        <a:lstStyle/>
        <a:p>
          <a:r>
            <a:rPr lang="en-US" b="0" i="0"/>
            <a:t>Immediate confirmation of successful subscriptions with unique transaction IDs.</a:t>
          </a:r>
          <a:endParaRPr lang="en-US"/>
        </a:p>
      </dgm:t>
    </dgm:pt>
    <dgm:pt modelId="{0260D1A5-8CBF-4F18-B2F9-AD1E3C37A86F}" type="parTrans" cxnId="{3AFD5E62-B8E1-4653-89BD-5B15C2176202}">
      <dgm:prSet/>
      <dgm:spPr/>
      <dgm:t>
        <a:bodyPr/>
        <a:lstStyle/>
        <a:p>
          <a:endParaRPr lang="en-US"/>
        </a:p>
      </dgm:t>
    </dgm:pt>
    <dgm:pt modelId="{AC0BD759-D25D-4DB3-B4A4-0E53E2A92D76}" type="sibTrans" cxnId="{3AFD5E62-B8E1-4653-89BD-5B15C2176202}">
      <dgm:prSet/>
      <dgm:spPr/>
      <dgm:t>
        <a:bodyPr/>
        <a:lstStyle/>
        <a:p>
          <a:endParaRPr lang="en-US"/>
        </a:p>
      </dgm:t>
    </dgm:pt>
    <dgm:pt modelId="{C31BFFF9-F63F-46C3-9D8B-F94947B281A6}">
      <dgm:prSet/>
      <dgm:spPr/>
      <dgm:t>
        <a:bodyPr/>
        <a:lstStyle/>
        <a:p>
          <a:r>
            <a:rPr lang="en-US" b="1" i="0"/>
            <a:t>2. Redemption Capabilities</a:t>
          </a:r>
          <a:endParaRPr lang="en-US"/>
        </a:p>
      </dgm:t>
    </dgm:pt>
    <dgm:pt modelId="{45D4BF90-9F41-4F83-B020-644401BCF59E}" type="parTrans" cxnId="{51F47FC8-96D9-48B5-A416-82A1AF982156}">
      <dgm:prSet/>
      <dgm:spPr/>
      <dgm:t>
        <a:bodyPr/>
        <a:lstStyle/>
        <a:p>
          <a:endParaRPr lang="en-US"/>
        </a:p>
      </dgm:t>
    </dgm:pt>
    <dgm:pt modelId="{E521D7BB-BE8D-4522-AFC0-05F48BA475EE}" type="sibTrans" cxnId="{51F47FC8-96D9-48B5-A416-82A1AF982156}">
      <dgm:prSet/>
      <dgm:spPr/>
      <dgm:t>
        <a:bodyPr/>
        <a:lstStyle/>
        <a:p>
          <a:endParaRPr lang="en-US"/>
        </a:p>
      </dgm:t>
    </dgm:pt>
    <dgm:pt modelId="{A8A142CC-188B-4322-B1F3-87460C7BED30}">
      <dgm:prSet/>
      <dgm:spPr/>
      <dgm:t>
        <a:bodyPr/>
        <a:lstStyle/>
        <a:p>
          <a:r>
            <a:rPr lang="en-US" b="0" i="0"/>
            <a:t>Ability to request partial or full withdrawal from owned funds.</a:t>
          </a:r>
          <a:endParaRPr lang="en-US"/>
        </a:p>
      </dgm:t>
    </dgm:pt>
    <dgm:pt modelId="{9A8F4C0D-4794-46C3-887C-131DABEC0711}" type="parTrans" cxnId="{E66EACF6-A35F-4E15-A20C-0BA6D679BBD8}">
      <dgm:prSet/>
      <dgm:spPr/>
      <dgm:t>
        <a:bodyPr/>
        <a:lstStyle/>
        <a:p>
          <a:endParaRPr lang="en-US"/>
        </a:p>
      </dgm:t>
    </dgm:pt>
    <dgm:pt modelId="{49D50228-AC13-4A76-99FC-3F459DA37EE9}" type="sibTrans" cxnId="{E66EACF6-A35F-4E15-A20C-0BA6D679BBD8}">
      <dgm:prSet/>
      <dgm:spPr/>
      <dgm:t>
        <a:bodyPr/>
        <a:lstStyle/>
        <a:p>
          <a:endParaRPr lang="en-US"/>
        </a:p>
      </dgm:t>
    </dgm:pt>
    <dgm:pt modelId="{FF2A0D2A-0281-4658-8721-EFB0E2FB644E}">
      <dgm:prSet/>
      <dgm:spPr/>
      <dgm:t>
        <a:bodyPr/>
        <a:lstStyle/>
        <a:p>
          <a:r>
            <a:rPr lang="en-US" b="0" i="0"/>
            <a:t>Handling of settlement timelines according to the fund’s operational rules.</a:t>
          </a:r>
          <a:endParaRPr lang="en-US"/>
        </a:p>
      </dgm:t>
    </dgm:pt>
    <dgm:pt modelId="{FD98BCEA-FF1C-45FD-8269-4B45B950CC14}" type="parTrans" cxnId="{E3181C27-3710-4B27-AF44-4C21FB8EAF8D}">
      <dgm:prSet/>
      <dgm:spPr/>
      <dgm:t>
        <a:bodyPr/>
        <a:lstStyle/>
        <a:p>
          <a:endParaRPr lang="en-US"/>
        </a:p>
      </dgm:t>
    </dgm:pt>
    <dgm:pt modelId="{EFB79508-FAEB-4CFE-AAEA-07221E177E76}" type="sibTrans" cxnId="{E3181C27-3710-4B27-AF44-4C21FB8EAF8D}">
      <dgm:prSet/>
      <dgm:spPr/>
      <dgm:t>
        <a:bodyPr/>
        <a:lstStyle/>
        <a:p>
          <a:endParaRPr lang="en-US"/>
        </a:p>
      </dgm:t>
    </dgm:pt>
    <dgm:pt modelId="{A080B5CA-1529-4F2A-80D5-15CFF95AF25F}">
      <dgm:prSet/>
      <dgm:spPr/>
      <dgm:t>
        <a:bodyPr/>
        <a:lstStyle/>
        <a:p>
          <a:r>
            <a:rPr lang="en-US" b="0" i="0"/>
            <a:t>Status tracking from request initiation to completion.</a:t>
          </a:r>
          <a:endParaRPr lang="en-US"/>
        </a:p>
      </dgm:t>
    </dgm:pt>
    <dgm:pt modelId="{8B6D63A4-AE54-405D-AC00-2495AFDDD8E8}" type="parTrans" cxnId="{4348AEC7-D3B8-4931-BA7C-5259AD5D5B13}">
      <dgm:prSet/>
      <dgm:spPr/>
      <dgm:t>
        <a:bodyPr/>
        <a:lstStyle/>
        <a:p>
          <a:endParaRPr lang="en-US"/>
        </a:p>
      </dgm:t>
    </dgm:pt>
    <dgm:pt modelId="{A93CA1CB-7816-4734-9238-3C469018E447}" type="sibTrans" cxnId="{4348AEC7-D3B8-4931-BA7C-5259AD5D5B13}">
      <dgm:prSet/>
      <dgm:spPr/>
      <dgm:t>
        <a:bodyPr/>
        <a:lstStyle/>
        <a:p>
          <a:endParaRPr lang="en-US"/>
        </a:p>
      </dgm:t>
    </dgm:pt>
    <dgm:pt modelId="{30ED64C7-D32E-4C49-ADB3-B8A7A7F86D95}">
      <dgm:prSet/>
      <dgm:spPr/>
      <dgm:t>
        <a:bodyPr/>
        <a:lstStyle/>
        <a:p>
          <a:r>
            <a:rPr lang="en-US" b="1" i="0"/>
            <a:t>3. Portfolio Management</a:t>
          </a:r>
          <a:endParaRPr lang="en-US"/>
        </a:p>
      </dgm:t>
    </dgm:pt>
    <dgm:pt modelId="{7E07BD0B-7D6F-45DB-871A-D05D4B88BDC6}" type="parTrans" cxnId="{FD6E47D4-40A6-4D8B-BF11-445E3C82913E}">
      <dgm:prSet/>
      <dgm:spPr/>
      <dgm:t>
        <a:bodyPr/>
        <a:lstStyle/>
        <a:p>
          <a:endParaRPr lang="en-US"/>
        </a:p>
      </dgm:t>
    </dgm:pt>
    <dgm:pt modelId="{90948951-DB6A-4FF9-BF77-E2460FAFB4F0}" type="sibTrans" cxnId="{FD6E47D4-40A6-4D8B-BF11-445E3C82913E}">
      <dgm:prSet/>
      <dgm:spPr/>
      <dgm:t>
        <a:bodyPr/>
        <a:lstStyle/>
        <a:p>
          <a:endParaRPr lang="en-US"/>
        </a:p>
      </dgm:t>
    </dgm:pt>
    <dgm:pt modelId="{6FCDF77A-6906-491D-8222-B09BC86AED5B}">
      <dgm:prSet/>
      <dgm:spPr/>
      <dgm:t>
        <a:bodyPr/>
        <a:lstStyle/>
        <a:p>
          <a:r>
            <a:rPr lang="en-US" b="0" i="0"/>
            <a:t>Consolidated view of all customer holdings across multiple funds.</a:t>
          </a:r>
          <a:endParaRPr lang="en-US"/>
        </a:p>
      </dgm:t>
    </dgm:pt>
    <dgm:pt modelId="{77DDF358-F979-4E66-8565-72373F15477A}" type="parTrans" cxnId="{539374BE-EFB1-4BDC-888E-1C26406DBD41}">
      <dgm:prSet/>
      <dgm:spPr/>
      <dgm:t>
        <a:bodyPr/>
        <a:lstStyle/>
        <a:p>
          <a:endParaRPr lang="en-US"/>
        </a:p>
      </dgm:t>
    </dgm:pt>
    <dgm:pt modelId="{992069D5-185E-4474-9C9A-63E83A452F50}" type="sibTrans" cxnId="{539374BE-EFB1-4BDC-888E-1C26406DBD41}">
      <dgm:prSet/>
      <dgm:spPr/>
      <dgm:t>
        <a:bodyPr/>
        <a:lstStyle/>
        <a:p>
          <a:endParaRPr lang="en-US"/>
        </a:p>
      </dgm:t>
    </dgm:pt>
    <dgm:pt modelId="{AE4FB465-C164-4863-B29F-8218648782F1}">
      <dgm:prSet/>
      <dgm:spPr/>
      <dgm:t>
        <a:bodyPr/>
        <a:lstStyle/>
        <a:p>
          <a:r>
            <a:rPr lang="en-US" b="0" i="0"/>
            <a:t>Real-time updates of fund quantities, valuations, and asset composition.</a:t>
          </a:r>
          <a:endParaRPr lang="en-US"/>
        </a:p>
      </dgm:t>
    </dgm:pt>
    <dgm:pt modelId="{778DDE9A-D376-4AF3-A20D-E51C27B9FB26}" type="parTrans" cxnId="{6BA119AE-3022-464F-86BF-6D9D12B3EAFD}">
      <dgm:prSet/>
      <dgm:spPr/>
      <dgm:t>
        <a:bodyPr/>
        <a:lstStyle/>
        <a:p>
          <a:endParaRPr lang="en-US"/>
        </a:p>
      </dgm:t>
    </dgm:pt>
    <dgm:pt modelId="{C8EFC9B6-2A75-416D-A213-2405FBF49AAA}" type="sibTrans" cxnId="{6BA119AE-3022-464F-86BF-6D9D12B3EAFD}">
      <dgm:prSet/>
      <dgm:spPr/>
      <dgm:t>
        <a:bodyPr/>
        <a:lstStyle/>
        <a:p>
          <a:endParaRPr lang="en-US"/>
        </a:p>
      </dgm:t>
    </dgm:pt>
    <dgm:pt modelId="{80788F52-87E0-4BF6-A002-E9BC60622DEC}">
      <dgm:prSet/>
      <dgm:spPr/>
      <dgm:t>
        <a:bodyPr/>
        <a:lstStyle/>
        <a:p>
          <a:r>
            <a:rPr lang="en-US" b="0" i="0"/>
            <a:t>Exportable reports for compliance and record-keeping.</a:t>
          </a:r>
          <a:endParaRPr lang="en-US"/>
        </a:p>
      </dgm:t>
    </dgm:pt>
    <dgm:pt modelId="{864D3C34-7D09-450D-ABC3-3C28409C9580}" type="parTrans" cxnId="{295DDA74-BBDD-4759-A016-90146F7041C9}">
      <dgm:prSet/>
      <dgm:spPr/>
      <dgm:t>
        <a:bodyPr/>
        <a:lstStyle/>
        <a:p>
          <a:endParaRPr lang="en-US"/>
        </a:p>
      </dgm:t>
    </dgm:pt>
    <dgm:pt modelId="{E0D2261F-9311-4AF2-ADA6-A37A5FC02791}" type="sibTrans" cxnId="{295DDA74-BBDD-4759-A016-90146F7041C9}">
      <dgm:prSet/>
      <dgm:spPr/>
      <dgm:t>
        <a:bodyPr/>
        <a:lstStyle/>
        <a:p>
          <a:endParaRPr lang="en-US"/>
        </a:p>
      </dgm:t>
    </dgm:pt>
    <dgm:pt modelId="{FC47D357-E814-4F66-825C-D728E7C3DF2B}">
      <dgm:prSet/>
      <dgm:spPr/>
      <dgm:t>
        <a:bodyPr/>
        <a:lstStyle/>
        <a:p>
          <a:r>
            <a:rPr lang="en-US" b="1" i="0"/>
            <a:t>4. Reporting &amp; Notifications</a:t>
          </a:r>
          <a:endParaRPr lang="en-US"/>
        </a:p>
      </dgm:t>
    </dgm:pt>
    <dgm:pt modelId="{AA03A94C-D651-4D8F-BF1F-B3AC951D83DA}" type="parTrans" cxnId="{2E8645CF-CE72-45C0-A0BD-D9FFD495671A}">
      <dgm:prSet/>
      <dgm:spPr/>
      <dgm:t>
        <a:bodyPr/>
        <a:lstStyle/>
        <a:p>
          <a:endParaRPr lang="en-US"/>
        </a:p>
      </dgm:t>
    </dgm:pt>
    <dgm:pt modelId="{DC35C28C-B346-4545-9D3C-55F64A7BC4C2}" type="sibTrans" cxnId="{2E8645CF-CE72-45C0-A0BD-D9FFD495671A}">
      <dgm:prSet/>
      <dgm:spPr/>
      <dgm:t>
        <a:bodyPr/>
        <a:lstStyle/>
        <a:p>
          <a:endParaRPr lang="en-US"/>
        </a:p>
      </dgm:t>
    </dgm:pt>
    <dgm:pt modelId="{8124E005-6B5A-4930-B582-5C2657AAADDD}">
      <dgm:prSet/>
      <dgm:spPr/>
      <dgm:t>
        <a:bodyPr/>
        <a:lstStyle/>
        <a:p>
          <a:r>
            <a:rPr lang="en-US" b="0" i="0"/>
            <a:t>Transaction summaries for subscriptions and redemptions.</a:t>
          </a:r>
          <a:endParaRPr lang="en-US"/>
        </a:p>
      </dgm:t>
    </dgm:pt>
    <dgm:pt modelId="{10AF0984-27BF-446B-8B7A-E52F48641F80}" type="parTrans" cxnId="{B16035EF-27F1-4EFF-AB48-43FE544DE613}">
      <dgm:prSet/>
      <dgm:spPr/>
      <dgm:t>
        <a:bodyPr/>
        <a:lstStyle/>
        <a:p>
          <a:endParaRPr lang="en-US"/>
        </a:p>
      </dgm:t>
    </dgm:pt>
    <dgm:pt modelId="{4F8A0273-1E93-426E-85AC-E2B63E4C1E1B}" type="sibTrans" cxnId="{B16035EF-27F1-4EFF-AB48-43FE544DE613}">
      <dgm:prSet/>
      <dgm:spPr/>
      <dgm:t>
        <a:bodyPr/>
        <a:lstStyle/>
        <a:p>
          <a:endParaRPr lang="en-US"/>
        </a:p>
      </dgm:t>
    </dgm:pt>
    <dgm:pt modelId="{83C6FE0E-2E4D-4B78-BFD2-830232B07129}">
      <dgm:prSet/>
      <dgm:spPr/>
      <dgm:t>
        <a:bodyPr/>
        <a:lstStyle/>
        <a:p>
          <a:r>
            <a:rPr lang="en-US" b="0" i="0"/>
            <a:t>Periodic performance statements for each customer portfolio.</a:t>
          </a:r>
          <a:endParaRPr lang="en-US"/>
        </a:p>
      </dgm:t>
    </dgm:pt>
    <dgm:pt modelId="{0FE8C45C-D5EA-4691-B93F-3F6D66003A95}" type="parTrans" cxnId="{55AA7C81-3BFE-481E-8CD9-5D01DBBCF99B}">
      <dgm:prSet/>
      <dgm:spPr/>
      <dgm:t>
        <a:bodyPr/>
        <a:lstStyle/>
        <a:p>
          <a:endParaRPr lang="en-US"/>
        </a:p>
      </dgm:t>
    </dgm:pt>
    <dgm:pt modelId="{B275127B-DED8-43DA-ACD4-19081EC92831}" type="sibTrans" cxnId="{55AA7C81-3BFE-481E-8CD9-5D01DBBCF99B}">
      <dgm:prSet/>
      <dgm:spPr/>
      <dgm:t>
        <a:bodyPr/>
        <a:lstStyle/>
        <a:p>
          <a:endParaRPr lang="en-US"/>
        </a:p>
      </dgm:t>
    </dgm:pt>
    <dgm:pt modelId="{385A1605-5DAF-4662-8DFD-593377D309A0}">
      <dgm:prSet/>
      <dgm:spPr/>
      <dgm:t>
        <a:bodyPr/>
        <a:lstStyle/>
        <a:p>
          <a:r>
            <a:rPr lang="en-US" b="0" i="0" dirty="0"/>
            <a:t>Alerts for key events such as NAV changes, dividend distributions, or fund suspensions.</a:t>
          </a:r>
          <a:endParaRPr lang="en-US" dirty="0"/>
        </a:p>
      </dgm:t>
    </dgm:pt>
    <dgm:pt modelId="{12470DE2-A3BD-451A-8323-9C60B8040BCC}" type="parTrans" cxnId="{8F73FE2B-BAC2-40AC-9D1F-9534DE702B60}">
      <dgm:prSet/>
      <dgm:spPr/>
      <dgm:t>
        <a:bodyPr/>
        <a:lstStyle/>
        <a:p>
          <a:endParaRPr lang="en-US"/>
        </a:p>
      </dgm:t>
    </dgm:pt>
    <dgm:pt modelId="{6D3651D3-6641-4A53-88B0-DF4D78CB8FF6}" type="sibTrans" cxnId="{8F73FE2B-BAC2-40AC-9D1F-9534DE702B60}">
      <dgm:prSet/>
      <dgm:spPr/>
      <dgm:t>
        <a:bodyPr/>
        <a:lstStyle/>
        <a:p>
          <a:endParaRPr lang="en-US"/>
        </a:p>
      </dgm:t>
    </dgm:pt>
    <dgm:pt modelId="{2F0FC7A1-4704-42A7-9718-8CE76BFE0B46}" type="pres">
      <dgm:prSet presAssocID="{27A263D1-7255-4B5E-A9BE-C8EB00007ECF}" presName="linear" presStyleCnt="0">
        <dgm:presLayoutVars>
          <dgm:animLvl val="lvl"/>
          <dgm:resizeHandles val="exact"/>
        </dgm:presLayoutVars>
      </dgm:prSet>
      <dgm:spPr/>
    </dgm:pt>
    <dgm:pt modelId="{840F951D-A69B-4E07-B304-7153880ADBD3}" type="pres">
      <dgm:prSet presAssocID="{DE0E17A9-9804-451F-A4E6-58843DD734D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9789861-3C1D-4E4C-A776-3B9CEDBBBCA1}" type="pres">
      <dgm:prSet presAssocID="{DE0E17A9-9804-451F-A4E6-58843DD734DD}" presName="childText" presStyleLbl="revTx" presStyleIdx="0" presStyleCnt="4">
        <dgm:presLayoutVars>
          <dgm:bulletEnabled val="1"/>
        </dgm:presLayoutVars>
      </dgm:prSet>
      <dgm:spPr/>
    </dgm:pt>
    <dgm:pt modelId="{25ABC199-C57F-4EB0-8D40-C03836102AD6}" type="pres">
      <dgm:prSet presAssocID="{C31BFFF9-F63F-46C3-9D8B-F94947B281A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1914913-6A42-47AB-A4C3-BA8B721F44F7}" type="pres">
      <dgm:prSet presAssocID="{C31BFFF9-F63F-46C3-9D8B-F94947B281A6}" presName="childText" presStyleLbl="revTx" presStyleIdx="1" presStyleCnt="4">
        <dgm:presLayoutVars>
          <dgm:bulletEnabled val="1"/>
        </dgm:presLayoutVars>
      </dgm:prSet>
      <dgm:spPr/>
    </dgm:pt>
    <dgm:pt modelId="{3581969F-BD73-46D9-A54D-E4CB63ADFE00}" type="pres">
      <dgm:prSet presAssocID="{30ED64C7-D32E-4C49-ADB3-B8A7A7F86D9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42A1BE9-396F-45FD-8BCA-B931E086DE36}" type="pres">
      <dgm:prSet presAssocID="{30ED64C7-D32E-4C49-ADB3-B8A7A7F86D95}" presName="childText" presStyleLbl="revTx" presStyleIdx="2" presStyleCnt="4">
        <dgm:presLayoutVars>
          <dgm:bulletEnabled val="1"/>
        </dgm:presLayoutVars>
      </dgm:prSet>
      <dgm:spPr/>
    </dgm:pt>
    <dgm:pt modelId="{B38A1B79-400A-4E7E-B4C2-8FB544788934}" type="pres">
      <dgm:prSet presAssocID="{FC47D357-E814-4F66-825C-D728E7C3DF2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1F96B9BF-3EEB-40C4-9776-7F94EEB0EDA9}" type="pres">
      <dgm:prSet presAssocID="{FC47D357-E814-4F66-825C-D728E7C3DF2B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C5047F05-441C-406B-A7BE-9CD67E655BE0}" type="presOf" srcId="{AE4FB465-C164-4863-B29F-8218648782F1}" destId="{E42A1BE9-396F-45FD-8BCA-B931E086DE36}" srcOrd="0" destOrd="1" presId="urn:microsoft.com/office/officeart/2005/8/layout/vList2"/>
    <dgm:cxn modelId="{1746C61D-8C4B-4BF1-87BF-89ED6FE715DC}" type="presOf" srcId="{DE0E17A9-9804-451F-A4E6-58843DD734DD}" destId="{840F951D-A69B-4E07-B304-7153880ADBD3}" srcOrd="0" destOrd="0" presId="urn:microsoft.com/office/officeart/2005/8/layout/vList2"/>
    <dgm:cxn modelId="{4D682A21-6C90-4015-92AB-FBA1EEF8DB1F}" type="presOf" srcId="{FC47D357-E814-4F66-825C-D728E7C3DF2B}" destId="{B38A1B79-400A-4E7E-B4C2-8FB544788934}" srcOrd="0" destOrd="0" presId="urn:microsoft.com/office/officeart/2005/8/layout/vList2"/>
    <dgm:cxn modelId="{E3181C27-3710-4B27-AF44-4C21FB8EAF8D}" srcId="{C31BFFF9-F63F-46C3-9D8B-F94947B281A6}" destId="{FF2A0D2A-0281-4658-8721-EFB0E2FB644E}" srcOrd="1" destOrd="0" parTransId="{FD98BCEA-FF1C-45FD-8269-4B45B950CC14}" sibTransId="{EFB79508-FAEB-4CFE-AAEA-07221E177E76}"/>
    <dgm:cxn modelId="{8F73FE2B-BAC2-40AC-9D1F-9534DE702B60}" srcId="{FC47D357-E814-4F66-825C-D728E7C3DF2B}" destId="{385A1605-5DAF-4662-8DFD-593377D309A0}" srcOrd="2" destOrd="0" parTransId="{12470DE2-A3BD-451A-8323-9C60B8040BCC}" sibTransId="{6D3651D3-6641-4A53-88B0-DF4D78CB8FF6}"/>
    <dgm:cxn modelId="{4F42252E-D249-4704-8EC4-FF7B0685AC0B}" type="presOf" srcId="{30ED64C7-D32E-4C49-ADB3-B8A7A7F86D95}" destId="{3581969F-BD73-46D9-A54D-E4CB63ADFE00}" srcOrd="0" destOrd="0" presId="urn:microsoft.com/office/officeart/2005/8/layout/vList2"/>
    <dgm:cxn modelId="{E635D63D-3CB1-464F-9282-B390A7C08F9A}" type="presOf" srcId="{D7F42575-5460-4FF7-8742-A1BF2B506BC1}" destId="{99789861-3C1D-4E4C-A776-3B9CEDBBBCA1}" srcOrd="0" destOrd="3" presId="urn:microsoft.com/office/officeart/2005/8/layout/vList2"/>
    <dgm:cxn modelId="{3AFD5E62-B8E1-4653-89BD-5B15C2176202}" srcId="{DE0E17A9-9804-451F-A4E6-58843DD734DD}" destId="{D7F42575-5460-4FF7-8742-A1BF2B506BC1}" srcOrd="3" destOrd="0" parTransId="{0260D1A5-8CBF-4F18-B2F9-AD1E3C37A86F}" sibTransId="{AC0BD759-D25D-4DB3-B4A4-0E53E2A92D76}"/>
    <dgm:cxn modelId="{5DE0B067-573D-4D22-88D1-5EEA2C866434}" type="presOf" srcId="{397F4935-9BC7-4342-95FC-930D5CE0EC18}" destId="{99789861-3C1D-4E4C-A776-3B9CEDBBBCA1}" srcOrd="0" destOrd="0" presId="urn:microsoft.com/office/officeart/2005/8/layout/vList2"/>
    <dgm:cxn modelId="{9FE46D6B-226B-4FF8-98BE-DFFCF4CB1DBB}" type="presOf" srcId="{27A263D1-7255-4B5E-A9BE-C8EB00007ECF}" destId="{2F0FC7A1-4704-42A7-9718-8CE76BFE0B46}" srcOrd="0" destOrd="0" presId="urn:microsoft.com/office/officeart/2005/8/layout/vList2"/>
    <dgm:cxn modelId="{80DF004D-8052-47F9-B854-24D0FFBCFD3E}" type="presOf" srcId="{80788F52-87E0-4BF6-A002-E9BC60622DEC}" destId="{E42A1BE9-396F-45FD-8BCA-B931E086DE36}" srcOrd="0" destOrd="2" presId="urn:microsoft.com/office/officeart/2005/8/layout/vList2"/>
    <dgm:cxn modelId="{6E6F9A54-E965-490D-B55C-1ED981DE7684}" type="presOf" srcId="{6FCDF77A-6906-491D-8222-B09BC86AED5B}" destId="{E42A1BE9-396F-45FD-8BCA-B931E086DE36}" srcOrd="0" destOrd="0" presId="urn:microsoft.com/office/officeart/2005/8/layout/vList2"/>
    <dgm:cxn modelId="{295DDA74-BBDD-4759-A016-90146F7041C9}" srcId="{30ED64C7-D32E-4C49-ADB3-B8A7A7F86D95}" destId="{80788F52-87E0-4BF6-A002-E9BC60622DEC}" srcOrd="2" destOrd="0" parTransId="{864D3C34-7D09-450D-ABC3-3C28409C9580}" sibTransId="{E0D2261F-9311-4AF2-ADA6-A37A5FC02791}"/>
    <dgm:cxn modelId="{5122DA59-10E9-46A5-A1F8-33C7A043557B}" type="presOf" srcId="{66D389E7-193E-43C1-A9D5-DA66841ACA7C}" destId="{99789861-3C1D-4E4C-A776-3B9CEDBBBCA1}" srcOrd="0" destOrd="2" presId="urn:microsoft.com/office/officeart/2005/8/layout/vList2"/>
    <dgm:cxn modelId="{C3C0F87C-103F-42B2-B0B0-FA6EBB064D27}" srcId="{DE0E17A9-9804-451F-A4E6-58843DD734DD}" destId="{66D389E7-193E-43C1-A9D5-DA66841ACA7C}" srcOrd="2" destOrd="0" parTransId="{A918585A-1C63-4552-9AC1-6ED927B6C59C}" sibTransId="{84A5EA1E-977A-4F57-A788-774C4FC44B74}"/>
    <dgm:cxn modelId="{55AA7C81-3BFE-481E-8CD9-5D01DBBCF99B}" srcId="{FC47D357-E814-4F66-825C-D728E7C3DF2B}" destId="{83C6FE0E-2E4D-4B78-BFD2-830232B07129}" srcOrd="1" destOrd="0" parTransId="{0FE8C45C-D5EA-4691-B93F-3F6D66003A95}" sibTransId="{B275127B-DED8-43DA-ACD4-19081EC92831}"/>
    <dgm:cxn modelId="{EE76D886-E46F-4D7D-83DE-7593ACE52847}" type="presOf" srcId="{385A1605-5DAF-4662-8DFD-593377D309A0}" destId="{1F96B9BF-3EEB-40C4-9776-7F94EEB0EDA9}" srcOrd="0" destOrd="2" presId="urn:microsoft.com/office/officeart/2005/8/layout/vList2"/>
    <dgm:cxn modelId="{6BA119AE-3022-464F-86BF-6D9D12B3EAFD}" srcId="{30ED64C7-D32E-4C49-ADB3-B8A7A7F86D95}" destId="{AE4FB465-C164-4863-B29F-8218648782F1}" srcOrd="1" destOrd="0" parTransId="{778DDE9A-D376-4AF3-A20D-E51C27B9FB26}" sibTransId="{C8EFC9B6-2A75-416D-A213-2405FBF49AAA}"/>
    <dgm:cxn modelId="{A624A6AE-181A-4588-B423-E01E1DF66140}" type="presOf" srcId="{A080B5CA-1529-4F2A-80D5-15CFF95AF25F}" destId="{A1914913-6A42-47AB-A4C3-BA8B721F44F7}" srcOrd="0" destOrd="2" presId="urn:microsoft.com/office/officeart/2005/8/layout/vList2"/>
    <dgm:cxn modelId="{6F2506B0-F827-4BE1-9F2C-14EFD2944AFA}" type="presOf" srcId="{A8A142CC-188B-4322-B1F3-87460C7BED30}" destId="{A1914913-6A42-47AB-A4C3-BA8B721F44F7}" srcOrd="0" destOrd="0" presId="urn:microsoft.com/office/officeart/2005/8/layout/vList2"/>
    <dgm:cxn modelId="{B82D40B5-427D-4B6A-8FC7-22EEFC13AB10}" type="presOf" srcId="{C31BFFF9-F63F-46C3-9D8B-F94947B281A6}" destId="{25ABC199-C57F-4EB0-8D40-C03836102AD6}" srcOrd="0" destOrd="0" presId="urn:microsoft.com/office/officeart/2005/8/layout/vList2"/>
    <dgm:cxn modelId="{69A394BB-40A9-4B11-9374-8EA956219B1F}" type="presOf" srcId="{8124E005-6B5A-4930-B582-5C2657AAADDD}" destId="{1F96B9BF-3EEB-40C4-9776-7F94EEB0EDA9}" srcOrd="0" destOrd="0" presId="urn:microsoft.com/office/officeart/2005/8/layout/vList2"/>
    <dgm:cxn modelId="{539374BE-EFB1-4BDC-888E-1C26406DBD41}" srcId="{30ED64C7-D32E-4C49-ADB3-B8A7A7F86D95}" destId="{6FCDF77A-6906-491D-8222-B09BC86AED5B}" srcOrd="0" destOrd="0" parTransId="{77DDF358-F979-4E66-8565-72373F15477A}" sibTransId="{992069D5-185E-4474-9C9A-63E83A452F50}"/>
    <dgm:cxn modelId="{4348AEC7-D3B8-4931-BA7C-5259AD5D5B13}" srcId="{C31BFFF9-F63F-46C3-9D8B-F94947B281A6}" destId="{A080B5CA-1529-4F2A-80D5-15CFF95AF25F}" srcOrd="2" destOrd="0" parTransId="{8B6D63A4-AE54-405D-AC00-2495AFDDD8E8}" sibTransId="{A93CA1CB-7816-4734-9238-3C469018E447}"/>
    <dgm:cxn modelId="{51F47FC8-96D9-48B5-A416-82A1AF982156}" srcId="{27A263D1-7255-4B5E-A9BE-C8EB00007ECF}" destId="{C31BFFF9-F63F-46C3-9D8B-F94947B281A6}" srcOrd="1" destOrd="0" parTransId="{45D4BF90-9F41-4F83-B020-644401BCF59E}" sibTransId="{E521D7BB-BE8D-4522-AFC0-05F48BA475EE}"/>
    <dgm:cxn modelId="{C92C69CC-C640-4F91-8DA4-645943121AD7}" srcId="{DE0E17A9-9804-451F-A4E6-58843DD734DD}" destId="{2FEE24FE-54EA-4C26-BD36-4F83459B8CCB}" srcOrd="1" destOrd="0" parTransId="{4806A07D-DB49-4B0A-B04B-D16CAC303066}" sibTransId="{91C1A7F1-A374-4C50-AFBE-07C5AA788884}"/>
    <dgm:cxn modelId="{2E8645CF-CE72-45C0-A0BD-D9FFD495671A}" srcId="{27A263D1-7255-4B5E-A9BE-C8EB00007ECF}" destId="{FC47D357-E814-4F66-825C-D728E7C3DF2B}" srcOrd="3" destOrd="0" parTransId="{AA03A94C-D651-4D8F-BF1F-B3AC951D83DA}" sibTransId="{DC35C28C-B346-4545-9D3C-55F64A7BC4C2}"/>
    <dgm:cxn modelId="{960A59D3-1BED-428A-85F9-1D4C2C46C2C4}" type="presOf" srcId="{FF2A0D2A-0281-4658-8721-EFB0E2FB644E}" destId="{A1914913-6A42-47AB-A4C3-BA8B721F44F7}" srcOrd="0" destOrd="1" presId="urn:microsoft.com/office/officeart/2005/8/layout/vList2"/>
    <dgm:cxn modelId="{FD6E47D4-40A6-4D8B-BF11-445E3C82913E}" srcId="{27A263D1-7255-4B5E-A9BE-C8EB00007ECF}" destId="{30ED64C7-D32E-4C49-ADB3-B8A7A7F86D95}" srcOrd="2" destOrd="0" parTransId="{7E07BD0B-7D6F-45DB-871A-D05D4B88BDC6}" sibTransId="{90948951-DB6A-4FF9-BF77-E2460FAFB4F0}"/>
    <dgm:cxn modelId="{EAC0E5EA-B8DC-4D3C-80AB-EBE1A537E824}" srcId="{DE0E17A9-9804-451F-A4E6-58843DD734DD}" destId="{397F4935-9BC7-4342-95FC-930D5CE0EC18}" srcOrd="0" destOrd="0" parTransId="{F258F8CF-D911-4C5C-A214-112AE802C039}" sibTransId="{0330FD8C-F8A1-4C72-B73A-A1E0684B5F8D}"/>
    <dgm:cxn modelId="{B16035EF-27F1-4EFF-AB48-43FE544DE613}" srcId="{FC47D357-E814-4F66-825C-D728E7C3DF2B}" destId="{8124E005-6B5A-4930-B582-5C2657AAADDD}" srcOrd="0" destOrd="0" parTransId="{10AF0984-27BF-446B-8B7A-E52F48641F80}" sibTransId="{4F8A0273-1E93-426E-85AC-E2B63E4C1E1B}"/>
    <dgm:cxn modelId="{5389D8F1-2637-4FAC-9EA6-8AA24508329B}" srcId="{27A263D1-7255-4B5E-A9BE-C8EB00007ECF}" destId="{DE0E17A9-9804-451F-A4E6-58843DD734DD}" srcOrd="0" destOrd="0" parTransId="{8303508F-2638-4372-92F9-A407DD6674F4}" sibTransId="{EEDF4EE5-312B-4E69-BC02-1E40772BD7AA}"/>
    <dgm:cxn modelId="{CC6ED4F4-FEA9-443A-A576-A0EFDFBAB62A}" type="presOf" srcId="{83C6FE0E-2E4D-4B78-BFD2-830232B07129}" destId="{1F96B9BF-3EEB-40C4-9776-7F94EEB0EDA9}" srcOrd="0" destOrd="1" presId="urn:microsoft.com/office/officeart/2005/8/layout/vList2"/>
    <dgm:cxn modelId="{E66EACF6-A35F-4E15-A20C-0BA6D679BBD8}" srcId="{C31BFFF9-F63F-46C3-9D8B-F94947B281A6}" destId="{A8A142CC-188B-4322-B1F3-87460C7BED30}" srcOrd="0" destOrd="0" parTransId="{9A8F4C0D-4794-46C3-887C-131DABEC0711}" sibTransId="{49D50228-AC13-4A76-99FC-3F459DA37EE9}"/>
    <dgm:cxn modelId="{FCC46EF9-F575-45DA-BD55-0E8BE1D7A0DE}" type="presOf" srcId="{2FEE24FE-54EA-4C26-BD36-4F83459B8CCB}" destId="{99789861-3C1D-4E4C-A776-3B9CEDBBBCA1}" srcOrd="0" destOrd="1" presId="urn:microsoft.com/office/officeart/2005/8/layout/vList2"/>
    <dgm:cxn modelId="{4F0057C5-8D0D-46A8-ABC9-BB6545B02F1E}" type="presParOf" srcId="{2F0FC7A1-4704-42A7-9718-8CE76BFE0B46}" destId="{840F951D-A69B-4E07-B304-7153880ADBD3}" srcOrd="0" destOrd="0" presId="urn:microsoft.com/office/officeart/2005/8/layout/vList2"/>
    <dgm:cxn modelId="{7FCB6B9C-CCDB-4C06-B02C-B0551E61A3E9}" type="presParOf" srcId="{2F0FC7A1-4704-42A7-9718-8CE76BFE0B46}" destId="{99789861-3C1D-4E4C-A776-3B9CEDBBBCA1}" srcOrd="1" destOrd="0" presId="urn:microsoft.com/office/officeart/2005/8/layout/vList2"/>
    <dgm:cxn modelId="{16BBE905-4533-4B97-8B1F-1DFF483508FB}" type="presParOf" srcId="{2F0FC7A1-4704-42A7-9718-8CE76BFE0B46}" destId="{25ABC199-C57F-4EB0-8D40-C03836102AD6}" srcOrd="2" destOrd="0" presId="urn:microsoft.com/office/officeart/2005/8/layout/vList2"/>
    <dgm:cxn modelId="{449DBFC0-1E6F-4FCA-93EC-16B0FF2B2F2A}" type="presParOf" srcId="{2F0FC7A1-4704-42A7-9718-8CE76BFE0B46}" destId="{A1914913-6A42-47AB-A4C3-BA8B721F44F7}" srcOrd="3" destOrd="0" presId="urn:microsoft.com/office/officeart/2005/8/layout/vList2"/>
    <dgm:cxn modelId="{AE489CB4-48D9-4E2C-B212-D78D3B1712E4}" type="presParOf" srcId="{2F0FC7A1-4704-42A7-9718-8CE76BFE0B46}" destId="{3581969F-BD73-46D9-A54D-E4CB63ADFE00}" srcOrd="4" destOrd="0" presId="urn:microsoft.com/office/officeart/2005/8/layout/vList2"/>
    <dgm:cxn modelId="{2BBD5E75-15AE-431E-8A81-5CB0E1993959}" type="presParOf" srcId="{2F0FC7A1-4704-42A7-9718-8CE76BFE0B46}" destId="{E42A1BE9-396F-45FD-8BCA-B931E086DE36}" srcOrd="5" destOrd="0" presId="urn:microsoft.com/office/officeart/2005/8/layout/vList2"/>
    <dgm:cxn modelId="{44F57D2E-717C-4FD8-8F76-2FA8C10705E1}" type="presParOf" srcId="{2F0FC7A1-4704-42A7-9718-8CE76BFE0B46}" destId="{B38A1B79-400A-4E7E-B4C2-8FB544788934}" srcOrd="6" destOrd="0" presId="urn:microsoft.com/office/officeart/2005/8/layout/vList2"/>
    <dgm:cxn modelId="{53EA71A6-364D-4935-997B-BD499B610C57}" type="presParOf" srcId="{2F0FC7A1-4704-42A7-9718-8CE76BFE0B46}" destId="{1F96B9BF-3EEB-40C4-9776-7F94EEB0EDA9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C9683A1-B79C-4E96-9CF6-739469AEFF94}" type="doc">
      <dgm:prSet loTypeId="urn:microsoft.com/office/officeart/2005/8/layout/chevron2" loCatId="process" qsTypeId="urn:microsoft.com/office/officeart/2005/8/quickstyle/3d1" qsCatId="3D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81144122-A197-42E6-B028-6080E74BBADD}">
      <dgm:prSet phldrT="[Text]"/>
      <dgm:spPr/>
      <dgm:t>
        <a:bodyPr/>
        <a:lstStyle/>
        <a:p>
          <a:r>
            <a:rPr lang="en-US"/>
            <a:t>Customer</a:t>
          </a:r>
          <a:endParaRPr lang="en-US" dirty="0"/>
        </a:p>
      </dgm:t>
    </dgm:pt>
    <dgm:pt modelId="{FBE459CE-9CA9-4964-9BB7-857B4466341E}" type="parTrans" cxnId="{5FFEF0D6-DBFD-49BC-85D3-E0EAE31AF682}">
      <dgm:prSet/>
      <dgm:spPr/>
      <dgm:t>
        <a:bodyPr/>
        <a:lstStyle/>
        <a:p>
          <a:endParaRPr lang="en-US"/>
        </a:p>
      </dgm:t>
    </dgm:pt>
    <dgm:pt modelId="{79FACB25-BEDA-419F-B0C2-FF7050477204}" type="sibTrans" cxnId="{5FFEF0D6-DBFD-49BC-85D3-E0EAE31AF682}">
      <dgm:prSet/>
      <dgm:spPr/>
      <dgm:t>
        <a:bodyPr/>
        <a:lstStyle/>
        <a:p>
          <a:endParaRPr lang="en-US"/>
        </a:p>
      </dgm:t>
    </dgm:pt>
    <dgm:pt modelId="{B91AAAB9-6446-4DD5-BF16-E57A1F52FE98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/>
            <a:t>Request subscription/redemption</a:t>
          </a:r>
        </a:p>
      </dgm:t>
    </dgm:pt>
    <dgm:pt modelId="{82B4F6AF-E1BF-4D47-9BE1-4FB96EFE819B}" type="sibTrans" cxnId="{06FD7F0B-1560-4100-8F45-382EEA4011A5}">
      <dgm:prSet/>
      <dgm:spPr/>
      <dgm:t>
        <a:bodyPr/>
        <a:lstStyle/>
        <a:p>
          <a:endParaRPr lang="en-US"/>
        </a:p>
      </dgm:t>
    </dgm:pt>
    <dgm:pt modelId="{A01CB1A8-4546-4347-94EB-E21AFC51922C}" type="parTrans" cxnId="{06FD7F0B-1560-4100-8F45-382EEA4011A5}">
      <dgm:prSet/>
      <dgm:spPr/>
      <dgm:t>
        <a:bodyPr/>
        <a:lstStyle/>
        <a:p>
          <a:endParaRPr lang="en-US"/>
        </a:p>
      </dgm:t>
    </dgm:pt>
    <dgm:pt modelId="{DA4F2E77-DA05-42D9-8CC2-55913E4013F9}">
      <dgm:prSet phldrT="[Text]"/>
      <dgm:spPr/>
      <dgm:t>
        <a:bodyPr/>
        <a:lstStyle/>
        <a:p>
          <a:r>
            <a:rPr lang="en-US" dirty="0"/>
            <a:t>Consumer</a:t>
          </a:r>
        </a:p>
      </dgm:t>
    </dgm:pt>
    <dgm:pt modelId="{DFD5E6F4-9DA4-4C7B-B9EE-C638C07F5DDC}" type="sibTrans" cxnId="{857BE0C9-89DA-4D9E-B4BE-68D2264CE8AC}">
      <dgm:prSet/>
      <dgm:spPr/>
      <dgm:t>
        <a:bodyPr/>
        <a:lstStyle/>
        <a:p>
          <a:endParaRPr lang="en-US"/>
        </a:p>
      </dgm:t>
    </dgm:pt>
    <dgm:pt modelId="{128D3077-301F-469D-B2F2-913F71B62860}" type="parTrans" cxnId="{857BE0C9-89DA-4D9E-B4BE-68D2264CE8AC}">
      <dgm:prSet/>
      <dgm:spPr/>
      <dgm:t>
        <a:bodyPr/>
        <a:lstStyle/>
        <a:p>
          <a:endParaRPr lang="en-US"/>
        </a:p>
      </dgm:t>
    </dgm:pt>
    <dgm:pt modelId="{843251E8-8C87-4645-9366-E67206DF8B9A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Forward request</a:t>
          </a:r>
        </a:p>
      </dgm:t>
    </dgm:pt>
    <dgm:pt modelId="{AC306F0F-7A05-46A4-A2D1-975E9FA6CC8F}" type="sibTrans" cxnId="{2814593A-3E74-4FE8-810D-A4378781912A}">
      <dgm:prSet/>
      <dgm:spPr/>
      <dgm:t>
        <a:bodyPr/>
        <a:lstStyle/>
        <a:p>
          <a:endParaRPr lang="en-US"/>
        </a:p>
      </dgm:t>
    </dgm:pt>
    <dgm:pt modelId="{E46E4866-9EDF-4C0C-9E40-C2540E13E63B}" type="parTrans" cxnId="{2814593A-3E74-4FE8-810D-A4378781912A}">
      <dgm:prSet/>
      <dgm:spPr/>
      <dgm:t>
        <a:bodyPr/>
        <a:lstStyle/>
        <a:p>
          <a:endParaRPr lang="en-US"/>
        </a:p>
      </dgm:t>
    </dgm:pt>
    <dgm:pt modelId="{B64C83E2-57C6-4228-8BDD-16DFD5F05FCA}">
      <dgm:prSet phldrT="[Text]"/>
      <dgm:spPr/>
      <dgm:t>
        <a:bodyPr/>
        <a:lstStyle/>
        <a:p>
          <a:r>
            <a:rPr lang="en-US" dirty="0"/>
            <a:t>API Marketplace </a:t>
          </a:r>
        </a:p>
      </dgm:t>
    </dgm:pt>
    <dgm:pt modelId="{B4925BC6-DF4D-4AD6-A078-F576B2281474}" type="sibTrans" cxnId="{F147C45F-8618-4744-AB1C-B5D96226A9B8}">
      <dgm:prSet/>
      <dgm:spPr/>
      <dgm:t>
        <a:bodyPr/>
        <a:lstStyle/>
        <a:p>
          <a:endParaRPr lang="en-US"/>
        </a:p>
      </dgm:t>
    </dgm:pt>
    <dgm:pt modelId="{13371D1B-EFC1-4897-9457-A3862EDFC2DD}" type="parTrans" cxnId="{F147C45F-8618-4744-AB1C-B5D96226A9B8}">
      <dgm:prSet/>
      <dgm:spPr/>
      <dgm:t>
        <a:bodyPr/>
        <a:lstStyle/>
        <a:p>
          <a:endParaRPr lang="en-US"/>
        </a:p>
      </dgm:t>
    </dgm:pt>
    <dgm:pt modelId="{09BDD6DC-A969-417C-8499-68CDEE83FBBF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ClrTx/>
            <a:buSzTx/>
            <a:buFontTx/>
            <a:buChar char="•"/>
          </a:pPr>
          <a:r>
            <a:rPr lang="en-US" dirty="0"/>
            <a:t>Validate &amp; secure</a:t>
          </a:r>
        </a:p>
      </dgm:t>
    </dgm:pt>
    <dgm:pt modelId="{C6B4491C-E714-4A8D-9565-FDE7A07A318C}" type="sibTrans" cxnId="{0927BBFF-2276-419F-A853-ECEF0C66E58B}">
      <dgm:prSet/>
      <dgm:spPr/>
      <dgm:t>
        <a:bodyPr/>
        <a:lstStyle/>
        <a:p>
          <a:endParaRPr lang="en-US"/>
        </a:p>
      </dgm:t>
    </dgm:pt>
    <dgm:pt modelId="{AA80E1E2-A0E6-47E8-82F4-A7661831B762}" type="parTrans" cxnId="{0927BBFF-2276-419F-A853-ECEF0C66E58B}">
      <dgm:prSet/>
      <dgm:spPr/>
      <dgm:t>
        <a:bodyPr/>
        <a:lstStyle/>
        <a:p>
          <a:endParaRPr lang="en-US"/>
        </a:p>
      </dgm:t>
    </dgm:pt>
    <dgm:pt modelId="{19F58467-EF97-429F-AE9B-59F17AF0CF09}">
      <dgm:prSet phldrT="[Text]"/>
      <dgm:spPr/>
      <dgm:t>
        <a:bodyPr/>
        <a:lstStyle/>
        <a:p>
          <a:r>
            <a:rPr lang="en-US" dirty="0"/>
            <a:t>Provider </a:t>
          </a:r>
        </a:p>
      </dgm:t>
    </dgm:pt>
    <dgm:pt modelId="{D3F6D0DA-F37C-43E8-8848-708FFDE26517}" type="sibTrans" cxnId="{E25892FF-DDD7-4CDA-9856-AEB1EFF08966}">
      <dgm:prSet/>
      <dgm:spPr/>
      <dgm:t>
        <a:bodyPr/>
        <a:lstStyle/>
        <a:p>
          <a:endParaRPr lang="en-US"/>
        </a:p>
      </dgm:t>
    </dgm:pt>
    <dgm:pt modelId="{637F7277-B174-4DB3-B3C0-D13778F4CD22}" type="parTrans" cxnId="{E25892FF-DDD7-4CDA-9856-AEB1EFF08966}">
      <dgm:prSet/>
      <dgm:spPr/>
      <dgm:t>
        <a:bodyPr/>
        <a:lstStyle/>
        <a:p>
          <a:endParaRPr lang="en-US"/>
        </a:p>
      </dgm:t>
    </dgm:pt>
    <dgm:pt modelId="{4B5D5D48-05A8-4652-B784-74ECAC87FA0C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Execute transaction</a:t>
          </a:r>
        </a:p>
      </dgm:t>
    </dgm:pt>
    <dgm:pt modelId="{2B120FEF-E1FA-4DFA-A8BE-EB65242995C2}" type="sibTrans" cxnId="{99FDA2A0-27E3-4C7A-B41F-F959CCADFD8C}">
      <dgm:prSet/>
      <dgm:spPr/>
      <dgm:t>
        <a:bodyPr/>
        <a:lstStyle/>
        <a:p>
          <a:endParaRPr lang="en-US"/>
        </a:p>
      </dgm:t>
    </dgm:pt>
    <dgm:pt modelId="{B9FC169B-C7E3-429E-9E31-B83780914F8C}" type="parTrans" cxnId="{99FDA2A0-27E3-4C7A-B41F-F959CCADFD8C}">
      <dgm:prSet/>
      <dgm:spPr/>
      <dgm:t>
        <a:bodyPr/>
        <a:lstStyle/>
        <a:p>
          <a:endParaRPr lang="en-US"/>
        </a:p>
      </dgm:t>
    </dgm:pt>
    <dgm:pt modelId="{67682DF6-1300-46B1-B230-E84E2F36F75F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Send results</a:t>
          </a:r>
          <a:endParaRPr lang="en-US" dirty="0"/>
        </a:p>
      </dgm:t>
    </dgm:pt>
    <dgm:pt modelId="{6BE431E2-26CA-425D-B337-D461AEC53A91}" type="parTrans" cxnId="{73768115-0568-4438-B6E1-187DB9973150}">
      <dgm:prSet/>
      <dgm:spPr/>
      <dgm:t>
        <a:bodyPr/>
        <a:lstStyle/>
        <a:p>
          <a:endParaRPr lang="en-US"/>
        </a:p>
      </dgm:t>
    </dgm:pt>
    <dgm:pt modelId="{066A708B-4B24-42E0-9477-26D74DA31BE7}" type="sibTrans" cxnId="{73768115-0568-4438-B6E1-187DB9973150}">
      <dgm:prSet/>
      <dgm:spPr/>
      <dgm:t>
        <a:bodyPr/>
        <a:lstStyle/>
        <a:p>
          <a:endParaRPr lang="en-US"/>
        </a:p>
      </dgm:t>
    </dgm:pt>
    <dgm:pt modelId="{473A080A-AE55-444B-974D-25A943924076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ClrTx/>
            <a:buSzTx/>
            <a:buFontTx/>
            <a:buChar char="•"/>
          </a:pPr>
          <a:r>
            <a:rPr lang="en-US"/>
            <a:t>Route to Provider</a:t>
          </a:r>
          <a:endParaRPr lang="en-US" dirty="0"/>
        </a:p>
      </dgm:t>
    </dgm:pt>
    <dgm:pt modelId="{F0FF5A95-9397-4FD7-AA21-5F4E1F81F70E}" type="parTrans" cxnId="{7E37B4AE-3489-4C45-B33A-CF41960C78EE}">
      <dgm:prSet/>
      <dgm:spPr/>
      <dgm:t>
        <a:bodyPr/>
        <a:lstStyle/>
        <a:p>
          <a:endParaRPr lang="en-US"/>
        </a:p>
      </dgm:t>
    </dgm:pt>
    <dgm:pt modelId="{656186D3-39F6-48E1-8A09-B46C31CEC81D}" type="sibTrans" cxnId="{7E37B4AE-3489-4C45-B33A-CF41960C78EE}">
      <dgm:prSet/>
      <dgm:spPr/>
      <dgm:t>
        <a:bodyPr/>
        <a:lstStyle/>
        <a:p>
          <a:endParaRPr lang="en-US"/>
        </a:p>
      </dgm:t>
    </dgm:pt>
    <dgm:pt modelId="{320B2DAA-D1F8-4CD3-9FD9-08458856E0D3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/>
            <a:t>Display updates</a:t>
          </a:r>
          <a:endParaRPr lang="en-US" dirty="0"/>
        </a:p>
      </dgm:t>
    </dgm:pt>
    <dgm:pt modelId="{CB6B76AD-6402-4675-A773-DB5FD6255A50}" type="parTrans" cxnId="{A752F8D1-2D37-466D-B283-3DD70BA4384E}">
      <dgm:prSet/>
      <dgm:spPr/>
      <dgm:t>
        <a:bodyPr/>
        <a:lstStyle/>
        <a:p>
          <a:endParaRPr lang="en-US"/>
        </a:p>
      </dgm:t>
    </dgm:pt>
    <dgm:pt modelId="{F4A76917-A063-4873-B338-1019E45E2218}" type="sibTrans" cxnId="{A752F8D1-2D37-466D-B283-3DD70BA4384E}">
      <dgm:prSet/>
      <dgm:spPr/>
      <dgm:t>
        <a:bodyPr/>
        <a:lstStyle/>
        <a:p>
          <a:endParaRPr lang="en-US"/>
        </a:p>
      </dgm:t>
    </dgm:pt>
    <dgm:pt modelId="{7C7B656E-DB7D-4DFD-9312-1D8D6EEEF85B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/>
            <a:t>Receive confirmation</a:t>
          </a:r>
          <a:endParaRPr lang="en-US" dirty="0"/>
        </a:p>
      </dgm:t>
    </dgm:pt>
    <dgm:pt modelId="{B3FC76B6-AE52-4703-A173-7227DED12926}" type="parTrans" cxnId="{579C6260-BCB1-4F1B-999F-483EA6724CA0}">
      <dgm:prSet/>
      <dgm:spPr/>
      <dgm:t>
        <a:bodyPr/>
        <a:lstStyle/>
        <a:p>
          <a:endParaRPr lang="en-US"/>
        </a:p>
      </dgm:t>
    </dgm:pt>
    <dgm:pt modelId="{0DD1D69F-75A3-4993-81F5-E2B404454E89}" type="sibTrans" cxnId="{579C6260-BCB1-4F1B-999F-483EA6724CA0}">
      <dgm:prSet/>
      <dgm:spPr/>
      <dgm:t>
        <a:bodyPr/>
        <a:lstStyle/>
        <a:p>
          <a:endParaRPr lang="en-US"/>
        </a:p>
      </dgm:t>
    </dgm:pt>
    <dgm:pt modelId="{DFDB5383-7122-4C24-958F-043207C4B520}" type="pres">
      <dgm:prSet presAssocID="{AC9683A1-B79C-4E96-9CF6-739469AEFF94}" presName="linearFlow" presStyleCnt="0">
        <dgm:presLayoutVars>
          <dgm:dir/>
          <dgm:animLvl val="lvl"/>
          <dgm:resizeHandles val="exact"/>
        </dgm:presLayoutVars>
      </dgm:prSet>
      <dgm:spPr/>
    </dgm:pt>
    <dgm:pt modelId="{8C0AE28A-B81E-4B61-AF31-446A6FFC2DF0}" type="pres">
      <dgm:prSet presAssocID="{81144122-A197-42E6-B028-6080E74BBADD}" presName="composite" presStyleCnt="0"/>
      <dgm:spPr/>
    </dgm:pt>
    <dgm:pt modelId="{010630BC-026A-4FDB-B831-A624B123936E}" type="pres">
      <dgm:prSet presAssocID="{81144122-A197-42E6-B028-6080E74BBADD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65BC8FAE-8BB1-437B-8DC9-463119ADCC1B}" type="pres">
      <dgm:prSet presAssocID="{81144122-A197-42E6-B028-6080E74BBADD}" presName="descendantText" presStyleLbl="alignAcc1" presStyleIdx="0" presStyleCnt="4">
        <dgm:presLayoutVars>
          <dgm:bulletEnabled val="1"/>
        </dgm:presLayoutVars>
      </dgm:prSet>
      <dgm:spPr/>
    </dgm:pt>
    <dgm:pt modelId="{1FB6E3C8-861E-438D-95A8-496304896956}" type="pres">
      <dgm:prSet presAssocID="{79FACB25-BEDA-419F-B0C2-FF7050477204}" presName="sp" presStyleCnt="0"/>
      <dgm:spPr/>
    </dgm:pt>
    <dgm:pt modelId="{A675B558-DEB9-4676-BD20-6B152DBD5A76}" type="pres">
      <dgm:prSet presAssocID="{DA4F2E77-DA05-42D9-8CC2-55913E4013F9}" presName="composite" presStyleCnt="0"/>
      <dgm:spPr/>
    </dgm:pt>
    <dgm:pt modelId="{101E58E8-4E8D-4A0D-A8FC-8D91A33A9B46}" type="pres">
      <dgm:prSet presAssocID="{DA4F2E77-DA05-42D9-8CC2-55913E4013F9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34D5D70C-2BC2-46AB-BF48-535F8DC8179C}" type="pres">
      <dgm:prSet presAssocID="{DA4F2E77-DA05-42D9-8CC2-55913E4013F9}" presName="descendantText" presStyleLbl="alignAcc1" presStyleIdx="1" presStyleCnt="4">
        <dgm:presLayoutVars>
          <dgm:bulletEnabled val="1"/>
        </dgm:presLayoutVars>
      </dgm:prSet>
      <dgm:spPr/>
    </dgm:pt>
    <dgm:pt modelId="{B05CB603-6038-4CFC-9334-D3BBEB1665FC}" type="pres">
      <dgm:prSet presAssocID="{DFD5E6F4-9DA4-4C7B-B9EE-C638C07F5DDC}" presName="sp" presStyleCnt="0"/>
      <dgm:spPr/>
    </dgm:pt>
    <dgm:pt modelId="{C4208CD0-B5DC-4AB7-A2B3-F0157DA01E4B}" type="pres">
      <dgm:prSet presAssocID="{B64C83E2-57C6-4228-8BDD-16DFD5F05FCA}" presName="composite" presStyleCnt="0"/>
      <dgm:spPr/>
    </dgm:pt>
    <dgm:pt modelId="{192EC171-6E8F-418B-86CF-AB717B46C2C6}" type="pres">
      <dgm:prSet presAssocID="{B64C83E2-57C6-4228-8BDD-16DFD5F05FCA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643A59BA-DDCD-45A1-B04F-94DE7B86FD33}" type="pres">
      <dgm:prSet presAssocID="{B64C83E2-57C6-4228-8BDD-16DFD5F05FCA}" presName="descendantText" presStyleLbl="alignAcc1" presStyleIdx="2" presStyleCnt="4">
        <dgm:presLayoutVars>
          <dgm:bulletEnabled val="1"/>
        </dgm:presLayoutVars>
      </dgm:prSet>
      <dgm:spPr/>
    </dgm:pt>
    <dgm:pt modelId="{83A1086A-4D1D-41B4-95BE-7DBACB7C7B04}" type="pres">
      <dgm:prSet presAssocID="{B4925BC6-DF4D-4AD6-A078-F576B2281474}" presName="sp" presStyleCnt="0"/>
      <dgm:spPr/>
    </dgm:pt>
    <dgm:pt modelId="{7A3AB558-CF55-498F-8B39-FEF7EE9A6C72}" type="pres">
      <dgm:prSet presAssocID="{19F58467-EF97-429F-AE9B-59F17AF0CF09}" presName="composite" presStyleCnt="0"/>
      <dgm:spPr/>
    </dgm:pt>
    <dgm:pt modelId="{A9106411-8C01-48C2-A375-160504066496}" type="pres">
      <dgm:prSet presAssocID="{19F58467-EF97-429F-AE9B-59F17AF0CF09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02FA2D64-A93C-43B3-8B9E-8FCA2EB076AD}" type="pres">
      <dgm:prSet presAssocID="{19F58467-EF97-429F-AE9B-59F17AF0CF09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06FD7F0B-1560-4100-8F45-382EEA4011A5}" srcId="{81144122-A197-42E6-B028-6080E74BBADD}" destId="{B91AAAB9-6446-4DD5-BF16-E57A1F52FE98}" srcOrd="0" destOrd="0" parTransId="{A01CB1A8-4546-4347-94EB-E21AFC51922C}" sibTransId="{82B4F6AF-E1BF-4D47-9BE1-4FB96EFE819B}"/>
    <dgm:cxn modelId="{73768115-0568-4438-B6E1-187DB9973150}" srcId="{19F58467-EF97-429F-AE9B-59F17AF0CF09}" destId="{67682DF6-1300-46B1-B230-E84E2F36F75F}" srcOrd="1" destOrd="0" parTransId="{6BE431E2-26CA-425D-B337-D461AEC53A91}" sibTransId="{066A708B-4B24-42E0-9477-26D74DA31BE7}"/>
    <dgm:cxn modelId="{2814593A-3E74-4FE8-810D-A4378781912A}" srcId="{DA4F2E77-DA05-42D9-8CC2-55913E4013F9}" destId="{843251E8-8C87-4645-9366-E67206DF8B9A}" srcOrd="0" destOrd="0" parTransId="{E46E4866-9EDF-4C0C-9E40-C2540E13E63B}" sibTransId="{AC306F0F-7A05-46A4-A2D1-975E9FA6CC8F}"/>
    <dgm:cxn modelId="{26C11340-C681-4CB3-BF18-4AFB6E462977}" type="presOf" srcId="{19F58467-EF97-429F-AE9B-59F17AF0CF09}" destId="{A9106411-8C01-48C2-A375-160504066496}" srcOrd="0" destOrd="0" presId="urn:microsoft.com/office/officeart/2005/8/layout/chevron2"/>
    <dgm:cxn modelId="{F147C45F-8618-4744-AB1C-B5D96226A9B8}" srcId="{AC9683A1-B79C-4E96-9CF6-739469AEFF94}" destId="{B64C83E2-57C6-4228-8BDD-16DFD5F05FCA}" srcOrd="2" destOrd="0" parTransId="{13371D1B-EFC1-4897-9457-A3862EDFC2DD}" sibTransId="{B4925BC6-DF4D-4AD6-A078-F576B2281474}"/>
    <dgm:cxn modelId="{579C6260-BCB1-4F1B-999F-483EA6724CA0}" srcId="{81144122-A197-42E6-B028-6080E74BBADD}" destId="{7C7B656E-DB7D-4DFD-9312-1D8D6EEEF85B}" srcOrd="1" destOrd="0" parTransId="{B3FC76B6-AE52-4703-A173-7227DED12926}" sibTransId="{0DD1D69F-75A3-4993-81F5-E2B404454E89}"/>
    <dgm:cxn modelId="{0C907F47-108E-4022-944D-7A38846F595D}" type="presOf" srcId="{81144122-A197-42E6-B028-6080E74BBADD}" destId="{010630BC-026A-4FDB-B831-A624B123936E}" srcOrd="0" destOrd="0" presId="urn:microsoft.com/office/officeart/2005/8/layout/chevron2"/>
    <dgm:cxn modelId="{0EDAC747-C022-4720-A6F1-9C68C26D6D0A}" type="presOf" srcId="{67682DF6-1300-46B1-B230-E84E2F36F75F}" destId="{02FA2D64-A93C-43B3-8B9E-8FCA2EB076AD}" srcOrd="0" destOrd="1" presId="urn:microsoft.com/office/officeart/2005/8/layout/chevron2"/>
    <dgm:cxn modelId="{84062D4D-D6B9-47DA-9E12-0F2FE1BF5E91}" type="presOf" srcId="{473A080A-AE55-444B-974D-25A943924076}" destId="{643A59BA-DDCD-45A1-B04F-94DE7B86FD33}" srcOrd="0" destOrd="1" presId="urn:microsoft.com/office/officeart/2005/8/layout/chevron2"/>
    <dgm:cxn modelId="{5208019C-F637-4C20-AF15-AA5BD140AA37}" type="presOf" srcId="{AC9683A1-B79C-4E96-9CF6-739469AEFF94}" destId="{DFDB5383-7122-4C24-958F-043207C4B520}" srcOrd="0" destOrd="0" presId="urn:microsoft.com/office/officeart/2005/8/layout/chevron2"/>
    <dgm:cxn modelId="{99FDA2A0-27E3-4C7A-B41F-F959CCADFD8C}" srcId="{19F58467-EF97-429F-AE9B-59F17AF0CF09}" destId="{4B5D5D48-05A8-4652-B784-74ECAC87FA0C}" srcOrd="0" destOrd="0" parTransId="{B9FC169B-C7E3-429E-9E31-B83780914F8C}" sibTransId="{2B120FEF-E1FA-4DFA-A8BE-EB65242995C2}"/>
    <dgm:cxn modelId="{5268E6A8-7BE3-43E3-BBBB-64B9DB2738B8}" type="presOf" srcId="{B91AAAB9-6446-4DD5-BF16-E57A1F52FE98}" destId="{65BC8FAE-8BB1-437B-8DC9-463119ADCC1B}" srcOrd="0" destOrd="0" presId="urn:microsoft.com/office/officeart/2005/8/layout/chevron2"/>
    <dgm:cxn modelId="{97D03EAB-056C-4D3B-BE74-DD4E41F19A73}" type="presOf" srcId="{7C7B656E-DB7D-4DFD-9312-1D8D6EEEF85B}" destId="{65BC8FAE-8BB1-437B-8DC9-463119ADCC1B}" srcOrd="0" destOrd="1" presId="urn:microsoft.com/office/officeart/2005/8/layout/chevron2"/>
    <dgm:cxn modelId="{674B41AE-64A5-4BB5-BDFA-B1AFE78B4167}" type="presOf" srcId="{DA4F2E77-DA05-42D9-8CC2-55913E4013F9}" destId="{101E58E8-4E8D-4A0D-A8FC-8D91A33A9B46}" srcOrd="0" destOrd="0" presId="urn:microsoft.com/office/officeart/2005/8/layout/chevron2"/>
    <dgm:cxn modelId="{7E37B4AE-3489-4C45-B33A-CF41960C78EE}" srcId="{B64C83E2-57C6-4228-8BDD-16DFD5F05FCA}" destId="{473A080A-AE55-444B-974D-25A943924076}" srcOrd="1" destOrd="0" parTransId="{F0FF5A95-9397-4FD7-AA21-5F4E1F81F70E}" sibTransId="{656186D3-39F6-48E1-8A09-B46C31CEC81D}"/>
    <dgm:cxn modelId="{C90922B9-C7F8-4F2B-885D-73B9CFD3CEAC}" type="presOf" srcId="{320B2DAA-D1F8-4CD3-9FD9-08458856E0D3}" destId="{34D5D70C-2BC2-46AB-BF48-535F8DC8179C}" srcOrd="0" destOrd="1" presId="urn:microsoft.com/office/officeart/2005/8/layout/chevron2"/>
    <dgm:cxn modelId="{857BE0C9-89DA-4D9E-B4BE-68D2264CE8AC}" srcId="{AC9683A1-B79C-4E96-9CF6-739469AEFF94}" destId="{DA4F2E77-DA05-42D9-8CC2-55913E4013F9}" srcOrd="1" destOrd="0" parTransId="{128D3077-301F-469D-B2F2-913F71B62860}" sibTransId="{DFD5E6F4-9DA4-4C7B-B9EE-C638C07F5DDC}"/>
    <dgm:cxn modelId="{A752F8D1-2D37-466D-B283-3DD70BA4384E}" srcId="{DA4F2E77-DA05-42D9-8CC2-55913E4013F9}" destId="{320B2DAA-D1F8-4CD3-9FD9-08458856E0D3}" srcOrd="1" destOrd="0" parTransId="{CB6B76AD-6402-4675-A773-DB5FD6255A50}" sibTransId="{F4A76917-A063-4873-B338-1019E45E2218}"/>
    <dgm:cxn modelId="{24435DD2-2077-461A-AB76-98308C58AAA6}" type="presOf" srcId="{843251E8-8C87-4645-9366-E67206DF8B9A}" destId="{34D5D70C-2BC2-46AB-BF48-535F8DC8179C}" srcOrd="0" destOrd="0" presId="urn:microsoft.com/office/officeart/2005/8/layout/chevron2"/>
    <dgm:cxn modelId="{5FFEF0D6-DBFD-49BC-85D3-E0EAE31AF682}" srcId="{AC9683A1-B79C-4E96-9CF6-739469AEFF94}" destId="{81144122-A197-42E6-B028-6080E74BBADD}" srcOrd="0" destOrd="0" parTransId="{FBE459CE-9CA9-4964-9BB7-857B4466341E}" sibTransId="{79FACB25-BEDA-419F-B0C2-FF7050477204}"/>
    <dgm:cxn modelId="{E1AC86DD-0461-4CE3-9785-E79CC87A1117}" type="presOf" srcId="{09BDD6DC-A969-417C-8499-68CDEE83FBBF}" destId="{643A59BA-DDCD-45A1-B04F-94DE7B86FD33}" srcOrd="0" destOrd="0" presId="urn:microsoft.com/office/officeart/2005/8/layout/chevron2"/>
    <dgm:cxn modelId="{BA8F50E3-8EC9-4F41-89FF-C40FDF984302}" type="presOf" srcId="{B64C83E2-57C6-4228-8BDD-16DFD5F05FCA}" destId="{192EC171-6E8F-418B-86CF-AB717B46C2C6}" srcOrd="0" destOrd="0" presId="urn:microsoft.com/office/officeart/2005/8/layout/chevron2"/>
    <dgm:cxn modelId="{B1F72FE5-6E3D-4030-805D-B43A0F1A52D3}" type="presOf" srcId="{4B5D5D48-05A8-4652-B784-74ECAC87FA0C}" destId="{02FA2D64-A93C-43B3-8B9E-8FCA2EB076AD}" srcOrd="0" destOrd="0" presId="urn:microsoft.com/office/officeart/2005/8/layout/chevron2"/>
    <dgm:cxn modelId="{E25892FF-DDD7-4CDA-9856-AEB1EFF08966}" srcId="{AC9683A1-B79C-4E96-9CF6-739469AEFF94}" destId="{19F58467-EF97-429F-AE9B-59F17AF0CF09}" srcOrd="3" destOrd="0" parTransId="{637F7277-B174-4DB3-B3C0-D13778F4CD22}" sibTransId="{D3F6D0DA-F37C-43E8-8848-708FFDE26517}"/>
    <dgm:cxn modelId="{0927BBFF-2276-419F-A853-ECEF0C66E58B}" srcId="{B64C83E2-57C6-4228-8BDD-16DFD5F05FCA}" destId="{09BDD6DC-A969-417C-8499-68CDEE83FBBF}" srcOrd="0" destOrd="0" parTransId="{AA80E1E2-A0E6-47E8-82F4-A7661831B762}" sibTransId="{C6B4491C-E714-4A8D-9565-FDE7A07A318C}"/>
    <dgm:cxn modelId="{FB4F14E3-9FDA-4E37-856A-B087EBC4E054}" type="presParOf" srcId="{DFDB5383-7122-4C24-958F-043207C4B520}" destId="{8C0AE28A-B81E-4B61-AF31-446A6FFC2DF0}" srcOrd="0" destOrd="0" presId="urn:microsoft.com/office/officeart/2005/8/layout/chevron2"/>
    <dgm:cxn modelId="{F5F9A84F-9CC0-4480-92E0-33C18FA2CCC1}" type="presParOf" srcId="{8C0AE28A-B81E-4B61-AF31-446A6FFC2DF0}" destId="{010630BC-026A-4FDB-B831-A624B123936E}" srcOrd="0" destOrd="0" presId="urn:microsoft.com/office/officeart/2005/8/layout/chevron2"/>
    <dgm:cxn modelId="{CF9A88A8-EE09-4591-B754-43877C9D52CA}" type="presParOf" srcId="{8C0AE28A-B81E-4B61-AF31-446A6FFC2DF0}" destId="{65BC8FAE-8BB1-437B-8DC9-463119ADCC1B}" srcOrd="1" destOrd="0" presId="urn:microsoft.com/office/officeart/2005/8/layout/chevron2"/>
    <dgm:cxn modelId="{069FE755-8795-4707-9D86-3367D25C7A62}" type="presParOf" srcId="{DFDB5383-7122-4C24-958F-043207C4B520}" destId="{1FB6E3C8-861E-438D-95A8-496304896956}" srcOrd="1" destOrd="0" presId="urn:microsoft.com/office/officeart/2005/8/layout/chevron2"/>
    <dgm:cxn modelId="{12A862E9-87CC-457D-9049-F6C66CB5AA73}" type="presParOf" srcId="{DFDB5383-7122-4C24-958F-043207C4B520}" destId="{A675B558-DEB9-4676-BD20-6B152DBD5A76}" srcOrd="2" destOrd="0" presId="urn:microsoft.com/office/officeart/2005/8/layout/chevron2"/>
    <dgm:cxn modelId="{9773419E-3A9D-46C9-848A-8FE8EF91DA3C}" type="presParOf" srcId="{A675B558-DEB9-4676-BD20-6B152DBD5A76}" destId="{101E58E8-4E8D-4A0D-A8FC-8D91A33A9B46}" srcOrd="0" destOrd="0" presId="urn:microsoft.com/office/officeart/2005/8/layout/chevron2"/>
    <dgm:cxn modelId="{DBE4BA3F-98B4-492D-B070-FFFBC13BB398}" type="presParOf" srcId="{A675B558-DEB9-4676-BD20-6B152DBD5A76}" destId="{34D5D70C-2BC2-46AB-BF48-535F8DC8179C}" srcOrd="1" destOrd="0" presId="urn:microsoft.com/office/officeart/2005/8/layout/chevron2"/>
    <dgm:cxn modelId="{2449B606-4CFC-48BF-AC58-D3054E5623B0}" type="presParOf" srcId="{DFDB5383-7122-4C24-958F-043207C4B520}" destId="{B05CB603-6038-4CFC-9334-D3BBEB1665FC}" srcOrd="3" destOrd="0" presId="urn:microsoft.com/office/officeart/2005/8/layout/chevron2"/>
    <dgm:cxn modelId="{6E5D8BA1-D728-40A6-AC35-55D33AC23DBC}" type="presParOf" srcId="{DFDB5383-7122-4C24-958F-043207C4B520}" destId="{C4208CD0-B5DC-4AB7-A2B3-F0157DA01E4B}" srcOrd="4" destOrd="0" presId="urn:microsoft.com/office/officeart/2005/8/layout/chevron2"/>
    <dgm:cxn modelId="{0901EE61-F6E3-420F-83E6-CF840D501CF2}" type="presParOf" srcId="{C4208CD0-B5DC-4AB7-A2B3-F0157DA01E4B}" destId="{192EC171-6E8F-418B-86CF-AB717B46C2C6}" srcOrd="0" destOrd="0" presId="urn:microsoft.com/office/officeart/2005/8/layout/chevron2"/>
    <dgm:cxn modelId="{A86B5CBC-5EAE-43CF-9554-5F3EAB914F9E}" type="presParOf" srcId="{C4208CD0-B5DC-4AB7-A2B3-F0157DA01E4B}" destId="{643A59BA-DDCD-45A1-B04F-94DE7B86FD33}" srcOrd="1" destOrd="0" presId="urn:microsoft.com/office/officeart/2005/8/layout/chevron2"/>
    <dgm:cxn modelId="{555473E0-BE35-40C1-B9D3-AB4265DC0372}" type="presParOf" srcId="{DFDB5383-7122-4C24-958F-043207C4B520}" destId="{83A1086A-4D1D-41B4-95BE-7DBACB7C7B04}" srcOrd="5" destOrd="0" presId="urn:microsoft.com/office/officeart/2005/8/layout/chevron2"/>
    <dgm:cxn modelId="{4A864101-C40F-4133-A642-632850F936E6}" type="presParOf" srcId="{DFDB5383-7122-4C24-958F-043207C4B520}" destId="{7A3AB558-CF55-498F-8B39-FEF7EE9A6C72}" srcOrd="6" destOrd="0" presId="urn:microsoft.com/office/officeart/2005/8/layout/chevron2"/>
    <dgm:cxn modelId="{97907DA1-005C-4A0C-999B-7553059C8D91}" type="presParOf" srcId="{7A3AB558-CF55-498F-8B39-FEF7EE9A6C72}" destId="{A9106411-8C01-48C2-A375-160504066496}" srcOrd="0" destOrd="0" presId="urn:microsoft.com/office/officeart/2005/8/layout/chevron2"/>
    <dgm:cxn modelId="{ED4033BE-BF77-4214-8D73-13246D1C82A7}" type="presParOf" srcId="{7A3AB558-CF55-498F-8B39-FEF7EE9A6C72}" destId="{02FA2D64-A93C-43B3-8B9E-8FCA2EB076AD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1E0353D-F639-4905-9E93-25082A251D74}" type="doc">
      <dgm:prSet loTypeId="urn:microsoft.com/office/officeart/2005/8/layout/vList2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F1A52482-AF36-4EF2-A827-4BA1224E25E2}">
      <dgm:prSet/>
      <dgm:spPr/>
      <dgm:t>
        <a:bodyPr/>
        <a:lstStyle/>
        <a:p>
          <a:r>
            <a:rPr lang="en-US" b="1" i="0" baseline="0" dirty="0"/>
            <a:t>Inputs (Business Perspective):</a:t>
          </a:r>
          <a:endParaRPr lang="en-US" dirty="0"/>
        </a:p>
      </dgm:t>
    </dgm:pt>
    <dgm:pt modelId="{CEC1C6AD-CF4D-42D7-953F-7B98641A4D0C}" type="parTrans" cxnId="{56A1DA64-B9BB-4B21-9C13-35249F4DE30D}">
      <dgm:prSet/>
      <dgm:spPr/>
      <dgm:t>
        <a:bodyPr/>
        <a:lstStyle/>
        <a:p>
          <a:endParaRPr lang="en-US"/>
        </a:p>
      </dgm:t>
    </dgm:pt>
    <dgm:pt modelId="{A68A22C6-E9BD-4CE5-A8B7-0FF6F4F21E1D}" type="sibTrans" cxnId="{56A1DA64-B9BB-4B21-9C13-35249F4DE30D}">
      <dgm:prSet/>
      <dgm:spPr/>
      <dgm:t>
        <a:bodyPr/>
        <a:lstStyle/>
        <a:p>
          <a:endParaRPr lang="en-US"/>
        </a:p>
      </dgm:t>
    </dgm:pt>
    <dgm:pt modelId="{A2D1BD8B-F8E8-4E2C-A4E6-50B1F5B10F2A}">
      <dgm:prSet/>
      <dgm:spPr/>
      <dgm:t>
        <a:bodyPr/>
        <a:lstStyle/>
        <a:p>
          <a:r>
            <a:rPr lang="en-US" b="0" i="0" baseline="0" dirty="0"/>
            <a:t>Customer identification details.</a:t>
          </a:r>
          <a:endParaRPr lang="en-US" dirty="0"/>
        </a:p>
      </dgm:t>
    </dgm:pt>
    <dgm:pt modelId="{52CCE068-E72F-404B-AFDC-E0AB81DCC70C}" type="parTrans" cxnId="{99477C98-7E5C-4056-874F-D59E97F70BD6}">
      <dgm:prSet/>
      <dgm:spPr/>
      <dgm:t>
        <a:bodyPr/>
        <a:lstStyle/>
        <a:p>
          <a:endParaRPr lang="en-US"/>
        </a:p>
      </dgm:t>
    </dgm:pt>
    <dgm:pt modelId="{8C362F16-92A8-4DE1-A555-D9A7C8360E5E}" type="sibTrans" cxnId="{99477C98-7E5C-4056-874F-D59E97F70BD6}">
      <dgm:prSet/>
      <dgm:spPr/>
      <dgm:t>
        <a:bodyPr/>
        <a:lstStyle/>
        <a:p>
          <a:endParaRPr lang="en-US"/>
        </a:p>
      </dgm:t>
    </dgm:pt>
    <dgm:pt modelId="{951DE114-55FA-4D73-96F8-07BD58C12726}">
      <dgm:prSet/>
      <dgm:spPr/>
      <dgm:t>
        <a:bodyPr/>
        <a:lstStyle/>
        <a:p>
          <a:r>
            <a:rPr lang="en-US" b="0" i="0" baseline="0" dirty="0"/>
            <a:t>Fund selection and subscription/redemption details.</a:t>
          </a:r>
          <a:endParaRPr lang="en-US" dirty="0"/>
        </a:p>
      </dgm:t>
    </dgm:pt>
    <dgm:pt modelId="{B8B9E8A3-199F-49AC-993B-47412B196969}" type="parTrans" cxnId="{B7E88C51-ADEC-491A-956B-62C96356DB67}">
      <dgm:prSet/>
      <dgm:spPr/>
      <dgm:t>
        <a:bodyPr/>
        <a:lstStyle/>
        <a:p>
          <a:endParaRPr lang="en-US"/>
        </a:p>
      </dgm:t>
    </dgm:pt>
    <dgm:pt modelId="{A9E47A29-6D79-431F-9527-4890634F9D6C}" type="sibTrans" cxnId="{B7E88C51-ADEC-491A-956B-62C96356DB67}">
      <dgm:prSet/>
      <dgm:spPr/>
      <dgm:t>
        <a:bodyPr/>
        <a:lstStyle/>
        <a:p>
          <a:endParaRPr lang="en-US"/>
        </a:p>
      </dgm:t>
    </dgm:pt>
    <dgm:pt modelId="{138B536E-406F-4098-9E34-A75F7EAF54A1}">
      <dgm:prSet/>
      <dgm:spPr/>
      <dgm:t>
        <a:bodyPr/>
        <a:lstStyle/>
        <a:p>
          <a:r>
            <a:rPr lang="en-US" b="0" i="0" baseline="0"/>
            <a:t>Payment/wallet information.</a:t>
          </a:r>
          <a:endParaRPr lang="en-US"/>
        </a:p>
      </dgm:t>
    </dgm:pt>
    <dgm:pt modelId="{09265EC4-6EE9-4502-9281-3D8E0460E4EC}" type="parTrans" cxnId="{98D571D0-1A51-4766-8442-8651450B882C}">
      <dgm:prSet/>
      <dgm:spPr/>
      <dgm:t>
        <a:bodyPr/>
        <a:lstStyle/>
        <a:p>
          <a:endParaRPr lang="en-US"/>
        </a:p>
      </dgm:t>
    </dgm:pt>
    <dgm:pt modelId="{2E019599-7257-4EC1-A747-06A819BBF016}" type="sibTrans" cxnId="{98D571D0-1A51-4766-8442-8651450B882C}">
      <dgm:prSet/>
      <dgm:spPr/>
      <dgm:t>
        <a:bodyPr/>
        <a:lstStyle/>
        <a:p>
          <a:endParaRPr lang="en-US"/>
        </a:p>
      </dgm:t>
    </dgm:pt>
    <dgm:pt modelId="{32AFCB56-E607-4223-8C31-B6055667326C}">
      <dgm:prSet/>
      <dgm:spPr/>
      <dgm:t>
        <a:bodyPr/>
        <a:lstStyle/>
        <a:p>
          <a:r>
            <a:rPr lang="en-US" b="0" i="0" baseline="0" dirty="0"/>
            <a:t>Risk assessment questionnaire responses.</a:t>
          </a:r>
          <a:endParaRPr lang="en-US" dirty="0"/>
        </a:p>
      </dgm:t>
    </dgm:pt>
    <dgm:pt modelId="{6CFCAB5C-E20E-4E48-B46C-8A549D1EEA77}" type="parTrans" cxnId="{10640281-67FC-4270-9CCE-C4DC889EEEA0}">
      <dgm:prSet/>
      <dgm:spPr/>
      <dgm:t>
        <a:bodyPr/>
        <a:lstStyle/>
        <a:p>
          <a:endParaRPr lang="en-US"/>
        </a:p>
      </dgm:t>
    </dgm:pt>
    <dgm:pt modelId="{56BA2F4D-07AC-429E-B8C8-BF69BC61D73F}" type="sibTrans" cxnId="{10640281-67FC-4270-9CCE-C4DC889EEEA0}">
      <dgm:prSet/>
      <dgm:spPr/>
      <dgm:t>
        <a:bodyPr/>
        <a:lstStyle/>
        <a:p>
          <a:endParaRPr lang="en-US"/>
        </a:p>
      </dgm:t>
    </dgm:pt>
    <dgm:pt modelId="{A68E36CA-DA3C-40A5-92AF-531B1641342D}">
      <dgm:prSet/>
      <dgm:spPr/>
      <dgm:t>
        <a:bodyPr/>
        <a:lstStyle/>
        <a:p>
          <a:r>
            <a:rPr lang="en-US" b="1" i="0" baseline="0"/>
            <a:t>Outputs (Business Perspective):</a:t>
          </a:r>
          <a:endParaRPr lang="en-US"/>
        </a:p>
      </dgm:t>
    </dgm:pt>
    <dgm:pt modelId="{0A300876-03A2-464F-8D4B-9D9A33A9E381}" type="parTrans" cxnId="{7909F2F5-7AA0-41CF-BBFB-7ECDDB95C402}">
      <dgm:prSet/>
      <dgm:spPr/>
      <dgm:t>
        <a:bodyPr/>
        <a:lstStyle/>
        <a:p>
          <a:endParaRPr lang="en-US"/>
        </a:p>
      </dgm:t>
    </dgm:pt>
    <dgm:pt modelId="{29176A5D-7655-4EBB-9E9F-CBF9E00591AE}" type="sibTrans" cxnId="{7909F2F5-7AA0-41CF-BBFB-7ECDDB95C402}">
      <dgm:prSet/>
      <dgm:spPr/>
      <dgm:t>
        <a:bodyPr/>
        <a:lstStyle/>
        <a:p>
          <a:endParaRPr lang="en-US"/>
        </a:p>
      </dgm:t>
    </dgm:pt>
    <dgm:pt modelId="{C63D94B5-9845-4E5C-9808-9DEEA6759DD1}">
      <dgm:prSet/>
      <dgm:spPr/>
      <dgm:t>
        <a:bodyPr/>
        <a:lstStyle/>
        <a:p>
          <a:r>
            <a:rPr lang="en-US" b="0" i="0" baseline="0" dirty="0"/>
            <a:t>Fund details and pricing data.</a:t>
          </a:r>
          <a:endParaRPr lang="en-US" dirty="0"/>
        </a:p>
      </dgm:t>
    </dgm:pt>
    <dgm:pt modelId="{0240CA52-A63F-4DC2-A0A7-3584928C0987}" type="parTrans" cxnId="{528B4B92-D26A-47FC-90C5-B7D5A7C04133}">
      <dgm:prSet/>
      <dgm:spPr/>
      <dgm:t>
        <a:bodyPr/>
        <a:lstStyle/>
        <a:p>
          <a:endParaRPr lang="en-US"/>
        </a:p>
      </dgm:t>
    </dgm:pt>
    <dgm:pt modelId="{1DE35577-4B8E-4B2C-8DE7-3B632B384FE9}" type="sibTrans" cxnId="{528B4B92-D26A-47FC-90C5-B7D5A7C04133}">
      <dgm:prSet/>
      <dgm:spPr/>
      <dgm:t>
        <a:bodyPr/>
        <a:lstStyle/>
        <a:p>
          <a:endParaRPr lang="en-US"/>
        </a:p>
      </dgm:t>
    </dgm:pt>
    <dgm:pt modelId="{B43F4EDB-461F-4FF0-9F4E-988E7168C737}">
      <dgm:prSet/>
      <dgm:spPr/>
      <dgm:t>
        <a:bodyPr/>
        <a:lstStyle/>
        <a:p>
          <a:r>
            <a:rPr lang="en-US" b="0" i="0" baseline="0" dirty="0"/>
            <a:t>Subscription/redemption confirmation and status.</a:t>
          </a:r>
          <a:endParaRPr lang="en-US" dirty="0"/>
        </a:p>
      </dgm:t>
    </dgm:pt>
    <dgm:pt modelId="{A2C21060-9854-4C5C-BE93-AB0E7AB4FC28}" type="parTrans" cxnId="{3916996F-ECC5-4620-BDAF-DB78D676A7AB}">
      <dgm:prSet/>
      <dgm:spPr/>
      <dgm:t>
        <a:bodyPr/>
        <a:lstStyle/>
        <a:p>
          <a:endParaRPr lang="en-US"/>
        </a:p>
      </dgm:t>
    </dgm:pt>
    <dgm:pt modelId="{8C1F753C-83F7-43F4-87BE-9C011773972A}" type="sibTrans" cxnId="{3916996F-ECC5-4620-BDAF-DB78D676A7AB}">
      <dgm:prSet/>
      <dgm:spPr/>
      <dgm:t>
        <a:bodyPr/>
        <a:lstStyle/>
        <a:p>
          <a:endParaRPr lang="en-US"/>
        </a:p>
      </dgm:t>
    </dgm:pt>
    <dgm:pt modelId="{ED4CB52A-C495-4F5E-9BC3-6897C3E39C4C}">
      <dgm:prSet/>
      <dgm:spPr/>
      <dgm:t>
        <a:bodyPr/>
        <a:lstStyle/>
        <a:p>
          <a:r>
            <a:rPr lang="en-US" b="0" i="0" baseline="0"/>
            <a:t>Portfolio summaries and performance reports.</a:t>
          </a:r>
          <a:endParaRPr lang="en-US"/>
        </a:p>
      </dgm:t>
    </dgm:pt>
    <dgm:pt modelId="{892B907E-0F67-4F30-B313-7564EEC3AC58}" type="parTrans" cxnId="{44FCB30A-196D-4684-8332-3C305B9CC14D}">
      <dgm:prSet/>
      <dgm:spPr/>
      <dgm:t>
        <a:bodyPr/>
        <a:lstStyle/>
        <a:p>
          <a:endParaRPr lang="en-US"/>
        </a:p>
      </dgm:t>
    </dgm:pt>
    <dgm:pt modelId="{5BF9726D-F6E8-482B-B3EC-5A38834B533F}" type="sibTrans" cxnId="{44FCB30A-196D-4684-8332-3C305B9CC14D}">
      <dgm:prSet/>
      <dgm:spPr/>
      <dgm:t>
        <a:bodyPr/>
        <a:lstStyle/>
        <a:p>
          <a:endParaRPr lang="en-US"/>
        </a:p>
      </dgm:t>
    </dgm:pt>
    <dgm:pt modelId="{2FAE14FB-454A-4DAF-A9E8-EA5F7C99E22C}">
      <dgm:prSet/>
      <dgm:spPr/>
      <dgm:t>
        <a:bodyPr/>
        <a:lstStyle/>
        <a:p>
          <a:r>
            <a:rPr lang="en-US" b="0" i="0" baseline="0" dirty="0"/>
            <a:t>Notifications on transactions and dividends.</a:t>
          </a:r>
          <a:endParaRPr lang="en-US" dirty="0"/>
        </a:p>
      </dgm:t>
    </dgm:pt>
    <dgm:pt modelId="{B87EC2D0-413E-4D45-9683-26591EA216AD}" type="parTrans" cxnId="{DE57E8D5-CAFC-434B-9214-68C61FA157F7}">
      <dgm:prSet/>
      <dgm:spPr/>
      <dgm:t>
        <a:bodyPr/>
        <a:lstStyle/>
        <a:p>
          <a:endParaRPr lang="en-US"/>
        </a:p>
      </dgm:t>
    </dgm:pt>
    <dgm:pt modelId="{5D43A02F-5431-4E31-B158-C5C2349EA850}" type="sibTrans" cxnId="{DE57E8D5-CAFC-434B-9214-68C61FA157F7}">
      <dgm:prSet/>
      <dgm:spPr/>
      <dgm:t>
        <a:bodyPr/>
        <a:lstStyle/>
        <a:p>
          <a:endParaRPr lang="en-US"/>
        </a:p>
      </dgm:t>
    </dgm:pt>
    <dgm:pt modelId="{B075A069-C35C-4B06-9CEB-0F600D414DA8}" type="pres">
      <dgm:prSet presAssocID="{91E0353D-F639-4905-9E93-25082A251D74}" presName="linear" presStyleCnt="0">
        <dgm:presLayoutVars>
          <dgm:animLvl val="lvl"/>
          <dgm:resizeHandles val="exact"/>
        </dgm:presLayoutVars>
      </dgm:prSet>
      <dgm:spPr/>
    </dgm:pt>
    <dgm:pt modelId="{5F796C3F-8DA3-42DA-8963-2A0787855FB1}" type="pres">
      <dgm:prSet presAssocID="{F1A52482-AF36-4EF2-A827-4BA1224E25E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FD027B9-190A-4CB7-B01E-BF8946FF17AC}" type="pres">
      <dgm:prSet presAssocID="{F1A52482-AF36-4EF2-A827-4BA1224E25E2}" presName="childText" presStyleLbl="revTx" presStyleIdx="0" presStyleCnt="2">
        <dgm:presLayoutVars>
          <dgm:bulletEnabled val="1"/>
        </dgm:presLayoutVars>
      </dgm:prSet>
      <dgm:spPr/>
    </dgm:pt>
    <dgm:pt modelId="{A1224FC5-9DEA-43C9-A9E3-E05B1A0A823A}" type="pres">
      <dgm:prSet presAssocID="{A68E36CA-DA3C-40A5-92AF-531B1641342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1AB1CD59-DEA6-4182-B4A9-6D6E37F0B56C}" type="pres">
      <dgm:prSet presAssocID="{A68E36CA-DA3C-40A5-92AF-531B1641342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4FCB30A-196D-4684-8332-3C305B9CC14D}" srcId="{A68E36CA-DA3C-40A5-92AF-531B1641342D}" destId="{ED4CB52A-C495-4F5E-9BC3-6897C3E39C4C}" srcOrd="2" destOrd="0" parTransId="{892B907E-0F67-4F30-B313-7564EEC3AC58}" sibTransId="{5BF9726D-F6E8-482B-B3EC-5A38834B533F}"/>
    <dgm:cxn modelId="{6AF4650D-6D9F-49AB-A5C4-92C5A66EA188}" type="presOf" srcId="{ED4CB52A-C495-4F5E-9BC3-6897C3E39C4C}" destId="{1AB1CD59-DEA6-4182-B4A9-6D6E37F0B56C}" srcOrd="0" destOrd="2" presId="urn:microsoft.com/office/officeart/2005/8/layout/vList2"/>
    <dgm:cxn modelId="{5D15F30E-2A7B-49A6-9E2F-A6E37D0BACC9}" type="presOf" srcId="{A2D1BD8B-F8E8-4E2C-A4E6-50B1F5B10F2A}" destId="{2FD027B9-190A-4CB7-B01E-BF8946FF17AC}" srcOrd="0" destOrd="0" presId="urn:microsoft.com/office/officeart/2005/8/layout/vList2"/>
    <dgm:cxn modelId="{56A1DA64-B9BB-4B21-9C13-35249F4DE30D}" srcId="{91E0353D-F639-4905-9E93-25082A251D74}" destId="{F1A52482-AF36-4EF2-A827-4BA1224E25E2}" srcOrd="0" destOrd="0" parTransId="{CEC1C6AD-CF4D-42D7-953F-7B98641A4D0C}" sibTransId="{A68A22C6-E9BD-4CE5-A8B7-0FF6F4F21E1D}"/>
    <dgm:cxn modelId="{06A7544C-67D2-4D8D-970C-ED90C472BFA5}" type="presOf" srcId="{A68E36CA-DA3C-40A5-92AF-531B1641342D}" destId="{A1224FC5-9DEA-43C9-A9E3-E05B1A0A823A}" srcOrd="0" destOrd="0" presId="urn:microsoft.com/office/officeart/2005/8/layout/vList2"/>
    <dgm:cxn modelId="{3916996F-ECC5-4620-BDAF-DB78D676A7AB}" srcId="{A68E36CA-DA3C-40A5-92AF-531B1641342D}" destId="{B43F4EDB-461F-4FF0-9F4E-988E7168C737}" srcOrd="1" destOrd="0" parTransId="{A2C21060-9854-4C5C-BE93-AB0E7AB4FC28}" sibTransId="{8C1F753C-83F7-43F4-87BE-9C011773972A}"/>
    <dgm:cxn modelId="{B7E88C51-ADEC-491A-956B-62C96356DB67}" srcId="{F1A52482-AF36-4EF2-A827-4BA1224E25E2}" destId="{951DE114-55FA-4D73-96F8-07BD58C12726}" srcOrd="1" destOrd="0" parTransId="{B8B9E8A3-199F-49AC-993B-47412B196969}" sibTransId="{A9E47A29-6D79-431F-9527-4890634F9D6C}"/>
    <dgm:cxn modelId="{10640281-67FC-4270-9CCE-C4DC889EEEA0}" srcId="{F1A52482-AF36-4EF2-A827-4BA1224E25E2}" destId="{32AFCB56-E607-4223-8C31-B6055667326C}" srcOrd="3" destOrd="0" parTransId="{6CFCAB5C-E20E-4E48-B46C-8A549D1EEA77}" sibTransId="{56BA2F4D-07AC-429E-B8C8-BF69BC61D73F}"/>
    <dgm:cxn modelId="{2CFD2985-EDE2-44B7-B931-CAB37B52D052}" type="presOf" srcId="{F1A52482-AF36-4EF2-A827-4BA1224E25E2}" destId="{5F796C3F-8DA3-42DA-8963-2A0787855FB1}" srcOrd="0" destOrd="0" presId="urn:microsoft.com/office/officeart/2005/8/layout/vList2"/>
    <dgm:cxn modelId="{528B4B92-D26A-47FC-90C5-B7D5A7C04133}" srcId="{A68E36CA-DA3C-40A5-92AF-531B1641342D}" destId="{C63D94B5-9845-4E5C-9808-9DEEA6759DD1}" srcOrd="0" destOrd="0" parTransId="{0240CA52-A63F-4DC2-A0A7-3584928C0987}" sibTransId="{1DE35577-4B8E-4B2C-8DE7-3B632B384FE9}"/>
    <dgm:cxn modelId="{99477C98-7E5C-4056-874F-D59E97F70BD6}" srcId="{F1A52482-AF36-4EF2-A827-4BA1224E25E2}" destId="{A2D1BD8B-F8E8-4E2C-A4E6-50B1F5B10F2A}" srcOrd="0" destOrd="0" parTransId="{52CCE068-E72F-404B-AFDC-E0AB81DCC70C}" sibTransId="{8C362F16-92A8-4DE1-A555-D9A7C8360E5E}"/>
    <dgm:cxn modelId="{603B27A2-1728-46A3-9261-CA78D0D5DC04}" type="presOf" srcId="{C63D94B5-9845-4E5C-9808-9DEEA6759DD1}" destId="{1AB1CD59-DEA6-4182-B4A9-6D6E37F0B56C}" srcOrd="0" destOrd="0" presId="urn:microsoft.com/office/officeart/2005/8/layout/vList2"/>
    <dgm:cxn modelId="{0BD4CBA5-56B6-4FD3-9311-0C3E6243001F}" type="presOf" srcId="{2FAE14FB-454A-4DAF-A9E8-EA5F7C99E22C}" destId="{1AB1CD59-DEA6-4182-B4A9-6D6E37F0B56C}" srcOrd="0" destOrd="3" presId="urn:microsoft.com/office/officeart/2005/8/layout/vList2"/>
    <dgm:cxn modelId="{E07107A9-97FA-46B5-8AFE-6BA653439062}" type="presOf" srcId="{91E0353D-F639-4905-9E93-25082A251D74}" destId="{B075A069-C35C-4B06-9CEB-0F600D414DA8}" srcOrd="0" destOrd="0" presId="urn:microsoft.com/office/officeart/2005/8/layout/vList2"/>
    <dgm:cxn modelId="{30292BB7-1485-4AE8-A715-800F7C9BED47}" type="presOf" srcId="{32AFCB56-E607-4223-8C31-B6055667326C}" destId="{2FD027B9-190A-4CB7-B01E-BF8946FF17AC}" srcOrd="0" destOrd="3" presId="urn:microsoft.com/office/officeart/2005/8/layout/vList2"/>
    <dgm:cxn modelId="{8EA20BBB-D7BE-47AB-8634-202CDD0A4CC5}" type="presOf" srcId="{951DE114-55FA-4D73-96F8-07BD58C12726}" destId="{2FD027B9-190A-4CB7-B01E-BF8946FF17AC}" srcOrd="0" destOrd="1" presId="urn:microsoft.com/office/officeart/2005/8/layout/vList2"/>
    <dgm:cxn modelId="{98D571D0-1A51-4766-8442-8651450B882C}" srcId="{F1A52482-AF36-4EF2-A827-4BA1224E25E2}" destId="{138B536E-406F-4098-9E34-A75F7EAF54A1}" srcOrd="2" destOrd="0" parTransId="{09265EC4-6EE9-4502-9281-3D8E0460E4EC}" sibTransId="{2E019599-7257-4EC1-A747-06A819BBF016}"/>
    <dgm:cxn modelId="{AEBB63D1-3924-470C-8832-9B5168C98650}" type="presOf" srcId="{B43F4EDB-461F-4FF0-9F4E-988E7168C737}" destId="{1AB1CD59-DEA6-4182-B4A9-6D6E37F0B56C}" srcOrd="0" destOrd="1" presId="urn:microsoft.com/office/officeart/2005/8/layout/vList2"/>
    <dgm:cxn modelId="{DE57E8D5-CAFC-434B-9214-68C61FA157F7}" srcId="{A68E36CA-DA3C-40A5-92AF-531B1641342D}" destId="{2FAE14FB-454A-4DAF-A9E8-EA5F7C99E22C}" srcOrd="3" destOrd="0" parTransId="{B87EC2D0-413E-4D45-9683-26591EA216AD}" sibTransId="{5D43A02F-5431-4E31-B158-C5C2349EA850}"/>
    <dgm:cxn modelId="{CB9928EE-F568-4FBF-97D4-85066765CBF9}" type="presOf" srcId="{138B536E-406F-4098-9E34-A75F7EAF54A1}" destId="{2FD027B9-190A-4CB7-B01E-BF8946FF17AC}" srcOrd="0" destOrd="2" presId="urn:microsoft.com/office/officeart/2005/8/layout/vList2"/>
    <dgm:cxn modelId="{7909F2F5-7AA0-41CF-BBFB-7ECDDB95C402}" srcId="{91E0353D-F639-4905-9E93-25082A251D74}" destId="{A68E36CA-DA3C-40A5-92AF-531B1641342D}" srcOrd="1" destOrd="0" parTransId="{0A300876-03A2-464F-8D4B-9D9A33A9E381}" sibTransId="{29176A5D-7655-4EBB-9E9F-CBF9E00591AE}"/>
    <dgm:cxn modelId="{09F9F6D9-54A8-41A0-A4B8-4DE079A5CEEE}" type="presParOf" srcId="{B075A069-C35C-4B06-9CEB-0F600D414DA8}" destId="{5F796C3F-8DA3-42DA-8963-2A0787855FB1}" srcOrd="0" destOrd="0" presId="urn:microsoft.com/office/officeart/2005/8/layout/vList2"/>
    <dgm:cxn modelId="{855FAB56-08DA-4A89-9F6B-2A37825254C0}" type="presParOf" srcId="{B075A069-C35C-4B06-9CEB-0F600D414DA8}" destId="{2FD027B9-190A-4CB7-B01E-BF8946FF17AC}" srcOrd="1" destOrd="0" presId="urn:microsoft.com/office/officeart/2005/8/layout/vList2"/>
    <dgm:cxn modelId="{DBC8E499-5622-4BB7-9ABA-869DA389E624}" type="presParOf" srcId="{B075A069-C35C-4B06-9CEB-0F600D414DA8}" destId="{A1224FC5-9DEA-43C9-A9E3-E05B1A0A823A}" srcOrd="2" destOrd="0" presId="urn:microsoft.com/office/officeart/2005/8/layout/vList2"/>
    <dgm:cxn modelId="{C80FBDE1-5333-4E16-AB72-70D1CBC3A929}" type="presParOf" srcId="{B075A069-C35C-4B06-9CEB-0F600D414DA8}" destId="{1AB1CD59-DEA6-4182-B4A9-6D6E37F0B56C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C9FCF8-515D-47F4-A9AC-A3DD269D069B}">
      <dsp:nvSpPr>
        <dsp:cNvPr id="0" name=""/>
        <dsp:cNvSpPr/>
      </dsp:nvSpPr>
      <dsp:spPr>
        <a:xfrm>
          <a:off x="0" y="283810"/>
          <a:ext cx="11734799" cy="503685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/>
            <a:t>What is the API Marketplace?</a:t>
          </a:r>
          <a:endParaRPr lang="en-US" sz="2100" kern="1200" dirty="0"/>
        </a:p>
      </dsp:txBody>
      <dsp:txXfrm>
        <a:off x="24588" y="308398"/>
        <a:ext cx="11685623" cy="454509"/>
      </dsp:txXfrm>
    </dsp:sp>
    <dsp:sp modelId="{904ACE86-75F0-4828-87A3-B42017A7985C}">
      <dsp:nvSpPr>
        <dsp:cNvPr id="0" name=""/>
        <dsp:cNvSpPr/>
      </dsp:nvSpPr>
      <dsp:spPr>
        <a:xfrm>
          <a:off x="0" y="787495"/>
          <a:ext cx="11734799" cy="554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258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baseline="0" dirty="0"/>
            <a:t>A Centralized platform to expose APIs for mutual fund investments.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baseline="0" dirty="0"/>
            <a:t>Enables ARB subsidiaries to offer mutual fund services through their digital channels.</a:t>
          </a:r>
          <a:endParaRPr lang="en-US" sz="1600" kern="1200" dirty="0"/>
        </a:p>
      </dsp:txBody>
      <dsp:txXfrm>
        <a:off x="0" y="787495"/>
        <a:ext cx="11734799" cy="554242"/>
      </dsp:txXfrm>
    </dsp:sp>
    <dsp:sp modelId="{29B858FB-1B59-4A78-9166-EC0C5037E70B}">
      <dsp:nvSpPr>
        <dsp:cNvPr id="0" name=""/>
        <dsp:cNvSpPr/>
      </dsp:nvSpPr>
      <dsp:spPr>
        <a:xfrm>
          <a:off x="0" y="1341738"/>
          <a:ext cx="11734799" cy="503685"/>
        </a:xfrm>
        <a:prstGeom prst="roundRect">
          <a:avLst/>
        </a:prstGeom>
        <a:solidFill>
          <a:schemeClr val="accent1">
            <a:shade val="80000"/>
            <a:hueOff val="76561"/>
            <a:satOff val="-1098"/>
            <a:lumOff val="640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What is a Mutual Fund?</a:t>
          </a:r>
          <a:endParaRPr lang="en-US" sz="2100" kern="1200"/>
        </a:p>
      </dsp:txBody>
      <dsp:txXfrm>
        <a:off x="24588" y="1366326"/>
        <a:ext cx="11685623" cy="454509"/>
      </dsp:txXfrm>
    </dsp:sp>
    <dsp:sp modelId="{FFA72FD6-5DCA-4772-8C44-515236242EEA}">
      <dsp:nvSpPr>
        <dsp:cNvPr id="0" name=""/>
        <dsp:cNvSpPr/>
      </dsp:nvSpPr>
      <dsp:spPr>
        <a:xfrm>
          <a:off x="0" y="1845423"/>
          <a:ext cx="11734799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258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1" i="0" kern="1200" baseline="0" dirty="0"/>
            <a:t>Mutual Fund:</a:t>
          </a:r>
          <a:r>
            <a:rPr lang="en-US" sz="1600" b="0" i="0" kern="1200" baseline="0" dirty="0"/>
            <a:t> A pooled investment managed by professionals, offering investors proportional ownership of a diversified portfolio.</a:t>
          </a:r>
          <a:endParaRPr lang="en-US" sz="1600" kern="1200" dirty="0"/>
        </a:p>
      </dsp:txBody>
      <dsp:txXfrm>
        <a:off x="0" y="1845423"/>
        <a:ext cx="11734799" cy="347760"/>
      </dsp:txXfrm>
    </dsp:sp>
    <dsp:sp modelId="{013AEE08-2433-4D11-93FC-2045E3F4864E}">
      <dsp:nvSpPr>
        <dsp:cNvPr id="0" name=""/>
        <dsp:cNvSpPr/>
      </dsp:nvSpPr>
      <dsp:spPr>
        <a:xfrm>
          <a:off x="0" y="2193183"/>
          <a:ext cx="11734799" cy="503685"/>
        </a:xfrm>
        <a:prstGeom prst="roundRect">
          <a:avLst/>
        </a:prstGeom>
        <a:solidFill>
          <a:schemeClr val="accent1">
            <a:shade val="80000"/>
            <a:hueOff val="153123"/>
            <a:satOff val="-2196"/>
            <a:lumOff val="1280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/>
            <a:t>What Mutual Funds Do:</a:t>
          </a:r>
          <a:endParaRPr lang="en-US" sz="2100" kern="1200" dirty="0"/>
        </a:p>
      </dsp:txBody>
      <dsp:txXfrm>
        <a:off x="24588" y="2217771"/>
        <a:ext cx="11685623" cy="454509"/>
      </dsp:txXfrm>
    </dsp:sp>
    <dsp:sp modelId="{997DC510-E36E-4C37-9F8E-165ECA908B77}">
      <dsp:nvSpPr>
        <dsp:cNvPr id="0" name=""/>
        <dsp:cNvSpPr/>
      </dsp:nvSpPr>
      <dsp:spPr>
        <a:xfrm>
          <a:off x="0" y="2696868"/>
          <a:ext cx="11734799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258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baseline="0" dirty="0"/>
            <a:t>Allow investors to subscribe (buy) units and redeem (Sell) units 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1" i="0" kern="1200" baseline="0"/>
            <a:t>How It Will Be Used (B2B):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baseline="0"/>
            <a:t>Your business (Consumer) integrates with API Marketplace to offer these services to your customers.</a:t>
          </a:r>
          <a:endParaRPr lang="en-US" sz="1600" kern="1200"/>
        </a:p>
      </dsp:txBody>
      <dsp:txXfrm>
        <a:off x="0" y="2696868"/>
        <a:ext cx="11734799" cy="825930"/>
      </dsp:txXfrm>
    </dsp:sp>
    <dsp:sp modelId="{F82F0614-3EAD-4260-A165-F43D1FF85518}">
      <dsp:nvSpPr>
        <dsp:cNvPr id="0" name=""/>
        <dsp:cNvSpPr/>
      </dsp:nvSpPr>
      <dsp:spPr>
        <a:xfrm>
          <a:off x="0" y="3522798"/>
          <a:ext cx="11734799" cy="503685"/>
        </a:xfrm>
        <a:prstGeom prst="roundRect">
          <a:avLst/>
        </a:prstGeom>
        <a:solidFill>
          <a:schemeClr val="accent1">
            <a:shade val="80000"/>
            <a:hueOff val="229684"/>
            <a:satOff val="-3294"/>
            <a:lumOff val="1921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/>
            <a:t>Advantages of Mutual Funds (Business View):</a:t>
          </a:r>
          <a:endParaRPr lang="en-US" sz="2100" kern="1200" dirty="0"/>
        </a:p>
      </dsp:txBody>
      <dsp:txXfrm>
        <a:off x="24588" y="3547386"/>
        <a:ext cx="11685623" cy="454509"/>
      </dsp:txXfrm>
    </dsp:sp>
    <dsp:sp modelId="{03F72BF4-109B-4EA8-A0BA-C62D8A7569A2}">
      <dsp:nvSpPr>
        <dsp:cNvPr id="0" name=""/>
        <dsp:cNvSpPr/>
      </dsp:nvSpPr>
      <dsp:spPr>
        <a:xfrm>
          <a:off x="0" y="4026483"/>
          <a:ext cx="11734799" cy="825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258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baseline="0"/>
            <a:t>Expand product offerings without building your own investment platform.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baseline="0"/>
            <a:t>Quick time</a:t>
          </a:r>
          <a:r>
            <a:rPr lang="ar-EG" sz="1600" b="0" i="0" kern="1200" baseline="0"/>
            <a:t> </a:t>
          </a:r>
          <a:r>
            <a:rPr lang="en-US" sz="1600" b="0" i="0" kern="1200" baseline="0"/>
            <a:t>to</a:t>
          </a:r>
          <a:r>
            <a:rPr lang="ar-EG" sz="1600" b="0" i="0" kern="1200" baseline="0"/>
            <a:t> </a:t>
          </a:r>
          <a:r>
            <a:rPr lang="en-US" sz="1600" b="0" i="0" kern="1200" baseline="0"/>
            <a:t>market through standardized APIs.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baseline="0"/>
            <a:t>Multiple risk</a:t>
          </a:r>
          <a:r>
            <a:rPr lang="ar-EG" sz="1600" b="0" i="0" kern="1200" baseline="0"/>
            <a:t> </a:t>
          </a:r>
          <a:r>
            <a:rPr lang="en-US" sz="1600" b="0" i="0" kern="1200" baseline="0"/>
            <a:t>level options for customer choice.</a:t>
          </a:r>
          <a:endParaRPr lang="en-US" sz="1600" kern="1200"/>
        </a:p>
      </dsp:txBody>
      <dsp:txXfrm>
        <a:off x="0" y="4026483"/>
        <a:ext cx="11734799" cy="825930"/>
      </dsp:txXfrm>
    </dsp:sp>
    <dsp:sp modelId="{79A21FE4-6A31-41C5-B970-DF4AD0C5CFEB}">
      <dsp:nvSpPr>
        <dsp:cNvPr id="0" name=""/>
        <dsp:cNvSpPr/>
      </dsp:nvSpPr>
      <dsp:spPr>
        <a:xfrm>
          <a:off x="0" y="4852413"/>
          <a:ext cx="11734799" cy="503685"/>
        </a:xfrm>
        <a:prstGeom prst="roundRect">
          <a:avLst/>
        </a:prstGeom>
        <a:solidFill>
          <a:schemeClr val="accent1">
            <a:shade val="80000"/>
            <a:hueOff val="306246"/>
            <a:satOff val="-4392"/>
            <a:lumOff val="256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 dirty="0"/>
            <a:t>How It Works (Business Flow):</a:t>
          </a:r>
          <a:endParaRPr lang="en-US" sz="2100" kern="1200" dirty="0"/>
        </a:p>
      </dsp:txBody>
      <dsp:txXfrm>
        <a:off x="24588" y="4877001"/>
        <a:ext cx="11685623" cy="454509"/>
      </dsp:txXfrm>
    </dsp:sp>
    <dsp:sp modelId="{51556A9C-C55D-4070-9686-50393F3E44C3}">
      <dsp:nvSpPr>
        <dsp:cNvPr id="0" name=""/>
        <dsp:cNvSpPr/>
      </dsp:nvSpPr>
      <dsp:spPr>
        <a:xfrm>
          <a:off x="0" y="5356098"/>
          <a:ext cx="11734799" cy="347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7258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baseline="0" dirty="0"/>
            <a:t>Your platform presents fund products, manages subscriptions/redemptions, and provides performance tracking to end customers.</a:t>
          </a:r>
          <a:endParaRPr lang="en-US" sz="1600" kern="1200" dirty="0"/>
        </a:p>
      </dsp:txBody>
      <dsp:txXfrm>
        <a:off x="0" y="5356098"/>
        <a:ext cx="11734799" cy="3477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0F951D-A69B-4E07-B304-7153880ADBD3}">
      <dsp:nvSpPr>
        <dsp:cNvPr id="0" name=""/>
        <dsp:cNvSpPr/>
      </dsp:nvSpPr>
      <dsp:spPr>
        <a:xfrm>
          <a:off x="0" y="55294"/>
          <a:ext cx="11183468" cy="43173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dirty="0"/>
            <a:t>1. Subscription Capabilities</a:t>
          </a:r>
          <a:endParaRPr lang="en-US" sz="1800" kern="1200" dirty="0"/>
        </a:p>
      </dsp:txBody>
      <dsp:txXfrm>
        <a:off x="21075" y="76369"/>
        <a:ext cx="11141318" cy="389580"/>
      </dsp:txXfrm>
    </dsp:sp>
    <dsp:sp modelId="{99789861-3C1D-4E4C-A776-3B9CEDBBBCA1}">
      <dsp:nvSpPr>
        <dsp:cNvPr id="0" name=""/>
        <dsp:cNvSpPr/>
      </dsp:nvSpPr>
      <dsp:spPr>
        <a:xfrm>
          <a:off x="0" y="487024"/>
          <a:ext cx="11183468" cy="9687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07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 dirty="0"/>
            <a:t>Access to a complete and up-to-date catalogue of available funds with relevant attributes 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Automated eligibility and suitability checks before allowing an investment.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Flexible investment amounts based on the fund’s minimum and maximum thresholds.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Immediate confirmation of successful subscriptions with unique transaction IDs.</a:t>
          </a:r>
          <a:endParaRPr lang="en-US" sz="1400" kern="1200"/>
        </a:p>
      </dsp:txBody>
      <dsp:txXfrm>
        <a:off x="0" y="487024"/>
        <a:ext cx="11183468" cy="968760"/>
      </dsp:txXfrm>
    </dsp:sp>
    <dsp:sp modelId="{25ABC199-C57F-4EB0-8D40-C03836102AD6}">
      <dsp:nvSpPr>
        <dsp:cNvPr id="0" name=""/>
        <dsp:cNvSpPr/>
      </dsp:nvSpPr>
      <dsp:spPr>
        <a:xfrm>
          <a:off x="0" y="1455784"/>
          <a:ext cx="11183468" cy="431730"/>
        </a:xfrm>
        <a:prstGeom prst="roundRect">
          <a:avLst/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/>
            <a:t>2. Redemption Capabilities</a:t>
          </a:r>
          <a:endParaRPr lang="en-US" sz="1800" kern="1200"/>
        </a:p>
      </dsp:txBody>
      <dsp:txXfrm>
        <a:off x="21075" y="1476859"/>
        <a:ext cx="11141318" cy="389580"/>
      </dsp:txXfrm>
    </dsp:sp>
    <dsp:sp modelId="{A1914913-6A42-47AB-A4C3-BA8B721F44F7}">
      <dsp:nvSpPr>
        <dsp:cNvPr id="0" name=""/>
        <dsp:cNvSpPr/>
      </dsp:nvSpPr>
      <dsp:spPr>
        <a:xfrm>
          <a:off x="0" y="1887514"/>
          <a:ext cx="11183468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07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Ability to request partial or full withdrawal from owned funds.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Handling of settlement timelines according to the fund’s operational rules.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Status tracking from request initiation to completion.</a:t>
          </a:r>
          <a:endParaRPr lang="en-US" sz="1400" kern="1200"/>
        </a:p>
      </dsp:txBody>
      <dsp:txXfrm>
        <a:off x="0" y="1887514"/>
        <a:ext cx="11183468" cy="726570"/>
      </dsp:txXfrm>
    </dsp:sp>
    <dsp:sp modelId="{3581969F-BD73-46D9-A54D-E4CB63ADFE00}">
      <dsp:nvSpPr>
        <dsp:cNvPr id="0" name=""/>
        <dsp:cNvSpPr/>
      </dsp:nvSpPr>
      <dsp:spPr>
        <a:xfrm>
          <a:off x="0" y="2614084"/>
          <a:ext cx="11183468" cy="431730"/>
        </a:xfrm>
        <a:prstGeom prst="roundRect">
          <a:avLst/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/>
            <a:t>3. Portfolio Management</a:t>
          </a:r>
          <a:endParaRPr lang="en-US" sz="1800" kern="1200"/>
        </a:p>
      </dsp:txBody>
      <dsp:txXfrm>
        <a:off x="21075" y="2635159"/>
        <a:ext cx="11141318" cy="389580"/>
      </dsp:txXfrm>
    </dsp:sp>
    <dsp:sp modelId="{E42A1BE9-396F-45FD-8BCA-B931E086DE36}">
      <dsp:nvSpPr>
        <dsp:cNvPr id="0" name=""/>
        <dsp:cNvSpPr/>
      </dsp:nvSpPr>
      <dsp:spPr>
        <a:xfrm>
          <a:off x="0" y="3045815"/>
          <a:ext cx="11183468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07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Consolidated view of all customer holdings across multiple funds.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Real-time updates of fund quantities, valuations, and asset composition.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Exportable reports for compliance and record-keeping.</a:t>
          </a:r>
          <a:endParaRPr lang="en-US" sz="1400" kern="1200"/>
        </a:p>
      </dsp:txBody>
      <dsp:txXfrm>
        <a:off x="0" y="3045815"/>
        <a:ext cx="11183468" cy="726570"/>
      </dsp:txXfrm>
    </dsp:sp>
    <dsp:sp modelId="{B38A1B79-400A-4E7E-B4C2-8FB544788934}">
      <dsp:nvSpPr>
        <dsp:cNvPr id="0" name=""/>
        <dsp:cNvSpPr/>
      </dsp:nvSpPr>
      <dsp:spPr>
        <a:xfrm>
          <a:off x="0" y="3772385"/>
          <a:ext cx="11183468" cy="431730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/>
            <a:t>4. Reporting &amp; Notifications</a:t>
          </a:r>
          <a:endParaRPr lang="en-US" sz="1800" kern="1200"/>
        </a:p>
      </dsp:txBody>
      <dsp:txXfrm>
        <a:off x="21075" y="3793460"/>
        <a:ext cx="11141318" cy="389580"/>
      </dsp:txXfrm>
    </dsp:sp>
    <dsp:sp modelId="{1F96B9BF-3EEB-40C4-9776-7F94EEB0EDA9}">
      <dsp:nvSpPr>
        <dsp:cNvPr id="0" name=""/>
        <dsp:cNvSpPr/>
      </dsp:nvSpPr>
      <dsp:spPr>
        <a:xfrm>
          <a:off x="0" y="4204115"/>
          <a:ext cx="11183468" cy="726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07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Transaction summaries for subscriptions and redemptions.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/>
            <a:t>Periodic performance statements for each customer portfolio.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b="0" i="0" kern="1200" dirty="0"/>
            <a:t>Alerts for key events such as NAV changes, dividend distributions, or fund suspensions.</a:t>
          </a:r>
          <a:endParaRPr lang="en-US" sz="1400" kern="1200" dirty="0"/>
        </a:p>
      </dsp:txBody>
      <dsp:txXfrm>
        <a:off x="0" y="4204115"/>
        <a:ext cx="11183468" cy="7265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0630BC-026A-4FDB-B831-A624B123936E}">
      <dsp:nvSpPr>
        <dsp:cNvPr id="0" name=""/>
        <dsp:cNvSpPr/>
      </dsp:nvSpPr>
      <dsp:spPr>
        <a:xfrm rot="5400000">
          <a:off x="-176584" y="177397"/>
          <a:ext cx="1177230" cy="824061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Customer</a:t>
          </a:r>
          <a:endParaRPr lang="en-US" sz="1200" kern="1200" dirty="0"/>
        </a:p>
      </dsp:txBody>
      <dsp:txXfrm rot="-5400000">
        <a:off x="1" y="412844"/>
        <a:ext cx="824061" cy="353169"/>
      </dsp:txXfrm>
    </dsp:sp>
    <dsp:sp modelId="{65BC8FAE-8BB1-437B-8DC9-463119ADCC1B}">
      <dsp:nvSpPr>
        <dsp:cNvPr id="0" name=""/>
        <dsp:cNvSpPr/>
      </dsp:nvSpPr>
      <dsp:spPr>
        <a:xfrm rot="5400000">
          <a:off x="5344380" y="-4519506"/>
          <a:ext cx="765199" cy="9805838"/>
        </a:xfrm>
        <a:prstGeom prst="round2Same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extrusionH="12700"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Request subscription/redemption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Receive confirmation</a:t>
          </a:r>
          <a:endParaRPr lang="en-US" sz="2100" kern="1200" dirty="0"/>
        </a:p>
      </dsp:txBody>
      <dsp:txXfrm rot="-5400000">
        <a:off x="824061" y="38167"/>
        <a:ext cx="9768484" cy="690491"/>
      </dsp:txXfrm>
    </dsp:sp>
    <dsp:sp modelId="{101E58E8-4E8D-4A0D-A8FC-8D91A33A9B46}">
      <dsp:nvSpPr>
        <dsp:cNvPr id="0" name=""/>
        <dsp:cNvSpPr/>
      </dsp:nvSpPr>
      <dsp:spPr>
        <a:xfrm rot="5400000">
          <a:off x="-176584" y="1206845"/>
          <a:ext cx="1177230" cy="824061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Consumer</a:t>
          </a:r>
        </a:p>
      </dsp:txBody>
      <dsp:txXfrm rot="-5400000">
        <a:off x="1" y="1442292"/>
        <a:ext cx="824061" cy="353169"/>
      </dsp:txXfrm>
    </dsp:sp>
    <dsp:sp modelId="{34D5D70C-2BC2-46AB-BF48-535F8DC8179C}">
      <dsp:nvSpPr>
        <dsp:cNvPr id="0" name=""/>
        <dsp:cNvSpPr/>
      </dsp:nvSpPr>
      <dsp:spPr>
        <a:xfrm rot="5400000">
          <a:off x="5344380" y="-3490058"/>
          <a:ext cx="765199" cy="9805838"/>
        </a:xfrm>
        <a:prstGeom prst="round2Same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extrusionH="12700"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100" kern="1200" dirty="0"/>
            <a:t>Forward request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100" kern="1200"/>
            <a:t>Display updates</a:t>
          </a:r>
          <a:endParaRPr lang="en-US" sz="2100" kern="1200" dirty="0"/>
        </a:p>
      </dsp:txBody>
      <dsp:txXfrm rot="-5400000">
        <a:off x="824061" y="1067615"/>
        <a:ext cx="9768484" cy="690491"/>
      </dsp:txXfrm>
    </dsp:sp>
    <dsp:sp modelId="{192EC171-6E8F-418B-86CF-AB717B46C2C6}">
      <dsp:nvSpPr>
        <dsp:cNvPr id="0" name=""/>
        <dsp:cNvSpPr/>
      </dsp:nvSpPr>
      <dsp:spPr>
        <a:xfrm rot="5400000">
          <a:off x="-176584" y="2236293"/>
          <a:ext cx="1177230" cy="824061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API Marketplace </a:t>
          </a:r>
        </a:p>
      </dsp:txBody>
      <dsp:txXfrm rot="-5400000">
        <a:off x="1" y="2471740"/>
        <a:ext cx="824061" cy="353169"/>
      </dsp:txXfrm>
    </dsp:sp>
    <dsp:sp modelId="{643A59BA-DDCD-45A1-B04F-94DE7B86FD33}">
      <dsp:nvSpPr>
        <dsp:cNvPr id="0" name=""/>
        <dsp:cNvSpPr/>
      </dsp:nvSpPr>
      <dsp:spPr>
        <a:xfrm rot="5400000">
          <a:off x="5344380" y="-2460610"/>
          <a:ext cx="765199" cy="9805838"/>
        </a:xfrm>
        <a:prstGeom prst="round2Same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extrusionH="12700"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Char char="•"/>
          </a:pPr>
          <a:r>
            <a:rPr lang="en-US" sz="2100" kern="1200" dirty="0"/>
            <a:t>Validate &amp; secure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lrTx/>
            <a:buSzTx/>
            <a:buFontTx/>
            <a:buChar char="•"/>
          </a:pPr>
          <a:r>
            <a:rPr lang="en-US" sz="2100" kern="1200"/>
            <a:t>Route to Provider</a:t>
          </a:r>
          <a:endParaRPr lang="en-US" sz="2100" kern="1200" dirty="0"/>
        </a:p>
      </dsp:txBody>
      <dsp:txXfrm rot="-5400000">
        <a:off x="824061" y="2097063"/>
        <a:ext cx="9768484" cy="690491"/>
      </dsp:txXfrm>
    </dsp:sp>
    <dsp:sp modelId="{A9106411-8C01-48C2-A375-160504066496}">
      <dsp:nvSpPr>
        <dsp:cNvPr id="0" name=""/>
        <dsp:cNvSpPr/>
      </dsp:nvSpPr>
      <dsp:spPr>
        <a:xfrm rot="5400000">
          <a:off x="-176584" y="3265741"/>
          <a:ext cx="1177230" cy="824061"/>
        </a:xfrm>
        <a:prstGeom prst="chevr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Provider </a:t>
          </a:r>
        </a:p>
      </dsp:txBody>
      <dsp:txXfrm rot="-5400000">
        <a:off x="1" y="3501188"/>
        <a:ext cx="824061" cy="353169"/>
      </dsp:txXfrm>
    </dsp:sp>
    <dsp:sp modelId="{02FA2D64-A93C-43B3-8B9E-8FCA2EB076AD}">
      <dsp:nvSpPr>
        <dsp:cNvPr id="0" name=""/>
        <dsp:cNvSpPr/>
      </dsp:nvSpPr>
      <dsp:spPr>
        <a:xfrm rot="5400000">
          <a:off x="5344380" y="-1431162"/>
          <a:ext cx="765199" cy="9805838"/>
        </a:xfrm>
        <a:prstGeom prst="round2SameRect">
          <a:avLst/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extrusionH="12700"/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49352" tIns="13335" rIns="13335" bIns="1333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100" kern="1200" dirty="0"/>
            <a:t>Execute transaction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100" kern="1200"/>
            <a:t>Send results</a:t>
          </a:r>
          <a:endParaRPr lang="en-US" sz="2100" kern="1200" dirty="0"/>
        </a:p>
      </dsp:txBody>
      <dsp:txXfrm rot="-5400000">
        <a:off x="824061" y="3126511"/>
        <a:ext cx="9768484" cy="6904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796C3F-8DA3-42DA-8963-2A0787855FB1}">
      <dsp:nvSpPr>
        <dsp:cNvPr id="0" name=""/>
        <dsp:cNvSpPr/>
      </dsp:nvSpPr>
      <dsp:spPr>
        <a:xfrm>
          <a:off x="0" y="72819"/>
          <a:ext cx="11113769" cy="7675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baseline="0" dirty="0"/>
            <a:t>Inputs (Business Perspective):</a:t>
          </a:r>
          <a:endParaRPr lang="en-US" sz="3200" kern="1200" dirty="0"/>
        </a:p>
      </dsp:txBody>
      <dsp:txXfrm>
        <a:off x="37467" y="110286"/>
        <a:ext cx="11038835" cy="692586"/>
      </dsp:txXfrm>
    </dsp:sp>
    <dsp:sp modelId="{2FD027B9-190A-4CB7-B01E-BF8946FF17AC}">
      <dsp:nvSpPr>
        <dsp:cNvPr id="0" name=""/>
        <dsp:cNvSpPr/>
      </dsp:nvSpPr>
      <dsp:spPr>
        <a:xfrm>
          <a:off x="0" y="840339"/>
          <a:ext cx="11113769" cy="1722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862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0" i="0" kern="1200" baseline="0" dirty="0"/>
            <a:t>Customer identification details.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0" i="0" kern="1200" baseline="0" dirty="0"/>
            <a:t>Fund selection and subscription/redemption details.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0" i="0" kern="1200" baseline="0"/>
            <a:t>Payment/wallet information.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0" i="0" kern="1200" baseline="0" dirty="0"/>
            <a:t>Risk assessment questionnaire responses.</a:t>
          </a:r>
          <a:endParaRPr lang="en-US" sz="2500" kern="1200" dirty="0"/>
        </a:p>
      </dsp:txBody>
      <dsp:txXfrm>
        <a:off x="0" y="840339"/>
        <a:ext cx="11113769" cy="1722240"/>
      </dsp:txXfrm>
    </dsp:sp>
    <dsp:sp modelId="{A1224FC5-9DEA-43C9-A9E3-E05B1A0A823A}">
      <dsp:nvSpPr>
        <dsp:cNvPr id="0" name=""/>
        <dsp:cNvSpPr/>
      </dsp:nvSpPr>
      <dsp:spPr>
        <a:xfrm>
          <a:off x="0" y="2562579"/>
          <a:ext cx="11113769" cy="76752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baseline="0"/>
            <a:t>Outputs (Business Perspective):</a:t>
          </a:r>
          <a:endParaRPr lang="en-US" sz="3200" kern="1200"/>
        </a:p>
      </dsp:txBody>
      <dsp:txXfrm>
        <a:off x="37467" y="2600046"/>
        <a:ext cx="11038835" cy="692586"/>
      </dsp:txXfrm>
    </dsp:sp>
    <dsp:sp modelId="{1AB1CD59-DEA6-4182-B4A9-6D6E37F0B56C}">
      <dsp:nvSpPr>
        <dsp:cNvPr id="0" name=""/>
        <dsp:cNvSpPr/>
      </dsp:nvSpPr>
      <dsp:spPr>
        <a:xfrm>
          <a:off x="0" y="3330099"/>
          <a:ext cx="11113769" cy="17222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862" tIns="40640" rIns="227584" bIns="40640" numCol="1" spcCol="1270" anchor="t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0" i="0" kern="1200" baseline="0" dirty="0"/>
            <a:t>Fund details and pricing data.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0" i="0" kern="1200" baseline="0" dirty="0"/>
            <a:t>Subscription/redemption confirmation and status.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0" i="0" kern="1200" baseline="0"/>
            <a:t>Portfolio summaries and performance reports.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500" b="0" i="0" kern="1200" baseline="0" dirty="0"/>
            <a:t>Notifications on transactions and dividends.</a:t>
          </a:r>
          <a:endParaRPr lang="en-US" sz="2500" kern="1200" dirty="0"/>
        </a:p>
      </dsp:txBody>
      <dsp:txXfrm>
        <a:off x="0" y="3330099"/>
        <a:ext cx="11113769" cy="1722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53A36-3E18-4F5A-A47E-85C93F195811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1EB04-1340-4785-B2D5-B1B80D2E6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913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31EB04-1340-4785-B2D5-B1B80D2E69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97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31EB04-1340-4785-B2D5-B1B80D2E69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13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1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541241" y="5339938"/>
            <a:ext cx="588645" cy="574040"/>
          </a:xfrm>
          <a:custGeom>
            <a:avLst/>
            <a:gdLst/>
            <a:ahLst/>
            <a:cxnLst/>
            <a:rect l="l" t="t" r="r" b="b"/>
            <a:pathLst>
              <a:path w="588645" h="574039">
                <a:moveTo>
                  <a:pt x="294068" y="0"/>
                </a:moveTo>
                <a:lnTo>
                  <a:pt x="251662" y="11307"/>
                </a:lnTo>
                <a:lnTo>
                  <a:pt x="178080" y="53697"/>
                </a:lnTo>
                <a:lnTo>
                  <a:pt x="146925" y="84834"/>
                </a:lnTo>
                <a:lnTo>
                  <a:pt x="135449" y="127280"/>
                </a:lnTo>
                <a:lnTo>
                  <a:pt x="135449" y="234137"/>
                </a:lnTo>
                <a:lnTo>
                  <a:pt x="42631" y="287964"/>
                </a:lnTo>
                <a:lnTo>
                  <a:pt x="24901" y="301538"/>
                </a:lnTo>
                <a:lnTo>
                  <a:pt x="11476" y="318963"/>
                </a:lnTo>
                <a:lnTo>
                  <a:pt x="2971" y="339214"/>
                </a:lnTo>
                <a:lnTo>
                  <a:pt x="0" y="361270"/>
                </a:lnTo>
                <a:lnTo>
                  <a:pt x="0" y="446291"/>
                </a:lnTo>
                <a:lnTo>
                  <a:pt x="11476" y="488753"/>
                </a:lnTo>
                <a:lnTo>
                  <a:pt x="42631" y="519884"/>
                </a:lnTo>
                <a:lnTo>
                  <a:pt x="116213" y="562263"/>
                </a:lnTo>
                <a:lnTo>
                  <a:pt x="158602" y="573704"/>
                </a:lnTo>
                <a:lnTo>
                  <a:pt x="169640" y="572977"/>
                </a:lnTo>
                <a:lnTo>
                  <a:pt x="180489" y="570812"/>
                </a:lnTo>
                <a:lnTo>
                  <a:pt x="191053" y="567233"/>
                </a:lnTo>
                <a:lnTo>
                  <a:pt x="201233" y="562263"/>
                </a:lnTo>
                <a:lnTo>
                  <a:pt x="261949" y="527293"/>
                </a:lnTo>
                <a:lnTo>
                  <a:pt x="158723" y="527293"/>
                </a:lnTo>
                <a:lnTo>
                  <a:pt x="148778" y="526026"/>
                </a:lnTo>
                <a:lnTo>
                  <a:pt x="65783" y="479845"/>
                </a:lnTo>
                <a:lnTo>
                  <a:pt x="46270" y="446291"/>
                </a:lnTo>
                <a:lnTo>
                  <a:pt x="46270" y="361270"/>
                </a:lnTo>
                <a:lnTo>
                  <a:pt x="47637" y="351318"/>
                </a:lnTo>
                <a:lnTo>
                  <a:pt x="51543" y="342098"/>
                </a:lnTo>
                <a:lnTo>
                  <a:pt x="57690" y="334145"/>
                </a:lnTo>
                <a:lnTo>
                  <a:pt x="65783" y="327996"/>
                </a:lnTo>
                <a:lnTo>
                  <a:pt x="135449" y="287721"/>
                </a:lnTo>
                <a:lnTo>
                  <a:pt x="181719" y="287721"/>
                </a:lnTo>
                <a:lnTo>
                  <a:pt x="181719" y="261171"/>
                </a:lnTo>
                <a:lnTo>
                  <a:pt x="268576" y="211261"/>
                </a:lnTo>
                <a:lnTo>
                  <a:pt x="276706" y="207899"/>
                </a:lnTo>
                <a:lnTo>
                  <a:pt x="181719" y="207899"/>
                </a:lnTo>
                <a:lnTo>
                  <a:pt x="181719" y="127280"/>
                </a:lnTo>
                <a:lnTo>
                  <a:pt x="201233" y="93729"/>
                </a:lnTo>
                <a:lnTo>
                  <a:pt x="274815" y="51374"/>
                </a:lnTo>
                <a:lnTo>
                  <a:pt x="294142" y="46305"/>
                </a:lnTo>
                <a:lnTo>
                  <a:pt x="397205" y="46305"/>
                </a:lnTo>
                <a:lnTo>
                  <a:pt x="336682" y="11307"/>
                </a:lnTo>
                <a:lnTo>
                  <a:pt x="315970" y="2826"/>
                </a:lnTo>
                <a:lnTo>
                  <a:pt x="294068" y="0"/>
                </a:lnTo>
                <a:close/>
              </a:path>
              <a:path w="588645" h="574039">
                <a:moveTo>
                  <a:pt x="386995" y="508963"/>
                </a:moveTo>
                <a:lnTo>
                  <a:pt x="294294" y="508963"/>
                </a:lnTo>
                <a:lnTo>
                  <a:pt x="386835" y="562263"/>
                </a:lnTo>
                <a:lnTo>
                  <a:pt x="397016" y="567233"/>
                </a:lnTo>
                <a:lnTo>
                  <a:pt x="407583" y="570812"/>
                </a:lnTo>
                <a:lnTo>
                  <a:pt x="418443" y="572977"/>
                </a:lnTo>
                <a:lnTo>
                  <a:pt x="429501" y="573704"/>
                </a:lnTo>
                <a:lnTo>
                  <a:pt x="440432" y="572977"/>
                </a:lnTo>
                <a:lnTo>
                  <a:pt x="451263" y="570812"/>
                </a:lnTo>
                <a:lnTo>
                  <a:pt x="461801" y="567233"/>
                </a:lnTo>
                <a:lnTo>
                  <a:pt x="471855" y="562263"/>
                </a:lnTo>
                <a:lnTo>
                  <a:pt x="532573" y="527293"/>
                </a:lnTo>
                <a:lnTo>
                  <a:pt x="429362" y="527293"/>
                </a:lnTo>
                <a:lnTo>
                  <a:pt x="419405" y="526026"/>
                </a:lnTo>
                <a:lnTo>
                  <a:pt x="409987" y="522224"/>
                </a:lnTo>
                <a:lnTo>
                  <a:pt x="386995" y="508963"/>
                </a:lnTo>
                <a:close/>
              </a:path>
              <a:path w="588645" h="574039">
                <a:moveTo>
                  <a:pt x="181719" y="287721"/>
                </a:moveTo>
                <a:lnTo>
                  <a:pt x="135449" y="287721"/>
                </a:lnTo>
                <a:lnTo>
                  <a:pt x="135449" y="361270"/>
                </a:lnTo>
                <a:lnTo>
                  <a:pt x="148576" y="409937"/>
                </a:lnTo>
                <a:lnTo>
                  <a:pt x="184319" y="445528"/>
                </a:lnTo>
                <a:lnTo>
                  <a:pt x="247503" y="482185"/>
                </a:lnTo>
                <a:lnTo>
                  <a:pt x="178080" y="522224"/>
                </a:lnTo>
                <a:lnTo>
                  <a:pt x="168668" y="526026"/>
                </a:lnTo>
                <a:lnTo>
                  <a:pt x="158723" y="527293"/>
                </a:lnTo>
                <a:lnTo>
                  <a:pt x="261949" y="527293"/>
                </a:lnTo>
                <a:lnTo>
                  <a:pt x="293774" y="508963"/>
                </a:lnTo>
                <a:lnTo>
                  <a:pt x="386995" y="508963"/>
                </a:lnTo>
                <a:lnTo>
                  <a:pt x="340564" y="482185"/>
                </a:lnTo>
                <a:lnTo>
                  <a:pt x="386304" y="455649"/>
                </a:lnTo>
                <a:lnTo>
                  <a:pt x="294051" y="455649"/>
                </a:lnTo>
                <a:lnTo>
                  <a:pt x="207472" y="405496"/>
                </a:lnTo>
                <a:lnTo>
                  <a:pt x="196751" y="397304"/>
                </a:lnTo>
                <a:lnTo>
                  <a:pt x="188643" y="386801"/>
                </a:lnTo>
                <a:lnTo>
                  <a:pt x="183511" y="374589"/>
                </a:lnTo>
                <a:lnTo>
                  <a:pt x="181720" y="361270"/>
                </a:lnTo>
                <a:lnTo>
                  <a:pt x="181719" y="287721"/>
                </a:lnTo>
                <a:close/>
              </a:path>
              <a:path w="588645" h="574039">
                <a:moveTo>
                  <a:pt x="545018" y="287721"/>
                </a:moveTo>
                <a:lnTo>
                  <a:pt x="452619" y="287721"/>
                </a:lnTo>
                <a:lnTo>
                  <a:pt x="522284" y="327996"/>
                </a:lnTo>
                <a:lnTo>
                  <a:pt x="530378" y="334145"/>
                </a:lnTo>
                <a:lnTo>
                  <a:pt x="536525" y="342098"/>
                </a:lnTo>
                <a:lnTo>
                  <a:pt x="540430" y="351318"/>
                </a:lnTo>
                <a:lnTo>
                  <a:pt x="541798" y="361270"/>
                </a:lnTo>
                <a:lnTo>
                  <a:pt x="541798" y="446291"/>
                </a:lnTo>
                <a:lnTo>
                  <a:pt x="540528" y="455649"/>
                </a:lnTo>
                <a:lnTo>
                  <a:pt x="540430" y="456368"/>
                </a:lnTo>
                <a:lnTo>
                  <a:pt x="448737" y="522224"/>
                </a:lnTo>
                <a:lnTo>
                  <a:pt x="429362" y="527293"/>
                </a:lnTo>
                <a:lnTo>
                  <a:pt x="532573" y="527293"/>
                </a:lnTo>
                <a:lnTo>
                  <a:pt x="576605" y="488753"/>
                </a:lnTo>
                <a:lnTo>
                  <a:pt x="588068" y="446291"/>
                </a:lnTo>
                <a:lnTo>
                  <a:pt x="588068" y="361270"/>
                </a:lnTo>
                <a:lnTo>
                  <a:pt x="585101" y="339214"/>
                </a:lnTo>
                <a:lnTo>
                  <a:pt x="576604" y="318963"/>
                </a:lnTo>
                <a:lnTo>
                  <a:pt x="563181" y="301538"/>
                </a:lnTo>
                <a:lnTo>
                  <a:pt x="545437" y="287964"/>
                </a:lnTo>
                <a:lnTo>
                  <a:pt x="545018" y="287721"/>
                </a:lnTo>
                <a:close/>
              </a:path>
              <a:path w="588645" h="574039">
                <a:moveTo>
                  <a:pt x="400383" y="204450"/>
                </a:moveTo>
                <a:lnTo>
                  <a:pt x="294081" y="204450"/>
                </a:lnTo>
                <a:lnTo>
                  <a:pt x="307281" y="206153"/>
                </a:lnTo>
                <a:lnTo>
                  <a:pt x="319768" y="211261"/>
                </a:lnTo>
                <a:lnTo>
                  <a:pt x="406348" y="261171"/>
                </a:lnTo>
                <a:lnTo>
                  <a:pt x="406348" y="361270"/>
                </a:lnTo>
                <a:lnTo>
                  <a:pt x="404557" y="374589"/>
                </a:lnTo>
                <a:lnTo>
                  <a:pt x="380596" y="405496"/>
                </a:lnTo>
                <a:lnTo>
                  <a:pt x="294051" y="455649"/>
                </a:lnTo>
                <a:lnTo>
                  <a:pt x="386304" y="455649"/>
                </a:lnTo>
                <a:lnTo>
                  <a:pt x="424106" y="429989"/>
                </a:lnTo>
                <a:lnTo>
                  <a:pt x="449146" y="386801"/>
                </a:lnTo>
                <a:lnTo>
                  <a:pt x="452619" y="361270"/>
                </a:lnTo>
                <a:lnTo>
                  <a:pt x="452619" y="287721"/>
                </a:lnTo>
                <a:lnTo>
                  <a:pt x="545018" y="287721"/>
                </a:lnTo>
                <a:lnTo>
                  <a:pt x="452618" y="234137"/>
                </a:lnTo>
                <a:lnTo>
                  <a:pt x="452618" y="207899"/>
                </a:lnTo>
                <a:lnTo>
                  <a:pt x="406348" y="207899"/>
                </a:lnTo>
                <a:lnTo>
                  <a:pt x="400383" y="204450"/>
                </a:lnTo>
                <a:close/>
              </a:path>
              <a:path w="588645" h="574039">
                <a:moveTo>
                  <a:pt x="294081" y="158153"/>
                </a:moveTo>
                <a:lnTo>
                  <a:pt x="269036" y="161422"/>
                </a:lnTo>
                <a:lnTo>
                  <a:pt x="245424" y="171229"/>
                </a:lnTo>
                <a:lnTo>
                  <a:pt x="181719" y="207899"/>
                </a:lnTo>
                <a:lnTo>
                  <a:pt x="276706" y="207899"/>
                </a:lnTo>
                <a:lnTo>
                  <a:pt x="280928" y="206153"/>
                </a:lnTo>
                <a:lnTo>
                  <a:pt x="294081" y="204450"/>
                </a:lnTo>
                <a:lnTo>
                  <a:pt x="400383" y="204450"/>
                </a:lnTo>
                <a:lnTo>
                  <a:pt x="342921" y="171229"/>
                </a:lnTo>
                <a:lnTo>
                  <a:pt x="319172" y="161422"/>
                </a:lnTo>
                <a:lnTo>
                  <a:pt x="294081" y="158153"/>
                </a:lnTo>
                <a:close/>
              </a:path>
              <a:path w="588645" h="574039">
                <a:moveTo>
                  <a:pt x="397205" y="46305"/>
                </a:moveTo>
                <a:lnTo>
                  <a:pt x="294142" y="46305"/>
                </a:lnTo>
                <a:lnTo>
                  <a:pt x="304015" y="47573"/>
                </a:lnTo>
                <a:lnTo>
                  <a:pt x="313287" y="51374"/>
                </a:lnTo>
                <a:lnTo>
                  <a:pt x="386835" y="93729"/>
                </a:lnTo>
                <a:lnTo>
                  <a:pt x="406348" y="127280"/>
                </a:lnTo>
                <a:lnTo>
                  <a:pt x="406348" y="207899"/>
                </a:lnTo>
                <a:lnTo>
                  <a:pt x="452618" y="207899"/>
                </a:lnTo>
                <a:lnTo>
                  <a:pt x="452618" y="127280"/>
                </a:lnTo>
                <a:lnTo>
                  <a:pt x="441155" y="84834"/>
                </a:lnTo>
                <a:lnTo>
                  <a:pt x="409987" y="53697"/>
                </a:lnTo>
                <a:lnTo>
                  <a:pt x="397205" y="46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9786" y="5516367"/>
            <a:ext cx="909400" cy="3197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63548" y="1835022"/>
            <a:ext cx="6577330" cy="15894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1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56320" y="3563775"/>
            <a:ext cx="5276215" cy="1546860"/>
          </a:xfrm>
          <a:custGeom>
            <a:avLst/>
            <a:gdLst/>
            <a:ahLst/>
            <a:cxnLst/>
            <a:rect l="l" t="t" r="r" b="b"/>
            <a:pathLst>
              <a:path w="5276215" h="1546860">
                <a:moveTo>
                  <a:pt x="0" y="0"/>
                </a:moveTo>
                <a:lnTo>
                  <a:pt x="4172685" y="0"/>
                </a:lnTo>
                <a:lnTo>
                  <a:pt x="4230155" y="11949"/>
                </a:lnTo>
                <a:lnTo>
                  <a:pt x="4297696" y="34887"/>
                </a:lnTo>
                <a:lnTo>
                  <a:pt x="4362412" y="66272"/>
                </a:lnTo>
                <a:lnTo>
                  <a:pt x="4422720" y="106103"/>
                </a:lnTo>
                <a:lnTo>
                  <a:pt x="4477424" y="153276"/>
                </a:lnTo>
                <a:lnTo>
                  <a:pt x="4525805" y="208223"/>
                </a:lnTo>
                <a:lnTo>
                  <a:pt x="4566917" y="269697"/>
                </a:lnTo>
                <a:lnTo>
                  <a:pt x="5275899" y="1498716"/>
                </a:lnTo>
                <a:lnTo>
                  <a:pt x="5275899" y="1500067"/>
                </a:lnTo>
                <a:lnTo>
                  <a:pt x="5195558" y="1546561"/>
                </a:lnTo>
                <a:lnTo>
                  <a:pt x="4487435" y="318886"/>
                </a:lnTo>
                <a:lnTo>
                  <a:pt x="4451605" y="264802"/>
                </a:lnTo>
                <a:lnTo>
                  <a:pt x="4451035" y="264802"/>
                </a:lnTo>
                <a:lnTo>
                  <a:pt x="4415429" y="223868"/>
                </a:lnTo>
                <a:lnTo>
                  <a:pt x="4416014" y="223868"/>
                </a:lnTo>
                <a:lnTo>
                  <a:pt x="4413591" y="221755"/>
                </a:lnTo>
                <a:lnTo>
                  <a:pt x="4411463" y="219309"/>
                </a:lnTo>
                <a:lnTo>
                  <a:pt x="4410786" y="219309"/>
                </a:lnTo>
                <a:lnTo>
                  <a:pt x="4370283" y="183989"/>
                </a:lnTo>
                <a:lnTo>
                  <a:pt x="4370842" y="183989"/>
                </a:lnTo>
                <a:lnTo>
                  <a:pt x="4368447" y="182389"/>
                </a:lnTo>
                <a:lnTo>
                  <a:pt x="4366100" y="180342"/>
                </a:lnTo>
                <a:lnTo>
                  <a:pt x="4365384" y="180342"/>
                </a:lnTo>
                <a:lnTo>
                  <a:pt x="4320496" y="150349"/>
                </a:lnTo>
                <a:lnTo>
                  <a:pt x="4321216" y="150349"/>
                </a:lnTo>
                <a:lnTo>
                  <a:pt x="4318477" y="149000"/>
                </a:lnTo>
                <a:lnTo>
                  <a:pt x="4315899" y="147277"/>
                </a:lnTo>
                <a:lnTo>
                  <a:pt x="4314979" y="147277"/>
                </a:lnTo>
                <a:lnTo>
                  <a:pt x="4266542" y="123427"/>
                </a:lnTo>
                <a:lnTo>
                  <a:pt x="4267375" y="123427"/>
                </a:lnTo>
                <a:lnTo>
                  <a:pt x="4261962" y="121171"/>
                </a:lnTo>
                <a:lnTo>
                  <a:pt x="4260811" y="121171"/>
                </a:lnTo>
                <a:lnTo>
                  <a:pt x="4208438" y="103176"/>
                </a:lnTo>
                <a:lnTo>
                  <a:pt x="4209174" y="103176"/>
                </a:lnTo>
                <a:lnTo>
                  <a:pt x="4206913" y="102652"/>
                </a:lnTo>
                <a:lnTo>
                  <a:pt x="4204528" y="101832"/>
                </a:lnTo>
                <a:lnTo>
                  <a:pt x="4203376" y="101832"/>
                </a:lnTo>
                <a:lnTo>
                  <a:pt x="4178735" y="96121"/>
                </a:lnTo>
                <a:lnTo>
                  <a:pt x="4148650" y="90842"/>
                </a:lnTo>
                <a:lnTo>
                  <a:pt x="4149488" y="90842"/>
                </a:lnTo>
                <a:lnTo>
                  <a:pt x="4118679" y="87865"/>
                </a:lnTo>
                <a:lnTo>
                  <a:pt x="4121733" y="87865"/>
                </a:lnTo>
                <a:lnTo>
                  <a:pt x="4084534" y="86715"/>
                </a:lnTo>
                <a:lnTo>
                  <a:pt x="0" y="86716"/>
                </a:lnTo>
                <a:lnTo>
                  <a:pt x="0" y="0"/>
                </a:lnTo>
                <a:close/>
              </a:path>
              <a:path w="5276215" h="1546860">
                <a:moveTo>
                  <a:pt x="4451035" y="264802"/>
                </a:moveTo>
                <a:lnTo>
                  <a:pt x="4451605" y="264802"/>
                </a:lnTo>
                <a:lnTo>
                  <a:pt x="4453420" y="267548"/>
                </a:lnTo>
                <a:lnTo>
                  <a:pt x="4451035" y="264802"/>
                </a:lnTo>
                <a:close/>
              </a:path>
              <a:path w="5276215" h="1546860">
                <a:moveTo>
                  <a:pt x="4413591" y="221755"/>
                </a:moveTo>
                <a:lnTo>
                  <a:pt x="4416014" y="223868"/>
                </a:lnTo>
                <a:lnTo>
                  <a:pt x="4415429" y="223868"/>
                </a:lnTo>
                <a:lnTo>
                  <a:pt x="4413591" y="221755"/>
                </a:lnTo>
                <a:close/>
              </a:path>
              <a:path w="5276215" h="1546860">
                <a:moveTo>
                  <a:pt x="4410786" y="219309"/>
                </a:moveTo>
                <a:lnTo>
                  <a:pt x="4411463" y="219309"/>
                </a:lnTo>
                <a:lnTo>
                  <a:pt x="4413591" y="221755"/>
                </a:lnTo>
                <a:lnTo>
                  <a:pt x="4410786" y="219309"/>
                </a:lnTo>
                <a:close/>
              </a:path>
              <a:path w="5276215" h="1546860">
                <a:moveTo>
                  <a:pt x="4368447" y="182389"/>
                </a:moveTo>
                <a:lnTo>
                  <a:pt x="4370842" y="183989"/>
                </a:lnTo>
                <a:lnTo>
                  <a:pt x="4370283" y="183989"/>
                </a:lnTo>
                <a:lnTo>
                  <a:pt x="4368447" y="182389"/>
                </a:lnTo>
                <a:close/>
              </a:path>
              <a:path w="5276215" h="1546860">
                <a:moveTo>
                  <a:pt x="4365384" y="180342"/>
                </a:moveTo>
                <a:lnTo>
                  <a:pt x="4366100" y="180342"/>
                </a:lnTo>
                <a:lnTo>
                  <a:pt x="4368447" y="182389"/>
                </a:lnTo>
                <a:lnTo>
                  <a:pt x="4365384" y="180342"/>
                </a:lnTo>
                <a:close/>
              </a:path>
              <a:path w="5276215" h="1546860">
                <a:moveTo>
                  <a:pt x="4318477" y="149000"/>
                </a:moveTo>
                <a:lnTo>
                  <a:pt x="4321216" y="150349"/>
                </a:lnTo>
                <a:lnTo>
                  <a:pt x="4320496" y="150349"/>
                </a:lnTo>
                <a:lnTo>
                  <a:pt x="4318477" y="149000"/>
                </a:lnTo>
                <a:close/>
              </a:path>
              <a:path w="5276215" h="1546860">
                <a:moveTo>
                  <a:pt x="4314979" y="147277"/>
                </a:moveTo>
                <a:lnTo>
                  <a:pt x="4315899" y="147277"/>
                </a:lnTo>
                <a:lnTo>
                  <a:pt x="4318477" y="149000"/>
                </a:lnTo>
                <a:lnTo>
                  <a:pt x="4314979" y="147277"/>
                </a:lnTo>
                <a:close/>
              </a:path>
              <a:path w="5276215" h="1546860">
                <a:moveTo>
                  <a:pt x="4261962" y="121171"/>
                </a:moveTo>
                <a:lnTo>
                  <a:pt x="4267375" y="123427"/>
                </a:lnTo>
                <a:lnTo>
                  <a:pt x="4264620" y="122480"/>
                </a:lnTo>
                <a:lnTo>
                  <a:pt x="4261962" y="121171"/>
                </a:lnTo>
                <a:close/>
              </a:path>
              <a:path w="5276215" h="1546860">
                <a:moveTo>
                  <a:pt x="4264620" y="122480"/>
                </a:moveTo>
                <a:lnTo>
                  <a:pt x="4267375" y="123427"/>
                </a:lnTo>
                <a:lnTo>
                  <a:pt x="4266542" y="123427"/>
                </a:lnTo>
                <a:lnTo>
                  <a:pt x="4264620" y="122480"/>
                </a:lnTo>
                <a:close/>
              </a:path>
              <a:path w="5276215" h="1546860">
                <a:moveTo>
                  <a:pt x="4260811" y="121171"/>
                </a:moveTo>
                <a:lnTo>
                  <a:pt x="4261962" y="121171"/>
                </a:lnTo>
                <a:lnTo>
                  <a:pt x="4264620" y="122480"/>
                </a:lnTo>
                <a:lnTo>
                  <a:pt x="4260811" y="121171"/>
                </a:lnTo>
                <a:close/>
              </a:path>
              <a:path w="5276215" h="1546860">
                <a:moveTo>
                  <a:pt x="4206913" y="102652"/>
                </a:moveTo>
                <a:lnTo>
                  <a:pt x="4209174" y="103176"/>
                </a:lnTo>
                <a:lnTo>
                  <a:pt x="4208438" y="103176"/>
                </a:lnTo>
                <a:lnTo>
                  <a:pt x="4206913" y="102652"/>
                </a:lnTo>
                <a:close/>
              </a:path>
              <a:path w="5276215" h="1546860">
                <a:moveTo>
                  <a:pt x="4203376" y="101832"/>
                </a:moveTo>
                <a:lnTo>
                  <a:pt x="4204528" y="101832"/>
                </a:lnTo>
                <a:lnTo>
                  <a:pt x="4206913" y="102652"/>
                </a:lnTo>
                <a:lnTo>
                  <a:pt x="4203376" y="101832"/>
                </a:lnTo>
                <a:close/>
              </a:path>
              <a:path w="5276215" h="1546860">
                <a:moveTo>
                  <a:pt x="4147623" y="90662"/>
                </a:moveTo>
                <a:lnTo>
                  <a:pt x="4149488" y="90842"/>
                </a:lnTo>
                <a:lnTo>
                  <a:pt x="4148650" y="90842"/>
                </a:lnTo>
                <a:lnTo>
                  <a:pt x="4147623" y="906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0541241" y="5339938"/>
            <a:ext cx="588645" cy="574040"/>
          </a:xfrm>
          <a:custGeom>
            <a:avLst/>
            <a:gdLst/>
            <a:ahLst/>
            <a:cxnLst/>
            <a:rect l="l" t="t" r="r" b="b"/>
            <a:pathLst>
              <a:path w="588645" h="574039">
                <a:moveTo>
                  <a:pt x="294068" y="0"/>
                </a:moveTo>
                <a:lnTo>
                  <a:pt x="251662" y="11307"/>
                </a:lnTo>
                <a:lnTo>
                  <a:pt x="178080" y="53697"/>
                </a:lnTo>
                <a:lnTo>
                  <a:pt x="146925" y="84834"/>
                </a:lnTo>
                <a:lnTo>
                  <a:pt x="135449" y="127280"/>
                </a:lnTo>
                <a:lnTo>
                  <a:pt x="135449" y="234137"/>
                </a:lnTo>
                <a:lnTo>
                  <a:pt x="42631" y="287964"/>
                </a:lnTo>
                <a:lnTo>
                  <a:pt x="24901" y="301538"/>
                </a:lnTo>
                <a:lnTo>
                  <a:pt x="11476" y="318963"/>
                </a:lnTo>
                <a:lnTo>
                  <a:pt x="2971" y="339214"/>
                </a:lnTo>
                <a:lnTo>
                  <a:pt x="0" y="361270"/>
                </a:lnTo>
                <a:lnTo>
                  <a:pt x="0" y="446291"/>
                </a:lnTo>
                <a:lnTo>
                  <a:pt x="11476" y="488753"/>
                </a:lnTo>
                <a:lnTo>
                  <a:pt x="42631" y="519884"/>
                </a:lnTo>
                <a:lnTo>
                  <a:pt x="116213" y="562263"/>
                </a:lnTo>
                <a:lnTo>
                  <a:pt x="158602" y="573704"/>
                </a:lnTo>
                <a:lnTo>
                  <a:pt x="169640" y="572977"/>
                </a:lnTo>
                <a:lnTo>
                  <a:pt x="180489" y="570812"/>
                </a:lnTo>
                <a:lnTo>
                  <a:pt x="191053" y="567233"/>
                </a:lnTo>
                <a:lnTo>
                  <a:pt x="201233" y="562263"/>
                </a:lnTo>
                <a:lnTo>
                  <a:pt x="261949" y="527293"/>
                </a:lnTo>
                <a:lnTo>
                  <a:pt x="158723" y="527293"/>
                </a:lnTo>
                <a:lnTo>
                  <a:pt x="148778" y="526026"/>
                </a:lnTo>
                <a:lnTo>
                  <a:pt x="65783" y="479845"/>
                </a:lnTo>
                <a:lnTo>
                  <a:pt x="46270" y="446291"/>
                </a:lnTo>
                <a:lnTo>
                  <a:pt x="46270" y="361270"/>
                </a:lnTo>
                <a:lnTo>
                  <a:pt x="47637" y="351318"/>
                </a:lnTo>
                <a:lnTo>
                  <a:pt x="51543" y="342098"/>
                </a:lnTo>
                <a:lnTo>
                  <a:pt x="57690" y="334145"/>
                </a:lnTo>
                <a:lnTo>
                  <a:pt x="65783" y="327996"/>
                </a:lnTo>
                <a:lnTo>
                  <a:pt x="135449" y="287721"/>
                </a:lnTo>
                <a:lnTo>
                  <a:pt x="181719" y="287721"/>
                </a:lnTo>
                <a:lnTo>
                  <a:pt x="181719" y="261171"/>
                </a:lnTo>
                <a:lnTo>
                  <a:pt x="268576" y="211261"/>
                </a:lnTo>
                <a:lnTo>
                  <a:pt x="276706" y="207899"/>
                </a:lnTo>
                <a:lnTo>
                  <a:pt x="181719" y="207899"/>
                </a:lnTo>
                <a:lnTo>
                  <a:pt x="181719" y="127280"/>
                </a:lnTo>
                <a:lnTo>
                  <a:pt x="201233" y="93729"/>
                </a:lnTo>
                <a:lnTo>
                  <a:pt x="274815" y="51374"/>
                </a:lnTo>
                <a:lnTo>
                  <a:pt x="294142" y="46305"/>
                </a:lnTo>
                <a:lnTo>
                  <a:pt x="397205" y="46305"/>
                </a:lnTo>
                <a:lnTo>
                  <a:pt x="336682" y="11307"/>
                </a:lnTo>
                <a:lnTo>
                  <a:pt x="315970" y="2826"/>
                </a:lnTo>
                <a:lnTo>
                  <a:pt x="294068" y="0"/>
                </a:lnTo>
                <a:close/>
              </a:path>
              <a:path w="588645" h="574039">
                <a:moveTo>
                  <a:pt x="386995" y="508963"/>
                </a:moveTo>
                <a:lnTo>
                  <a:pt x="294294" y="508963"/>
                </a:lnTo>
                <a:lnTo>
                  <a:pt x="386835" y="562263"/>
                </a:lnTo>
                <a:lnTo>
                  <a:pt x="397016" y="567233"/>
                </a:lnTo>
                <a:lnTo>
                  <a:pt x="407583" y="570812"/>
                </a:lnTo>
                <a:lnTo>
                  <a:pt x="418443" y="572977"/>
                </a:lnTo>
                <a:lnTo>
                  <a:pt x="429501" y="573704"/>
                </a:lnTo>
                <a:lnTo>
                  <a:pt x="440432" y="572977"/>
                </a:lnTo>
                <a:lnTo>
                  <a:pt x="451263" y="570812"/>
                </a:lnTo>
                <a:lnTo>
                  <a:pt x="461801" y="567233"/>
                </a:lnTo>
                <a:lnTo>
                  <a:pt x="471855" y="562263"/>
                </a:lnTo>
                <a:lnTo>
                  <a:pt x="532573" y="527293"/>
                </a:lnTo>
                <a:lnTo>
                  <a:pt x="429362" y="527293"/>
                </a:lnTo>
                <a:lnTo>
                  <a:pt x="419405" y="526026"/>
                </a:lnTo>
                <a:lnTo>
                  <a:pt x="409987" y="522224"/>
                </a:lnTo>
                <a:lnTo>
                  <a:pt x="386995" y="508963"/>
                </a:lnTo>
                <a:close/>
              </a:path>
              <a:path w="588645" h="574039">
                <a:moveTo>
                  <a:pt x="181719" y="287721"/>
                </a:moveTo>
                <a:lnTo>
                  <a:pt x="135449" y="287721"/>
                </a:lnTo>
                <a:lnTo>
                  <a:pt x="135449" y="361270"/>
                </a:lnTo>
                <a:lnTo>
                  <a:pt x="148576" y="409937"/>
                </a:lnTo>
                <a:lnTo>
                  <a:pt x="184319" y="445528"/>
                </a:lnTo>
                <a:lnTo>
                  <a:pt x="247503" y="482185"/>
                </a:lnTo>
                <a:lnTo>
                  <a:pt x="178080" y="522224"/>
                </a:lnTo>
                <a:lnTo>
                  <a:pt x="168668" y="526026"/>
                </a:lnTo>
                <a:lnTo>
                  <a:pt x="158723" y="527293"/>
                </a:lnTo>
                <a:lnTo>
                  <a:pt x="261949" y="527293"/>
                </a:lnTo>
                <a:lnTo>
                  <a:pt x="293774" y="508963"/>
                </a:lnTo>
                <a:lnTo>
                  <a:pt x="386995" y="508963"/>
                </a:lnTo>
                <a:lnTo>
                  <a:pt x="340564" y="482185"/>
                </a:lnTo>
                <a:lnTo>
                  <a:pt x="386304" y="455649"/>
                </a:lnTo>
                <a:lnTo>
                  <a:pt x="294051" y="455649"/>
                </a:lnTo>
                <a:lnTo>
                  <a:pt x="207472" y="405496"/>
                </a:lnTo>
                <a:lnTo>
                  <a:pt x="196751" y="397304"/>
                </a:lnTo>
                <a:lnTo>
                  <a:pt x="188643" y="386801"/>
                </a:lnTo>
                <a:lnTo>
                  <a:pt x="183511" y="374589"/>
                </a:lnTo>
                <a:lnTo>
                  <a:pt x="181720" y="361270"/>
                </a:lnTo>
                <a:lnTo>
                  <a:pt x="181719" y="287721"/>
                </a:lnTo>
                <a:close/>
              </a:path>
              <a:path w="588645" h="574039">
                <a:moveTo>
                  <a:pt x="545018" y="287721"/>
                </a:moveTo>
                <a:lnTo>
                  <a:pt x="452619" y="287721"/>
                </a:lnTo>
                <a:lnTo>
                  <a:pt x="522284" y="327996"/>
                </a:lnTo>
                <a:lnTo>
                  <a:pt x="530378" y="334145"/>
                </a:lnTo>
                <a:lnTo>
                  <a:pt x="536525" y="342098"/>
                </a:lnTo>
                <a:lnTo>
                  <a:pt x="540430" y="351318"/>
                </a:lnTo>
                <a:lnTo>
                  <a:pt x="541798" y="361270"/>
                </a:lnTo>
                <a:lnTo>
                  <a:pt x="541798" y="446291"/>
                </a:lnTo>
                <a:lnTo>
                  <a:pt x="540528" y="455649"/>
                </a:lnTo>
                <a:lnTo>
                  <a:pt x="540430" y="456368"/>
                </a:lnTo>
                <a:lnTo>
                  <a:pt x="448737" y="522224"/>
                </a:lnTo>
                <a:lnTo>
                  <a:pt x="429362" y="527293"/>
                </a:lnTo>
                <a:lnTo>
                  <a:pt x="532573" y="527293"/>
                </a:lnTo>
                <a:lnTo>
                  <a:pt x="576605" y="488753"/>
                </a:lnTo>
                <a:lnTo>
                  <a:pt x="588068" y="446291"/>
                </a:lnTo>
                <a:lnTo>
                  <a:pt x="588068" y="361270"/>
                </a:lnTo>
                <a:lnTo>
                  <a:pt x="585101" y="339214"/>
                </a:lnTo>
                <a:lnTo>
                  <a:pt x="576604" y="318963"/>
                </a:lnTo>
                <a:lnTo>
                  <a:pt x="563181" y="301538"/>
                </a:lnTo>
                <a:lnTo>
                  <a:pt x="545437" y="287964"/>
                </a:lnTo>
                <a:lnTo>
                  <a:pt x="545018" y="287721"/>
                </a:lnTo>
                <a:close/>
              </a:path>
              <a:path w="588645" h="574039">
                <a:moveTo>
                  <a:pt x="400383" y="204450"/>
                </a:moveTo>
                <a:lnTo>
                  <a:pt x="294081" y="204450"/>
                </a:lnTo>
                <a:lnTo>
                  <a:pt x="307281" y="206153"/>
                </a:lnTo>
                <a:lnTo>
                  <a:pt x="319768" y="211261"/>
                </a:lnTo>
                <a:lnTo>
                  <a:pt x="406348" y="261171"/>
                </a:lnTo>
                <a:lnTo>
                  <a:pt x="406348" y="361270"/>
                </a:lnTo>
                <a:lnTo>
                  <a:pt x="404557" y="374589"/>
                </a:lnTo>
                <a:lnTo>
                  <a:pt x="380596" y="405496"/>
                </a:lnTo>
                <a:lnTo>
                  <a:pt x="294051" y="455649"/>
                </a:lnTo>
                <a:lnTo>
                  <a:pt x="386304" y="455649"/>
                </a:lnTo>
                <a:lnTo>
                  <a:pt x="424106" y="429989"/>
                </a:lnTo>
                <a:lnTo>
                  <a:pt x="449146" y="386801"/>
                </a:lnTo>
                <a:lnTo>
                  <a:pt x="452619" y="361270"/>
                </a:lnTo>
                <a:lnTo>
                  <a:pt x="452619" y="287721"/>
                </a:lnTo>
                <a:lnTo>
                  <a:pt x="545018" y="287721"/>
                </a:lnTo>
                <a:lnTo>
                  <a:pt x="452618" y="234137"/>
                </a:lnTo>
                <a:lnTo>
                  <a:pt x="452618" y="207899"/>
                </a:lnTo>
                <a:lnTo>
                  <a:pt x="406348" y="207899"/>
                </a:lnTo>
                <a:lnTo>
                  <a:pt x="400383" y="204450"/>
                </a:lnTo>
                <a:close/>
              </a:path>
              <a:path w="588645" h="574039">
                <a:moveTo>
                  <a:pt x="294081" y="158153"/>
                </a:moveTo>
                <a:lnTo>
                  <a:pt x="269036" y="161422"/>
                </a:lnTo>
                <a:lnTo>
                  <a:pt x="245424" y="171229"/>
                </a:lnTo>
                <a:lnTo>
                  <a:pt x="181719" y="207899"/>
                </a:lnTo>
                <a:lnTo>
                  <a:pt x="276706" y="207899"/>
                </a:lnTo>
                <a:lnTo>
                  <a:pt x="280928" y="206153"/>
                </a:lnTo>
                <a:lnTo>
                  <a:pt x="294081" y="204450"/>
                </a:lnTo>
                <a:lnTo>
                  <a:pt x="400383" y="204450"/>
                </a:lnTo>
                <a:lnTo>
                  <a:pt x="342921" y="171229"/>
                </a:lnTo>
                <a:lnTo>
                  <a:pt x="319172" y="161422"/>
                </a:lnTo>
                <a:lnTo>
                  <a:pt x="294081" y="158153"/>
                </a:lnTo>
                <a:close/>
              </a:path>
              <a:path w="588645" h="574039">
                <a:moveTo>
                  <a:pt x="397205" y="46305"/>
                </a:moveTo>
                <a:lnTo>
                  <a:pt x="294142" y="46305"/>
                </a:lnTo>
                <a:lnTo>
                  <a:pt x="304015" y="47573"/>
                </a:lnTo>
                <a:lnTo>
                  <a:pt x="313287" y="51374"/>
                </a:lnTo>
                <a:lnTo>
                  <a:pt x="386835" y="93729"/>
                </a:lnTo>
                <a:lnTo>
                  <a:pt x="406348" y="127280"/>
                </a:lnTo>
                <a:lnTo>
                  <a:pt x="406348" y="207899"/>
                </a:lnTo>
                <a:lnTo>
                  <a:pt x="452618" y="207899"/>
                </a:lnTo>
                <a:lnTo>
                  <a:pt x="452618" y="127280"/>
                </a:lnTo>
                <a:lnTo>
                  <a:pt x="441155" y="84834"/>
                </a:lnTo>
                <a:lnTo>
                  <a:pt x="409987" y="53697"/>
                </a:lnTo>
                <a:lnTo>
                  <a:pt x="397205" y="46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9786" y="5516367"/>
            <a:ext cx="909400" cy="3197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2956" y="260730"/>
            <a:ext cx="11113770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221BF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7532" y="1630816"/>
            <a:ext cx="5142230" cy="1482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8190" y="6455613"/>
            <a:ext cx="2303780" cy="161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/>
              <a:t>1</a:t>
            </a:r>
            <a:r>
              <a:rPr spc="70" dirty="0"/>
              <a:t> </a:t>
            </a:r>
            <a:r>
              <a:rPr dirty="0"/>
              <a:t>Q</a:t>
            </a:r>
            <a:r>
              <a:rPr spc="8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0</a:t>
            </a:r>
            <a:r>
              <a:rPr spc="75" dirty="0"/>
              <a:t> </a:t>
            </a:r>
            <a:r>
              <a:rPr dirty="0"/>
              <a:t>2</a:t>
            </a:r>
            <a:r>
              <a:rPr spc="75" dirty="0"/>
              <a:t> </a:t>
            </a:r>
            <a:r>
              <a:rPr dirty="0"/>
              <a:t>5</a:t>
            </a:r>
            <a:r>
              <a:rPr spc="204" dirty="0"/>
              <a:t> 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u</a:t>
            </a:r>
            <a:r>
              <a:rPr spc="80" dirty="0"/>
              <a:t> </a:t>
            </a:r>
            <a:r>
              <a:rPr dirty="0"/>
              <a:t>l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s</a:t>
            </a:r>
            <a:r>
              <a:rPr spc="190" dirty="0"/>
              <a:t>  </a:t>
            </a:r>
            <a:r>
              <a:rPr dirty="0"/>
              <a:t>P</a:t>
            </a:r>
            <a:r>
              <a:rPr spc="85" dirty="0"/>
              <a:t> </a:t>
            </a:r>
            <a:r>
              <a:rPr dirty="0"/>
              <a:t>r</a:t>
            </a:r>
            <a:r>
              <a:rPr spc="75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s</a:t>
            </a:r>
            <a:r>
              <a:rPr spc="70" dirty="0"/>
              <a:t> </a:t>
            </a:r>
            <a:r>
              <a:rPr dirty="0"/>
              <a:t>e</a:t>
            </a:r>
            <a:r>
              <a:rPr spc="80" dirty="0"/>
              <a:t> </a:t>
            </a:r>
            <a:r>
              <a:rPr dirty="0"/>
              <a:t>n</a:t>
            </a:r>
            <a:r>
              <a:rPr spc="80" dirty="0"/>
              <a:t> </a:t>
            </a:r>
            <a:r>
              <a:rPr dirty="0"/>
              <a:t>t</a:t>
            </a:r>
            <a:r>
              <a:rPr spc="75" dirty="0"/>
              <a:t> </a:t>
            </a:r>
            <a:r>
              <a:rPr dirty="0"/>
              <a:t>a</a:t>
            </a:r>
            <a:r>
              <a:rPr spc="75" dirty="0"/>
              <a:t> </a:t>
            </a:r>
            <a:r>
              <a:rPr dirty="0"/>
              <a:t>t</a:t>
            </a:r>
            <a:r>
              <a:rPr spc="80" dirty="0"/>
              <a:t> </a:t>
            </a:r>
            <a:r>
              <a:rPr dirty="0"/>
              <a:t>i</a:t>
            </a:r>
            <a:r>
              <a:rPr spc="75" dirty="0"/>
              <a:t> </a:t>
            </a:r>
            <a:r>
              <a:rPr dirty="0"/>
              <a:t>o</a:t>
            </a:r>
            <a:r>
              <a:rPr spc="75" dirty="0"/>
              <a:t> </a:t>
            </a:r>
            <a:r>
              <a:rPr spc="-50" dirty="0"/>
              <a:t>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84979" y="6447028"/>
            <a:ext cx="26225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7E7E7E"/>
                </a:solidFill>
                <a:latin typeface="Segoe UI"/>
                <a:cs typeface="Segoe UI"/>
              </a:defRPr>
            </a:lvl1pPr>
          </a:lstStyle>
          <a:p>
            <a:pPr marL="111760">
              <a:lnSpc>
                <a:spcPct val="100000"/>
              </a:lnSpc>
              <a:spcBef>
                <a:spcPts val="17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43A88E-C253-C725-A8FB-38D59CC877C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95925" y="6642100"/>
            <a:ext cx="12287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FF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Ejada Internal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33400" y="650466"/>
            <a:ext cx="5870652" cy="1594667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>
              <a:lnSpc>
                <a:spcPts val="5830"/>
              </a:lnSpc>
              <a:spcBef>
                <a:spcPts val="835"/>
              </a:spcBef>
            </a:pPr>
            <a:r>
              <a:rPr lang="en-US" sz="5400" dirty="0">
                <a:solidFill>
                  <a:srgbClr val="FFFFFF"/>
                </a:solidFill>
              </a:rPr>
              <a:t>Api Marketplace </a:t>
            </a:r>
            <a:br>
              <a:rPr lang="en-US" sz="5400" dirty="0">
                <a:solidFill>
                  <a:srgbClr val="FFFFFF"/>
                </a:solidFill>
              </a:rPr>
            </a:br>
            <a:r>
              <a:rPr lang="en-US" sz="5400" dirty="0">
                <a:solidFill>
                  <a:srgbClr val="FFFFFF"/>
                </a:solidFill>
              </a:rPr>
              <a:t>“Mutual Funds”</a:t>
            </a:r>
            <a:endParaRPr sz="5400" dirty="0"/>
          </a:p>
        </p:txBody>
      </p:sp>
      <p:graphicFrame>
        <p:nvGraphicFramePr>
          <p:cNvPr id="5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719334"/>
              </p:ext>
            </p:extLst>
          </p:nvPr>
        </p:nvGraphicFramePr>
        <p:xfrm>
          <a:off x="6477000" y="2438400"/>
          <a:ext cx="5097780" cy="2218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0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7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1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2413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Description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8763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2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Terminologies 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3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Key Features 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4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Process Workflow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lang="en-US" sz="2400" b="1" spc="-25" dirty="0">
                          <a:solidFill>
                            <a:srgbClr val="211AFA"/>
                          </a:solidFill>
                        </a:rPr>
                        <a:t>5</a:t>
                      </a:r>
                      <a:endParaRPr sz="2400" dirty="0">
                        <a:latin typeface="Segoe UI"/>
                        <a:cs typeface="Segoe UI"/>
                      </a:endParaRPr>
                    </a:p>
                  </a:txBody>
                  <a:tcPr marL="0" marR="0" marT="387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  <a:spcBef>
                          <a:spcPts val="805"/>
                        </a:spcBef>
                      </a:pPr>
                      <a:r>
                        <a:rPr lang="en-US" sz="1600" dirty="0">
                          <a:solidFill>
                            <a:srgbClr val="171717"/>
                          </a:solidFill>
                        </a:rPr>
                        <a:t>Key Inputs/Outputs </a:t>
                      </a:r>
                      <a:endParaRPr sz="1600" dirty="0">
                        <a:latin typeface="Segoe UI"/>
                        <a:cs typeface="Segoe UI"/>
                      </a:endParaRPr>
                    </a:p>
                  </a:txBody>
                  <a:tcPr marL="0" marR="0" marT="102235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1700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8425" y="2246502"/>
            <a:ext cx="4252595" cy="633507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lang="en-US" sz="4000" dirty="0">
                <a:solidFill>
                  <a:srgbClr val="FFFFFF"/>
                </a:solidFill>
              </a:rPr>
              <a:t>Description</a:t>
            </a:r>
            <a:endParaRPr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Descriptions </a:t>
            </a:r>
            <a:endParaRPr sz="1600" dirty="0">
              <a:latin typeface="Segoe UI"/>
              <a:cs typeface="Segoe UI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E1DB378-25D1-9523-C9AC-B8664B7A957C}"/>
              </a:ext>
            </a:extLst>
          </p:cNvPr>
          <p:cNvSpPr txBox="1"/>
          <p:nvPr/>
        </p:nvSpPr>
        <p:spPr>
          <a:xfrm>
            <a:off x="457200" y="990600"/>
            <a:ext cx="11430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20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0299B65-E381-12B6-6136-E7287AC093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3372010"/>
              </p:ext>
            </p:extLst>
          </p:nvPr>
        </p:nvGraphicFramePr>
        <p:xfrm>
          <a:off x="152400" y="609600"/>
          <a:ext cx="11734800" cy="59876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8425" y="2794838"/>
            <a:ext cx="42716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dirty="0">
                <a:solidFill>
                  <a:srgbClr val="FFFFFF"/>
                </a:solidFill>
              </a:rPr>
              <a:t>Terminologies </a:t>
            </a:r>
            <a:endParaRPr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2956" y="260730"/>
            <a:ext cx="100177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b="1" dirty="0">
                <a:solidFill>
                  <a:srgbClr val="221BFF"/>
                </a:solidFill>
                <a:latin typeface="Segoe UI"/>
                <a:cs typeface="Segoe UI"/>
              </a:rPr>
              <a:t>Terminologies- Business Definitions </a:t>
            </a:r>
            <a:endParaRPr sz="1600" dirty="0">
              <a:latin typeface="Segoe UI"/>
              <a:cs typeface="Segoe U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12694AB-2BAA-AC1B-E888-3CC486CA6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071565"/>
              </p:ext>
            </p:extLst>
          </p:nvPr>
        </p:nvGraphicFramePr>
        <p:xfrm>
          <a:off x="558190" y="600710"/>
          <a:ext cx="11329010" cy="544461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690641">
                  <a:extLst>
                    <a:ext uri="{9D8B030D-6E8A-4147-A177-3AD203B41FA5}">
                      <a16:colId xmlns:a16="http://schemas.microsoft.com/office/drawing/2014/main" val="795359942"/>
                    </a:ext>
                  </a:extLst>
                </a:gridCol>
                <a:gridCol w="8638369">
                  <a:extLst>
                    <a:ext uri="{9D8B030D-6E8A-4147-A177-3AD203B41FA5}">
                      <a16:colId xmlns:a16="http://schemas.microsoft.com/office/drawing/2014/main" val="3716767133"/>
                    </a:ext>
                  </a:extLst>
                </a:gridCol>
              </a:tblGrid>
              <a:tr h="699232">
                <a:tc>
                  <a:txBody>
                    <a:bodyPr/>
                    <a:lstStyle/>
                    <a:p>
                      <a:r>
                        <a:rPr lang="en-US" dirty="0"/>
                        <a:t>Mutual 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An investment product where multiple parties contribute capital into a professionally managed pool, providing diversified asset exposure.</a:t>
                      </a:r>
                      <a:endParaRPr kumimoji="0" lang="en-US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383261"/>
                  </a:ext>
                </a:extLst>
              </a:tr>
              <a:tr h="830517">
                <a:tc>
                  <a:txBody>
                    <a:bodyPr/>
                    <a:lstStyle/>
                    <a:p>
                      <a:r>
                        <a:rPr lang="en-US" sz="1800" b="1" baseline="0" dirty="0">
                          <a:solidFill>
                            <a:schemeClr val="tx1"/>
                          </a:solidFill>
                          <a:effectLst/>
                        </a:rPr>
                        <a:t>Subscription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en-US" sz="18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The process of committing funds to acquire a proportional share in the investment pool.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764608"/>
                  </a:ext>
                </a:extLst>
              </a:tr>
              <a:tr h="581361">
                <a:tc>
                  <a:txBody>
                    <a:bodyPr/>
                    <a:lstStyle/>
                    <a:p>
                      <a:r>
                        <a:rPr lang="en-US" sz="1800" b="1" baseline="0" dirty="0">
                          <a:solidFill>
                            <a:schemeClr val="tx1"/>
                          </a:solidFill>
                          <a:effectLst/>
                        </a:rPr>
                        <a:t>Redemption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baseline="0" dirty="0">
                          <a:solidFill>
                            <a:schemeClr val="tx1"/>
                          </a:solidFill>
                          <a:effectLst/>
                        </a:rPr>
                        <a:t>The act of withdrawing part or all of the invested share in exchange for its current value.</a:t>
                      </a:r>
                      <a:endParaRPr lang="en-US" sz="1800" dirty="0">
                        <a:effectLst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386589"/>
                  </a:ext>
                </a:extLst>
              </a:tr>
              <a:tr h="897347">
                <a:tc>
                  <a:txBody>
                    <a:bodyPr/>
                    <a:lstStyle/>
                    <a:p>
                      <a:r>
                        <a:rPr lang="en-US" sz="1800" b="1" baseline="0" dirty="0">
                          <a:solidFill>
                            <a:schemeClr val="tx1"/>
                          </a:solidFill>
                          <a:effectLst/>
                        </a:rPr>
                        <a:t>Portfolio Management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baseline="0" dirty="0">
                          <a:solidFill>
                            <a:schemeClr val="tx1"/>
                          </a:solidFill>
                          <a:effectLst/>
                        </a:rPr>
                        <a:t>The oversight and reporting of invested holdings, including performance tracking and valuation updates.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093206"/>
                  </a:ext>
                </a:extLst>
              </a:tr>
              <a:tr h="900517">
                <a:tc>
                  <a:txBody>
                    <a:bodyPr/>
                    <a:lstStyle/>
                    <a:p>
                      <a:r>
                        <a:rPr lang="en-US" b="1" dirty="0"/>
                        <a:t>Portfolio Holdings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detailed record of all investment units owned by a customer, including fund names, quantities, acquisition dates, and related attributes, representing their current positions in the investment pool.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681000"/>
                  </a:ext>
                </a:extLst>
              </a:tr>
              <a:tr h="900517">
                <a:tc>
                  <a:txBody>
                    <a:bodyPr/>
                    <a:lstStyle/>
                    <a:p>
                      <a:r>
                        <a:rPr lang="en-US" b="1" dirty="0"/>
                        <a:t>Portfolio Performance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The measurement and reporting of how a customer’s holdings have changed in value over time, including gains, losses, dividends, and overall return, enabling informed investment decisions.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7272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221A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3916" y="6448845"/>
            <a:ext cx="217269" cy="21142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56320" y="3563775"/>
            <a:ext cx="5276215" cy="1546860"/>
          </a:xfrm>
          <a:custGeom>
            <a:avLst/>
            <a:gdLst/>
            <a:ahLst/>
            <a:cxnLst/>
            <a:rect l="l" t="t" r="r" b="b"/>
            <a:pathLst>
              <a:path w="5276215" h="1546860">
                <a:moveTo>
                  <a:pt x="0" y="0"/>
                </a:moveTo>
                <a:lnTo>
                  <a:pt x="4172685" y="0"/>
                </a:lnTo>
                <a:lnTo>
                  <a:pt x="4230155" y="11949"/>
                </a:lnTo>
                <a:lnTo>
                  <a:pt x="4297696" y="34887"/>
                </a:lnTo>
                <a:lnTo>
                  <a:pt x="4362412" y="66272"/>
                </a:lnTo>
                <a:lnTo>
                  <a:pt x="4422720" y="106103"/>
                </a:lnTo>
                <a:lnTo>
                  <a:pt x="4477424" y="153276"/>
                </a:lnTo>
                <a:lnTo>
                  <a:pt x="4525805" y="208223"/>
                </a:lnTo>
                <a:lnTo>
                  <a:pt x="4566917" y="269697"/>
                </a:lnTo>
                <a:lnTo>
                  <a:pt x="5275899" y="1498716"/>
                </a:lnTo>
                <a:lnTo>
                  <a:pt x="5275899" y="1500067"/>
                </a:lnTo>
                <a:lnTo>
                  <a:pt x="5195558" y="1546561"/>
                </a:lnTo>
                <a:lnTo>
                  <a:pt x="4487435" y="318886"/>
                </a:lnTo>
                <a:lnTo>
                  <a:pt x="4451605" y="264802"/>
                </a:lnTo>
                <a:lnTo>
                  <a:pt x="4451035" y="264802"/>
                </a:lnTo>
                <a:lnTo>
                  <a:pt x="4415429" y="223868"/>
                </a:lnTo>
                <a:lnTo>
                  <a:pt x="4416014" y="223868"/>
                </a:lnTo>
                <a:lnTo>
                  <a:pt x="4413591" y="221755"/>
                </a:lnTo>
                <a:lnTo>
                  <a:pt x="4411463" y="219309"/>
                </a:lnTo>
                <a:lnTo>
                  <a:pt x="4410786" y="219309"/>
                </a:lnTo>
                <a:lnTo>
                  <a:pt x="4370283" y="183989"/>
                </a:lnTo>
                <a:lnTo>
                  <a:pt x="4370842" y="183989"/>
                </a:lnTo>
                <a:lnTo>
                  <a:pt x="4368447" y="182389"/>
                </a:lnTo>
                <a:lnTo>
                  <a:pt x="4366100" y="180342"/>
                </a:lnTo>
                <a:lnTo>
                  <a:pt x="4365384" y="180342"/>
                </a:lnTo>
                <a:lnTo>
                  <a:pt x="4320496" y="150349"/>
                </a:lnTo>
                <a:lnTo>
                  <a:pt x="4321216" y="150349"/>
                </a:lnTo>
                <a:lnTo>
                  <a:pt x="4318477" y="149000"/>
                </a:lnTo>
                <a:lnTo>
                  <a:pt x="4315899" y="147277"/>
                </a:lnTo>
                <a:lnTo>
                  <a:pt x="4314979" y="147277"/>
                </a:lnTo>
                <a:lnTo>
                  <a:pt x="4266542" y="123427"/>
                </a:lnTo>
                <a:lnTo>
                  <a:pt x="4267375" y="123427"/>
                </a:lnTo>
                <a:lnTo>
                  <a:pt x="4261962" y="121171"/>
                </a:lnTo>
                <a:lnTo>
                  <a:pt x="4260811" y="121171"/>
                </a:lnTo>
                <a:lnTo>
                  <a:pt x="4208438" y="103176"/>
                </a:lnTo>
                <a:lnTo>
                  <a:pt x="4209174" y="103176"/>
                </a:lnTo>
                <a:lnTo>
                  <a:pt x="4206913" y="102652"/>
                </a:lnTo>
                <a:lnTo>
                  <a:pt x="4204528" y="101832"/>
                </a:lnTo>
                <a:lnTo>
                  <a:pt x="4203376" y="101832"/>
                </a:lnTo>
                <a:lnTo>
                  <a:pt x="4178735" y="96121"/>
                </a:lnTo>
                <a:lnTo>
                  <a:pt x="4148650" y="90842"/>
                </a:lnTo>
                <a:lnTo>
                  <a:pt x="4149488" y="90842"/>
                </a:lnTo>
                <a:lnTo>
                  <a:pt x="4118679" y="87865"/>
                </a:lnTo>
                <a:lnTo>
                  <a:pt x="4121733" y="87865"/>
                </a:lnTo>
                <a:lnTo>
                  <a:pt x="4084534" y="86715"/>
                </a:lnTo>
                <a:lnTo>
                  <a:pt x="0" y="86716"/>
                </a:lnTo>
                <a:lnTo>
                  <a:pt x="0" y="0"/>
                </a:lnTo>
                <a:close/>
              </a:path>
              <a:path w="5276215" h="1546860">
                <a:moveTo>
                  <a:pt x="4451035" y="264802"/>
                </a:moveTo>
                <a:lnTo>
                  <a:pt x="4451605" y="264802"/>
                </a:lnTo>
                <a:lnTo>
                  <a:pt x="4453420" y="267548"/>
                </a:lnTo>
                <a:lnTo>
                  <a:pt x="4451035" y="264802"/>
                </a:lnTo>
                <a:close/>
              </a:path>
              <a:path w="5276215" h="1546860">
                <a:moveTo>
                  <a:pt x="4413591" y="221755"/>
                </a:moveTo>
                <a:lnTo>
                  <a:pt x="4416014" y="223868"/>
                </a:lnTo>
                <a:lnTo>
                  <a:pt x="4415429" y="223868"/>
                </a:lnTo>
                <a:lnTo>
                  <a:pt x="4413591" y="221755"/>
                </a:lnTo>
                <a:close/>
              </a:path>
              <a:path w="5276215" h="1546860">
                <a:moveTo>
                  <a:pt x="4410786" y="219309"/>
                </a:moveTo>
                <a:lnTo>
                  <a:pt x="4411463" y="219309"/>
                </a:lnTo>
                <a:lnTo>
                  <a:pt x="4413591" y="221755"/>
                </a:lnTo>
                <a:lnTo>
                  <a:pt x="4410786" y="219309"/>
                </a:lnTo>
                <a:close/>
              </a:path>
              <a:path w="5276215" h="1546860">
                <a:moveTo>
                  <a:pt x="4368447" y="182389"/>
                </a:moveTo>
                <a:lnTo>
                  <a:pt x="4370842" y="183989"/>
                </a:lnTo>
                <a:lnTo>
                  <a:pt x="4370283" y="183989"/>
                </a:lnTo>
                <a:lnTo>
                  <a:pt x="4368447" y="182389"/>
                </a:lnTo>
                <a:close/>
              </a:path>
              <a:path w="5276215" h="1546860">
                <a:moveTo>
                  <a:pt x="4365384" y="180342"/>
                </a:moveTo>
                <a:lnTo>
                  <a:pt x="4366100" y="180342"/>
                </a:lnTo>
                <a:lnTo>
                  <a:pt x="4368447" y="182389"/>
                </a:lnTo>
                <a:lnTo>
                  <a:pt x="4365384" y="180342"/>
                </a:lnTo>
                <a:close/>
              </a:path>
              <a:path w="5276215" h="1546860">
                <a:moveTo>
                  <a:pt x="4318477" y="149000"/>
                </a:moveTo>
                <a:lnTo>
                  <a:pt x="4321216" y="150349"/>
                </a:lnTo>
                <a:lnTo>
                  <a:pt x="4320496" y="150349"/>
                </a:lnTo>
                <a:lnTo>
                  <a:pt x="4318477" y="149000"/>
                </a:lnTo>
                <a:close/>
              </a:path>
              <a:path w="5276215" h="1546860">
                <a:moveTo>
                  <a:pt x="4314979" y="147277"/>
                </a:moveTo>
                <a:lnTo>
                  <a:pt x="4315899" y="147277"/>
                </a:lnTo>
                <a:lnTo>
                  <a:pt x="4318477" y="149000"/>
                </a:lnTo>
                <a:lnTo>
                  <a:pt x="4314979" y="147277"/>
                </a:lnTo>
                <a:close/>
              </a:path>
              <a:path w="5276215" h="1546860">
                <a:moveTo>
                  <a:pt x="4261962" y="121171"/>
                </a:moveTo>
                <a:lnTo>
                  <a:pt x="4267375" y="123427"/>
                </a:lnTo>
                <a:lnTo>
                  <a:pt x="4264620" y="122480"/>
                </a:lnTo>
                <a:lnTo>
                  <a:pt x="4261962" y="121171"/>
                </a:lnTo>
                <a:close/>
              </a:path>
              <a:path w="5276215" h="1546860">
                <a:moveTo>
                  <a:pt x="4264620" y="122480"/>
                </a:moveTo>
                <a:lnTo>
                  <a:pt x="4267375" y="123427"/>
                </a:lnTo>
                <a:lnTo>
                  <a:pt x="4266542" y="123427"/>
                </a:lnTo>
                <a:lnTo>
                  <a:pt x="4264620" y="122480"/>
                </a:lnTo>
                <a:close/>
              </a:path>
              <a:path w="5276215" h="1546860">
                <a:moveTo>
                  <a:pt x="4260811" y="121171"/>
                </a:moveTo>
                <a:lnTo>
                  <a:pt x="4261962" y="121171"/>
                </a:lnTo>
                <a:lnTo>
                  <a:pt x="4264620" y="122480"/>
                </a:lnTo>
                <a:lnTo>
                  <a:pt x="4260811" y="121171"/>
                </a:lnTo>
                <a:close/>
              </a:path>
              <a:path w="5276215" h="1546860">
                <a:moveTo>
                  <a:pt x="4206913" y="102652"/>
                </a:moveTo>
                <a:lnTo>
                  <a:pt x="4209174" y="103176"/>
                </a:lnTo>
                <a:lnTo>
                  <a:pt x="4208438" y="103176"/>
                </a:lnTo>
                <a:lnTo>
                  <a:pt x="4206913" y="102652"/>
                </a:lnTo>
                <a:close/>
              </a:path>
              <a:path w="5276215" h="1546860">
                <a:moveTo>
                  <a:pt x="4203376" y="101832"/>
                </a:moveTo>
                <a:lnTo>
                  <a:pt x="4204528" y="101832"/>
                </a:lnTo>
                <a:lnTo>
                  <a:pt x="4206913" y="102652"/>
                </a:lnTo>
                <a:lnTo>
                  <a:pt x="4203376" y="101832"/>
                </a:lnTo>
                <a:close/>
              </a:path>
              <a:path w="5276215" h="1546860">
                <a:moveTo>
                  <a:pt x="4147623" y="90662"/>
                </a:moveTo>
                <a:lnTo>
                  <a:pt x="4149488" y="90842"/>
                </a:lnTo>
                <a:lnTo>
                  <a:pt x="4148650" y="90842"/>
                </a:lnTo>
                <a:lnTo>
                  <a:pt x="4147623" y="9066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541241" y="5339938"/>
            <a:ext cx="588645" cy="574040"/>
          </a:xfrm>
          <a:custGeom>
            <a:avLst/>
            <a:gdLst/>
            <a:ahLst/>
            <a:cxnLst/>
            <a:rect l="l" t="t" r="r" b="b"/>
            <a:pathLst>
              <a:path w="588645" h="574039">
                <a:moveTo>
                  <a:pt x="294068" y="0"/>
                </a:moveTo>
                <a:lnTo>
                  <a:pt x="251662" y="11307"/>
                </a:lnTo>
                <a:lnTo>
                  <a:pt x="178080" y="53697"/>
                </a:lnTo>
                <a:lnTo>
                  <a:pt x="146925" y="84834"/>
                </a:lnTo>
                <a:lnTo>
                  <a:pt x="135449" y="127280"/>
                </a:lnTo>
                <a:lnTo>
                  <a:pt x="135449" y="234137"/>
                </a:lnTo>
                <a:lnTo>
                  <a:pt x="42631" y="287964"/>
                </a:lnTo>
                <a:lnTo>
                  <a:pt x="24901" y="301538"/>
                </a:lnTo>
                <a:lnTo>
                  <a:pt x="11476" y="318963"/>
                </a:lnTo>
                <a:lnTo>
                  <a:pt x="2971" y="339214"/>
                </a:lnTo>
                <a:lnTo>
                  <a:pt x="0" y="361270"/>
                </a:lnTo>
                <a:lnTo>
                  <a:pt x="0" y="446291"/>
                </a:lnTo>
                <a:lnTo>
                  <a:pt x="11476" y="488753"/>
                </a:lnTo>
                <a:lnTo>
                  <a:pt x="42631" y="519884"/>
                </a:lnTo>
                <a:lnTo>
                  <a:pt x="116213" y="562263"/>
                </a:lnTo>
                <a:lnTo>
                  <a:pt x="158602" y="573704"/>
                </a:lnTo>
                <a:lnTo>
                  <a:pt x="169640" y="572977"/>
                </a:lnTo>
                <a:lnTo>
                  <a:pt x="180489" y="570812"/>
                </a:lnTo>
                <a:lnTo>
                  <a:pt x="191053" y="567233"/>
                </a:lnTo>
                <a:lnTo>
                  <a:pt x="201233" y="562263"/>
                </a:lnTo>
                <a:lnTo>
                  <a:pt x="261949" y="527293"/>
                </a:lnTo>
                <a:lnTo>
                  <a:pt x="158723" y="527293"/>
                </a:lnTo>
                <a:lnTo>
                  <a:pt x="148778" y="526026"/>
                </a:lnTo>
                <a:lnTo>
                  <a:pt x="65783" y="479845"/>
                </a:lnTo>
                <a:lnTo>
                  <a:pt x="46270" y="446291"/>
                </a:lnTo>
                <a:lnTo>
                  <a:pt x="46270" y="361270"/>
                </a:lnTo>
                <a:lnTo>
                  <a:pt x="47637" y="351318"/>
                </a:lnTo>
                <a:lnTo>
                  <a:pt x="51543" y="342098"/>
                </a:lnTo>
                <a:lnTo>
                  <a:pt x="57690" y="334145"/>
                </a:lnTo>
                <a:lnTo>
                  <a:pt x="65783" y="327996"/>
                </a:lnTo>
                <a:lnTo>
                  <a:pt x="135449" y="287721"/>
                </a:lnTo>
                <a:lnTo>
                  <a:pt x="181719" y="287721"/>
                </a:lnTo>
                <a:lnTo>
                  <a:pt x="181719" y="261171"/>
                </a:lnTo>
                <a:lnTo>
                  <a:pt x="268576" y="211261"/>
                </a:lnTo>
                <a:lnTo>
                  <a:pt x="276706" y="207899"/>
                </a:lnTo>
                <a:lnTo>
                  <a:pt x="181719" y="207899"/>
                </a:lnTo>
                <a:lnTo>
                  <a:pt x="181719" y="127280"/>
                </a:lnTo>
                <a:lnTo>
                  <a:pt x="201233" y="93729"/>
                </a:lnTo>
                <a:lnTo>
                  <a:pt x="274815" y="51374"/>
                </a:lnTo>
                <a:lnTo>
                  <a:pt x="294142" y="46305"/>
                </a:lnTo>
                <a:lnTo>
                  <a:pt x="397205" y="46305"/>
                </a:lnTo>
                <a:lnTo>
                  <a:pt x="336682" y="11307"/>
                </a:lnTo>
                <a:lnTo>
                  <a:pt x="315970" y="2826"/>
                </a:lnTo>
                <a:lnTo>
                  <a:pt x="294068" y="0"/>
                </a:lnTo>
                <a:close/>
              </a:path>
              <a:path w="588645" h="574039">
                <a:moveTo>
                  <a:pt x="386995" y="508963"/>
                </a:moveTo>
                <a:lnTo>
                  <a:pt x="294294" y="508963"/>
                </a:lnTo>
                <a:lnTo>
                  <a:pt x="386835" y="562263"/>
                </a:lnTo>
                <a:lnTo>
                  <a:pt x="397016" y="567233"/>
                </a:lnTo>
                <a:lnTo>
                  <a:pt x="407583" y="570812"/>
                </a:lnTo>
                <a:lnTo>
                  <a:pt x="418443" y="572977"/>
                </a:lnTo>
                <a:lnTo>
                  <a:pt x="429501" y="573704"/>
                </a:lnTo>
                <a:lnTo>
                  <a:pt x="440432" y="572977"/>
                </a:lnTo>
                <a:lnTo>
                  <a:pt x="451263" y="570812"/>
                </a:lnTo>
                <a:lnTo>
                  <a:pt x="461801" y="567233"/>
                </a:lnTo>
                <a:lnTo>
                  <a:pt x="471855" y="562263"/>
                </a:lnTo>
                <a:lnTo>
                  <a:pt x="532573" y="527293"/>
                </a:lnTo>
                <a:lnTo>
                  <a:pt x="429362" y="527293"/>
                </a:lnTo>
                <a:lnTo>
                  <a:pt x="419405" y="526026"/>
                </a:lnTo>
                <a:lnTo>
                  <a:pt x="409987" y="522224"/>
                </a:lnTo>
                <a:lnTo>
                  <a:pt x="386995" y="508963"/>
                </a:lnTo>
                <a:close/>
              </a:path>
              <a:path w="588645" h="574039">
                <a:moveTo>
                  <a:pt x="181719" y="287721"/>
                </a:moveTo>
                <a:lnTo>
                  <a:pt x="135449" y="287721"/>
                </a:lnTo>
                <a:lnTo>
                  <a:pt x="135449" y="361270"/>
                </a:lnTo>
                <a:lnTo>
                  <a:pt x="148576" y="409937"/>
                </a:lnTo>
                <a:lnTo>
                  <a:pt x="184319" y="445528"/>
                </a:lnTo>
                <a:lnTo>
                  <a:pt x="247503" y="482185"/>
                </a:lnTo>
                <a:lnTo>
                  <a:pt x="178080" y="522224"/>
                </a:lnTo>
                <a:lnTo>
                  <a:pt x="168668" y="526026"/>
                </a:lnTo>
                <a:lnTo>
                  <a:pt x="158723" y="527293"/>
                </a:lnTo>
                <a:lnTo>
                  <a:pt x="261949" y="527293"/>
                </a:lnTo>
                <a:lnTo>
                  <a:pt x="293774" y="508963"/>
                </a:lnTo>
                <a:lnTo>
                  <a:pt x="386995" y="508963"/>
                </a:lnTo>
                <a:lnTo>
                  <a:pt x="340564" y="482185"/>
                </a:lnTo>
                <a:lnTo>
                  <a:pt x="386304" y="455649"/>
                </a:lnTo>
                <a:lnTo>
                  <a:pt x="294051" y="455649"/>
                </a:lnTo>
                <a:lnTo>
                  <a:pt x="207472" y="405496"/>
                </a:lnTo>
                <a:lnTo>
                  <a:pt x="196751" y="397304"/>
                </a:lnTo>
                <a:lnTo>
                  <a:pt x="188643" y="386801"/>
                </a:lnTo>
                <a:lnTo>
                  <a:pt x="183511" y="374589"/>
                </a:lnTo>
                <a:lnTo>
                  <a:pt x="181720" y="361270"/>
                </a:lnTo>
                <a:lnTo>
                  <a:pt x="181719" y="287721"/>
                </a:lnTo>
                <a:close/>
              </a:path>
              <a:path w="588645" h="574039">
                <a:moveTo>
                  <a:pt x="545018" y="287721"/>
                </a:moveTo>
                <a:lnTo>
                  <a:pt x="452619" y="287721"/>
                </a:lnTo>
                <a:lnTo>
                  <a:pt x="522284" y="327996"/>
                </a:lnTo>
                <a:lnTo>
                  <a:pt x="530378" y="334145"/>
                </a:lnTo>
                <a:lnTo>
                  <a:pt x="536525" y="342098"/>
                </a:lnTo>
                <a:lnTo>
                  <a:pt x="540430" y="351318"/>
                </a:lnTo>
                <a:lnTo>
                  <a:pt x="541798" y="361270"/>
                </a:lnTo>
                <a:lnTo>
                  <a:pt x="541798" y="446291"/>
                </a:lnTo>
                <a:lnTo>
                  <a:pt x="540528" y="455649"/>
                </a:lnTo>
                <a:lnTo>
                  <a:pt x="540430" y="456368"/>
                </a:lnTo>
                <a:lnTo>
                  <a:pt x="448737" y="522224"/>
                </a:lnTo>
                <a:lnTo>
                  <a:pt x="429362" y="527293"/>
                </a:lnTo>
                <a:lnTo>
                  <a:pt x="532573" y="527293"/>
                </a:lnTo>
                <a:lnTo>
                  <a:pt x="576605" y="488753"/>
                </a:lnTo>
                <a:lnTo>
                  <a:pt x="588068" y="446291"/>
                </a:lnTo>
                <a:lnTo>
                  <a:pt x="588068" y="361270"/>
                </a:lnTo>
                <a:lnTo>
                  <a:pt x="585101" y="339214"/>
                </a:lnTo>
                <a:lnTo>
                  <a:pt x="576604" y="318963"/>
                </a:lnTo>
                <a:lnTo>
                  <a:pt x="563181" y="301538"/>
                </a:lnTo>
                <a:lnTo>
                  <a:pt x="545437" y="287964"/>
                </a:lnTo>
                <a:lnTo>
                  <a:pt x="545018" y="287721"/>
                </a:lnTo>
                <a:close/>
              </a:path>
              <a:path w="588645" h="574039">
                <a:moveTo>
                  <a:pt x="400383" y="204450"/>
                </a:moveTo>
                <a:lnTo>
                  <a:pt x="294081" y="204450"/>
                </a:lnTo>
                <a:lnTo>
                  <a:pt x="307281" y="206153"/>
                </a:lnTo>
                <a:lnTo>
                  <a:pt x="319768" y="211261"/>
                </a:lnTo>
                <a:lnTo>
                  <a:pt x="406348" y="261171"/>
                </a:lnTo>
                <a:lnTo>
                  <a:pt x="406348" y="361270"/>
                </a:lnTo>
                <a:lnTo>
                  <a:pt x="404557" y="374589"/>
                </a:lnTo>
                <a:lnTo>
                  <a:pt x="380596" y="405496"/>
                </a:lnTo>
                <a:lnTo>
                  <a:pt x="294051" y="455649"/>
                </a:lnTo>
                <a:lnTo>
                  <a:pt x="386304" y="455649"/>
                </a:lnTo>
                <a:lnTo>
                  <a:pt x="424106" y="429989"/>
                </a:lnTo>
                <a:lnTo>
                  <a:pt x="449146" y="386801"/>
                </a:lnTo>
                <a:lnTo>
                  <a:pt x="452619" y="361270"/>
                </a:lnTo>
                <a:lnTo>
                  <a:pt x="452619" y="287721"/>
                </a:lnTo>
                <a:lnTo>
                  <a:pt x="545018" y="287721"/>
                </a:lnTo>
                <a:lnTo>
                  <a:pt x="452618" y="234137"/>
                </a:lnTo>
                <a:lnTo>
                  <a:pt x="452618" y="207899"/>
                </a:lnTo>
                <a:lnTo>
                  <a:pt x="406348" y="207899"/>
                </a:lnTo>
                <a:lnTo>
                  <a:pt x="400383" y="204450"/>
                </a:lnTo>
                <a:close/>
              </a:path>
              <a:path w="588645" h="574039">
                <a:moveTo>
                  <a:pt x="294081" y="158153"/>
                </a:moveTo>
                <a:lnTo>
                  <a:pt x="269036" y="161422"/>
                </a:lnTo>
                <a:lnTo>
                  <a:pt x="245424" y="171229"/>
                </a:lnTo>
                <a:lnTo>
                  <a:pt x="181719" y="207899"/>
                </a:lnTo>
                <a:lnTo>
                  <a:pt x="276706" y="207899"/>
                </a:lnTo>
                <a:lnTo>
                  <a:pt x="280928" y="206153"/>
                </a:lnTo>
                <a:lnTo>
                  <a:pt x="294081" y="204450"/>
                </a:lnTo>
                <a:lnTo>
                  <a:pt x="400383" y="204450"/>
                </a:lnTo>
                <a:lnTo>
                  <a:pt x="342921" y="171229"/>
                </a:lnTo>
                <a:lnTo>
                  <a:pt x="319172" y="161422"/>
                </a:lnTo>
                <a:lnTo>
                  <a:pt x="294081" y="158153"/>
                </a:lnTo>
                <a:close/>
              </a:path>
              <a:path w="588645" h="574039">
                <a:moveTo>
                  <a:pt x="397205" y="46305"/>
                </a:moveTo>
                <a:lnTo>
                  <a:pt x="294142" y="46305"/>
                </a:lnTo>
                <a:lnTo>
                  <a:pt x="304015" y="47573"/>
                </a:lnTo>
                <a:lnTo>
                  <a:pt x="313287" y="51374"/>
                </a:lnTo>
                <a:lnTo>
                  <a:pt x="386835" y="93729"/>
                </a:lnTo>
                <a:lnTo>
                  <a:pt x="406348" y="127280"/>
                </a:lnTo>
                <a:lnTo>
                  <a:pt x="406348" y="207899"/>
                </a:lnTo>
                <a:lnTo>
                  <a:pt x="452618" y="207899"/>
                </a:lnTo>
                <a:lnTo>
                  <a:pt x="452618" y="127280"/>
                </a:lnTo>
                <a:lnTo>
                  <a:pt x="441155" y="84834"/>
                </a:lnTo>
                <a:lnTo>
                  <a:pt x="409987" y="53697"/>
                </a:lnTo>
                <a:lnTo>
                  <a:pt x="397205" y="4630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9786" y="5516367"/>
            <a:ext cx="909400" cy="31979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47800" y="2211111"/>
            <a:ext cx="7543800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b="1" dirty="0">
                <a:solidFill>
                  <a:schemeClr val="bg1"/>
                </a:solidFill>
              </a:rPr>
              <a:t>Key </a:t>
            </a:r>
            <a:r>
              <a:rPr lang="en-US" sz="4000" b="1" dirty="0">
                <a:solidFill>
                  <a:schemeClr val="bg1"/>
                </a:solidFill>
                <a:latin typeface="Segoe UI"/>
                <a:ea typeface="+mj-ea"/>
                <a:cs typeface="Segoe UI"/>
              </a:rPr>
              <a:t>Features</a:t>
            </a:r>
            <a:r>
              <a:rPr lang="en-US" sz="4000" b="1" dirty="0">
                <a:solidFill>
                  <a:schemeClr val="bg1"/>
                </a:solidFill>
              </a:rPr>
              <a:t> – Business Perspective</a:t>
            </a:r>
            <a:endParaRPr sz="4000" b="1" dirty="0">
              <a:solidFill>
                <a:schemeClr val="bg1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6324A-66D8-62E2-01B8-5729DBB95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956" y="260730"/>
            <a:ext cx="11113770" cy="276999"/>
          </a:xfrm>
        </p:spPr>
        <p:txBody>
          <a:bodyPr/>
          <a:lstStyle/>
          <a:p>
            <a:r>
              <a:rPr lang="en-US" dirty="0"/>
              <a:t>Key Features 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AB6AACE-9D66-A508-2F4B-AD8987B02E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3618811"/>
              </p:ext>
            </p:extLst>
          </p:nvPr>
        </p:nvGraphicFramePr>
        <p:xfrm>
          <a:off x="627532" y="762000"/>
          <a:ext cx="11183468" cy="49859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9003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8425" y="1697862"/>
            <a:ext cx="4089400" cy="11919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4560"/>
              </a:lnSpc>
              <a:spcBef>
                <a:spcPts val="95"/>
              </a:spcBef>
            </a:pPr>
            <a:r>
              <a:rPr lang="en-US" sz="4000" spc="-10" dirty="0">
                <a:solidFill>
                  <a:srgbClr val="FFFFFF"/>
                </a:solidFill>
              </a:rPr>
              <a:t>Process Workflow</a:t>
            </a:r>
            <a:endParaRPr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diagram of a customer">
            <a:extLst>
              <a:ext uri="{FF2B5EF4-FFF2-40B4-BE49-F238E27FC236}">
                <a16:creationId xmlns:a16="http://schemas.microsoft.com/office/drawing/2014/main" id="{C929885F-12CB-0EFF-86DF-ECCE6C1BB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00025"/>
            <a:ext cx="10058400" cy="645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906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AE3E741-575B-FA28-3C74-858A9A260E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9165797"/>
              </p:ext>
            </p:extLst>
          </p:nvPr>
        </p:nvGraphicFramePr>
        <p:xfrm>
          <a:off x="685800" y="1295400"/>
          <a:ext cx="10629900" cy="4267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D17C77F-D58A-550D-6859-1DC9F7AD5FD7}"/>
              </a:ext>
            </a:extLst>
          </p:cNvPr>
          <p:cNvSpPr txBox="1"/>
          <p:nvPr/>
        </p:nvSpPr>
        <p:spPr>
          <a:xfrm>
            <a:off x="381000" y="2286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221BFF"/>
                </a:solidFill>
                <a:effectLst/>
                <a:uLnTx/>
                <a:uFillTx/>
                <a:latin typeface="Segoe UI"/>
                <a:ea typeface="+mj-ea"/>
                <a:cs typeface="Segoe UI"/>
              </a:rPr>
              <a:t>Use Cases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574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2133600"/>
            <a:ext cx="5408575" cy="11849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  <a:tabLst>
                <a:tab pos="644525" algn="l"/>
              </a:tabLst>
            </a:pPr>
            <a:r>
              <a:rPr lang="en-US" sz="4000" dirty="0">
                <a:solidFill>
                  <a:schemeClr val="bg1"/>
                </a:solidFill>
              </a:rPr>
              <a:t>Inputs &amp; Outputs – Business Keys</a:t>
            </a:r>
            <a:endParaRPr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Purpose: Explain what the client needs to provide and what they will get from the APIs.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752B35F8-B5CB-3A1A-A734-27B20507B5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594434"/>
              </p:ext>
            </p:extLst>
          </p:nvPr>
        </p:nvGraphicFramePr>
        <p:xfrm>
          <a:off x="457200" y="742241"/>
          <a:ext cx="11113770" cy="5125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BA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f1e79fc-1f4d-4187-a67d-c1c5354c13f8}" enabled="1" method="Standard" siteId="{e1304ad9-93ba-4557-8b20-8c1c1143b39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971</TotalTime>
  <Words>603</Words>
  <Application>Microsoft Office PowerPoint</Application>
  <PresentationFormat>Widescreen</PresentationFormat>
  <Paragraphs>89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Segoe UI</vt:lpstr>
      <vt:lpstr>Office Theme</vt:lpstr>
      <vt:lpstr>Api Marketplace  “Mutual Funds”</vt:lpstr>
      <vt:lpstr>Description</vt:lpstr>
      <vt:lpstr>Descriptions </vt:lpstr>
      <vt:lpstr>Terminologies </vt:lpstr>
      <vt:lpstr>PowerPoint Presentation</vt:lpstr>
      <vt:lpstr>PowerPoint Presentation</vt:lpstr>
      <vt:lpstr>Key Features </vt:lpstr>
      <vt:lpstr>Process Workflow</vt:lpstr>
      <vt:lpstr>PowerPoint Presentation</vt:lpstr>
      <vt:lpstr>PowerPoint Presentation</vt:lpstr>
      <vt:lpstr>Inputs &amp; Outputs – Business Keys</vt:lpstr>
      <vt:lpstr>Purpose: Explain what the client needs to provide and what they will get from the APIs.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Saed B. Basseet</dc:creator>
  <cp:lastModifiedBy>Marwan Ahmed Hafez | Ejada Systems</cp:lastModifiedBy>
  <cp:revision>8</cp:revision>
  <dcterms:created xsi:type="dcterms:W3CDTF">2025-08-14T10:33:30Z</dcterms:created>
  <dcterms:modified xsi:type="dcterms:W3CDTF">2025-09-15T10:59:33Z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2025-04-30T00:00:00Z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2025-08-14T00:00:00Z</vt:filetime>
  </property>
  <property fmtid="{D5CDD505-2E9C-101B-9397-08002B2CF9AE}" pid="5" name="Producer">
    <vt:lpwstr>Microsoft® PowerPoint® 2019</vt:lpwstr>
  </property>
  <property fmtid="{D5CDD505-2E9C-101B-9397-08002B2CF9AE}" pid="6" name="ClassificationContentMarkingFooterLocations">
    <vt:lpwstr>Office Theme:8</vt:lpwstr>
  </property>
  <property fmtid="{D5CDD505-2E9C-101B-9397-08002B2CF9AE}" pid="7" name="ClassificationContentMarkingFooterText">
    <vt:lpwstr>Ejada Internal Use Only</vt:lpwstr>
  </property>
</Properties>
</file>