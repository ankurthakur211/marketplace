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73" r:id="rId5"/>
    <p:sldId id="274" r:id="rId6"/>
    <p:sldId id="276" r:id="rId7"/>
    <p:sldId id="285" r:id="rId8"/>
    <p:sldId id="279" r:id="rId9"/>
    <p:sldId id="286" r:id="rId10"/>
    <p:sldId id="282" r:id="rId11"/>
    <p:sldId id="284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67" y="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3548" y="1835022"/>
            <a:ext cx="6577330" cy="158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532" y="1630816"/>
            <a:ext cx="5142230" cy="148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8190" y="6455613"/>
            <a:ext cx="230378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84979" y="6447028"/>
            <a:ext cx="26225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3A88E-C253-C725-A8FB-38D59CC87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3400" y="650466"/>
            <a:ext cx="5870652" cy="159466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lang="en-US" sz="5400" dirty="0">
                <a:solidFill>
                  <a:srgbClr val="FFFFFF"/>
                </a:solidFill>
              </a:rPr>
              <a:t>Api Marketplace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“Categorization”</a:t>
            </a:r>
            <a:endParaRPr sz="5400" dirty="0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19334"/>
              </p:ext>
            </p:extLst>
          </p:nvPr>
        </p:nvGraphicFramePr>
        <p:xfrm>
          <a:off x="6477000" y="2438400"/>
          <a:ext cx="5097780" cy="221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1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Description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876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2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Terminologies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3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Features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4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Process Workflow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5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Inputs/Outputs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246502"/>
            <a:ext cx="4252595" cy="6335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en-US" sz="4000" dirty="0">
                <a:solidFill>
                  <a:srgbClr val="FFFFFF"/>
                </a:solidFill>
              </a:rPr>
              <a:t>Description</a:t>
            </a:r>
            <a:endParaRPr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Descriptions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1DB378-25D1-9523-C9AC-B8664B7A957C}"/>
              </a:ext>
            </a:extLst>
          </p:cNvPr>
          <p:cNvSpPr txBox="1"/>
          <p:nvPr/>
        </p:nvSpPr>
        <p:spPr>
          <a:xfrm>
            <a:off x="457200" y="990600"/>
            <a:ext cx="1143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CB84B1-CF2B-4F72-993D-16EEE3D9E6A7}"/>
              </a:ext>
            </a:extLst>
          </p:cNvPr>
          <p:cNvSpPr txBox="1"/>
          <p:nvPr/>
        </p:nvSpPr>
        <p:spPr>
          <a:xfrm>
            <a:off x="152400" y="685800"/>
            <a:ext cx="11734800" cy="588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What is the API Marketplace?</a:t>
            </a:r>
          </a:p>
          <a:p>
            <a:pPr marL="285750" lvl="6" indent="-285750" algn="l" rtl="0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Categorization is an AI-powered service provided by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Drahim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(an ARG Subsidiary).</a:t>
            </a:r>
          </a:p>
          <a:p>
            <a:pPr marL="285750" lvl="8" indent="-285750" algn="l" rtl="0">
              <a:lnSpc>
                <a:spcPct val="90000"/>
              </a:lnSpc>
              <a:spcBef>
                <a:spcPts val="30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It classifies merchants based on their business type and allows customers to modify or update classifications when required.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What is a Categorization?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Categorization Service: An AI-powered solution that classifies merchants into predefined business categories based on their business type and transaction data.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What The Categorization Does:</a:t>
            </a:r>
          </a:p>
          <a:p>
            <a:pPr marL="285750" lvl="4" indent="-285750">
              <a:buFont typeface="Courier New" panose="02070309020205020404" pitchFamily="49" charset="0"/>
              <a:buChar char="o"/>
            </a:pPr>
            <a:r>
              <a:rPr lang="en-US" sz="1500" dirty="0">
                <a:latin typeface="Inter"/>
              </a:rPr>
              <a:t>Automatically classifies merchants using AI.</a:t>
            </a:r>
          </a:p>
          <a:p>
            <a:pPr marL="285750" lvl="2" indent="-285750">
              <a:buFont typeface="Courier New" panose="02070309020205020404" pitchFamily="49" charset="0"/>
              <a:buChar char="o"/>
            </a:pPr>
            <a:r>
              <a:rPr lang="en-US" sz="1500" dirty="0">
                <a:latin typeface="Inter"/>
              </a:rPr>
              <a:t>Allows customers to update or modify classifications when needed.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Inter"/>
              </a:rPr>
              <a:t>How It Will Be Used (B2B):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dirty="0">
                <a:latin typeface="Inter"/>
              </a:rPr>
              <a:t>Your business (Consumer) integrates with the </a:t>
            </a:r>
            <a:r>
              <a:rPr lang="en-US" sz="1500" b="1" dirty="0">
                <a:latin typeface="Inter"/>
              </a:rPr>
              <a:t>API Marketplace</a:t>
            </a:r>
            <a:r>
              <a:rPr lang="en-US" sz="1500" dirty="0">
                <a:latin typeface="Inter"/>
              </a:rPr>
              <a:t> to offer merchant categorization services to your customers through digital channels</a:t>
            </a:r>
            <a:r>
              <a:rPr lang="en-US" sz="1600" dirty="0"/>
              <a:t>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Quire Sans Pro Ligh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Advantages of Categorization (Business View):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dirty="0">
                <a:latin typeface="Inter"/>
              </a:rPr>
              <a:t>Provide accurate merchant classification without building your own AI solution.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dirty="0">
                <a:latin typeface="Inter"/>
              </a:rPr>
              <a:t>Unified and standardized access through the API Marketplace.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dirty="0">
                <a:latin typeface="Inter"/>
              </a:rPr>
              <a:t>Faster time to market for subsidiaries by reusing a ready service.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dirty="0">
                <a:latin typeface="Inter"/>
              </a:rPr>
              <a:t>Centralized monitoring, analytics, and security compliance.</a:t>
            </a:r>
            <a:endParaRPr kumimoji="0" lang="ar-EG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How It Works (Business Flow):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500" dirty="0">
                <a:latin typeface="Inter"/>
              </a:rPr>
              <a:t>Customers send merchant details → API Marketplace processes → Categorization result is returned.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794838"/>
            <a:ext cx="4271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>
                <a:solidFill>
                  <a:srgbClr val="FFFFFF"/>
                </a:solidFill>
              </a:rPr>
              <a:t>Terminologies </a:t>
            </a:r>
            <a:endParaRPr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956" y="260730"/>
            <a:ext cx="10017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21BFF"/>
                </a:solidFill>
                <a:latin typeface="Segoe UI"/>
                <a:cs typeface="Segoe UI"/>
              </a:rPr>
              <a:t>Terminologies- Business Definitions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4979" y="6447028"/>
            <a:ext cx="224154" cy="177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1</a:t>
            </a:r>
            <a:r>
              <a:rPr sz="900" spc="4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7E7E7E"/>
                </a:solidFill>
                <a:latin typeface="Segoe UI"/>
                <a:cs typeface="Segoe UI"/>
              </a:rPr>
              <a:t>9</a:t>
            </a: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endParaRPr sz="900" dirty="0">
              <a:latin typeface="Segoe UI"/>
              <a:cs typeface="Segoe U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2694AB-2BAA-AC1B-E888-3CC486CA6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479537"/>
              </p:ext>
            </p:extLst>
          </p:nvPr>
        </p:nvGraphicFramePr>
        <p:xfrm>
          <a:off x="558190" y="600710"/>
          <a:ext cx="11329010" cy="480948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0641">
                  <a:extLst>
                    <a:ext uri="{9D8B030D-6E8A-4147-A177-3AD203B41FA5}">
                      <a16:colId xmlns:a16="http://schemas.microsoft.com/office/drawing/2014/main" val="795359942"/>
                    </a:ext>
                  </a:extLst>
                </a:gridCol>
                <a:gridCol w="8638369">
                  <a:extLst>
                    <a:ext uri="{9D8B030D-6E8A-4147-A177-3AD203B41FA5}">
                      <a16:colId xmlns:a16="http://schemas.microsoft.com/office/drawing/2014/main" val="3716767133"/>
                    </a:ext>
                  </a:extLst>
                </a:gridCol>
              </a:tblGrid>
              <a:tr h="860315">
                <a:tc>
                  <a:txBody>
                    <a:bodyPr/>
                    <a:lstStyle/>
                    <a:p>
                      <a:r>
                        <a:rPr lang="en-US" dirty="0"/>
                        <a:t>Merchant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 business entity that provides goods or services.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383261"/>
                  </a:ext>
                </a:extLst>
              </a:tr>
              <a:tr h="1021844">
                <a:tc>
                  <a:txBody>
                    <a:bodyPr/>
                    <a:lstStyle/>
                    <a:p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Categorization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Assigning merchants into predefined business categories (e.g., Food &amp; Beverage, Electronics, Retail)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764608"/>
                  </a:ext>
                </a:extLst>
              </a:tr>
              <a:tr h="715290">
                <a:tc>
                  <a:txBody>
                    <a:bodyPr/>
                    <a:lstStyle/>
                    <a:p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Merchant Category Code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Standardized 4-digit code used globally to classify merchants.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86589"/>
                  </a:ext>
                </a:extLst>
              </a:tr>
              <a:tr h="1104070">
                <a:tc>
                  <a:txBody>
                    <a:bodyPr/>
                    <a:lstStyle/>
                    <a:p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Consumer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Subsidiary using the service.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093206"/>
                  </a:ext>
                </a:extLst>
              </a:tr>
              <a:tr h="1107970">
                <a:tc>
                  <a:txBody>
                    <a:bodyPr/>
                    <a:lstStyle/>
                    <a:p>
                      <a:r>
                        <a:rPr lang="en-US" b="1" dirty="0"/>
                        <a:t>Customer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End user interacting with the categorization service.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681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7800" y="2211111"/>
            <a:ext cx="7543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bg1"/>
                </a:solidFill>
              </a:rPr>
              <a:t>Key </a:t>
            </a:r>
            <a:r>
              <a:rPr lang="en-US" sz="4000" b="1" dirty="0">
                <a:solidFill>
                  <a:schemeClr val="bg1"/>
                </a:solidFill>
                <a:latin typeface="Segoe UI"/>
                <a:ea typeface="+mj-ea"/>
                <a:cs typeface="Segoe UI"/>
              </a:rPr>
              <a:t>Features</a:t>
            </a:r>
            <a:r>
              <a:rPr lang="en-US" sz="4000" b="1" dirty="0">
                <a:solidFill>
                  <a:schemeClr val="bg1"/>
                </a:solidFill>
              </a:rPr>
              <a:t> – Business Perspective</a:t>
            </a:r>
            <a:endParaRPr sz="40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324A-66D8-62E2-01B8-5729DBB9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76999"/>
          </a:xfrm>
        </p:spPr>
        <p:txBody>
          <a:bodyPr/>
          <a:lstStyle/>
          <a:p>
            <a:r>
              <a:rPr lang="en-US" dirty="0"/>
              <a:t>Key Features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4F4634-84A8-BB8D-0AD7-B1345547B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566" y="914400"/>
            <a:ext cx="10954868" cy="2991588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Automated classification of merchants using AI.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Ability for customers to modify or update classifications.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Unified access for all subsidiaries through the API Marketplace.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Strong security standards using OAuth2 + </a:t>
            </a:r>
            <a:r>
              <a:rPr lang="en-US" sz="2000" dirty="0" err="1"/>
              <a:t>MTLS.Centralized</a:t>
            </a:r>
            <a:r>
              <a:rPr lang="en-US" sz="2000" dirty="0"/>
              <a:t> audit logs and consolidated analytics.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Scalable and high-performing API (average 2–5 seconds response).</a:t>
            </a:r>
          </a:p>
        </p:txBody>
      </p:sp>
    </p:spTree>
    <p:extLst>
      <p:ext uri="{BB962C8B-B14F-4D97-AF65-F5344CB8AC3E}">
        <p14:creationId xmlns:p14="http://schemas.microsoft.com/office/powerpoint/2010/main" val="23790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1697862"/>
            <a:ext cx="40894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lang="en-US" sz="4000" spc="-10" dirty="0">
                <a:solidFill>
                  <a:srgbClr val="FFFFFF"/>
                </a:solidFill>
              </a:rPr>
              <a:t>Process Workflow</a:t>
            </a:r>
            <a:endParaRPr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 service">
            <a:extLst>
              <a:ext uri="{FF2B5EF4-FFF2-40B4-BE49-F238E27FC236}">
                <a16:creationId xmlns:a16="http://schemas.microsoft.com/office/drawing/2014/main" id="{70967D94-ED6F-6BB4-59A5-9D96C927B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7650"/>
            <a:ext cx="104394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0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133600"/>
            <a:ext cx="540857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44525" algn="l"/>
              </a:tabLst>
            </a:pPr>
            <a:r>
              <a:rPr lang="en-US" sz="4000" dirty="0">
                <a:solidFill>
                  <a:schemeClr val="bg1"/>
                </a:solidFill>
              </a:rPr>
              <a:t>Inputs &amp; Outputs – Business Keys</a:t>
            </a:r>
            <a:endParaRPr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Purpose: Explain what the client needs to provide and what they will get from the APIs.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</a:t>
            </a:r>
            <a:r>
              <a:rPr spc="40" dirty="0"/>
              <a:t> </a:t>
            </a:r>
            <a:r>
              <a:rPr spc="-50" dirty="0"/>
              <a:t>9</a:t>
            </a:r>
            <a:r>
              <a:rPr dirty="0"/>
              <a:t>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42C7765-66C9-0198-88F1-18F3A6B88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49991"/>
            <a:ext cx="1066800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 (Business Perspective):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Merchant Name(Mandatory)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MerchantID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(Optional)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MerchantMccCode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(Optional)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MerchantPayment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Type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(Optional)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 (Business Perspective):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CategoryID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CategoryName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dirty="0"/>
              <a:t>Verified Merchant details (Name, Logo, Description)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Confirmation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BA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2386</TotalTime>
  <Words>401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Inter</vt:lpstr>
      <vt:lpstr>Quire Sans Pro Light</vt:lpstr>
      <vt:lpstr>Segoe UI</vt:lpstr>
      <vt:lpstr>Office Theme</vt:lpstr>
      <vt:lpstr>Api Marketplace  “Categorization”</vt:lpstr>
      <vt:lpstr>Description</vt:lpstr>
      <vt:lpstr>Descriptions </vt:lpstr>
      <vt:lpstr>Terminologies </vt:lpstr>
      <vt:lpstr>PowerPoint Presentation</vt:lpstr>
      <vt:lpstr>PowerPoint Presentation</vt:lpstr>
      <vt:lpstr>Key Features </vt:lpstr>
      <vt:lpstr>Process Workflow</vt:lpstr>
      <vt:lpstr>PowerPoint Presentation</vt:lpstr>
      <vt:lpstr>Inputs &amp; Outputs – Business Keys</vt:lpstr>
      <vt:lpstr>Purpose: Explain what the client needs to provide and what they will get from the APIs.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Saed B. Basseet</dc:creator>
  <cp:lastModifiedBy>Marwan Ahmed Hafez | Ejada Systems</cp:lastModifiedBy>
  <cp:revision>4</cp:revision>
  <dcterms:created xsi:type="dcterms:W3CDTF">2025-08-14T10:33:30Z</dcterms:created>
  <dcterms:modified xsi:type="dcterms:W3CDTF">2025-09-02T10:55:07Z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2025-08-14T00:00:00Z</vt:filetime>
  </property>
  <property fmtid="{D5CDD505-2E9C-101B-9397-08002B2CF9AE}" pid="5" name="Producer">
    <vt:lpwstr>Microsoft® PowerPoint® 2019</vt:lpwstr>
  </property>
  <property fmtid="{D5CDD505-2E9C-101B-9397-08002B2CF9AE}" pid="6" name="ClassificationContentMarkingFooterLocations">
    <vt:lpwstr>Office Theme:8</vt:lpwstr>
  </property>
  <property fmtid="{D5CDD505-2E9C-101B-9397-08002B2CF9AE}" pid="7" name="ClassificationContentMarkingFooterText">
    <vt:lpwstr>Ejada Internal Use Only</vt:lpwstr>
  </property>
</Properties>
</file>