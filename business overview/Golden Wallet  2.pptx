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0" r:id="rId3"/>
    <p:sldId id="261" r:id="rId4"/>
    <p:sldId id="273" r:id="rId5"/>
    <p:sldId id="274" r:id="rId6"/>
    <p:sldId id="276" r:id="rId7"/>
    <p:sldId id="285" r:id="rId8"/>
    <p:sldId id="279" r:id="rId9"/>
    <p:sldId id="286" r:id="rId10"/>
    <p:sldId id="282" r:id="rId11"/>
    <p:sldId id="284" r:id="rId12"/>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65" autoAdjust="0"/>
    <p:restoredTop sz="94660"/>
  </p:normalViewPr>
  <p:slideViewPr>
    <p:cSldViewPr>
      <p:cViewPr varScale="1">
        <p:scale>
          <a:sx n="81" d="100"/>
          <a:sy n="81" d="100"/>
        </p:scale>
        <p:origin x="72" y="26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221AFF"/>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11483916" y="6448845"/>
            <a:ext cx="217269" cy="211420"/>
          </a:xfrm>
          <a:prstGeom prst="rect">
            <a:avLst/>
          </a:prstGeom>
        </p:spPr>
      </p:pic>
      <p:sp>
        <p:nvSpPr>
          <p:cNvPr id="18" name="bg object 18"/>
          <p:cNvSpPr/>
          <p:nvPr/>
        </p:nvSpPr>
        <p:spPr>
          <a:xfrm>
            <a:off x="10541241" y="5339938"/>
            <a:ext cx="588645" cy="574040"/>
          </a:xfrm>
          <a:custGeom>
            <a:avLst/>
            <a:gdLst/>
            <a:ahLst/>
            <a:cxnLst/>
            <a:rect l="l" t="t" r="r" b="b"/>
            <a:pathLst>
              <a:path w="588645" h="574039">
                <a:moveTo>
                  <a:pt x="294068" y="0"/>
                </a:moveTo>
                <a:lnTo>
                  <a:pt x="251662" y="11307"/>
                </a:lnTo>
                <a:lnTo>
                  <a:pt x="178080" y="53697"/>
                </a:lnTo>
                <a:lnTo>
                  <a:pt x="146925" y="84834"/>
                </a:lnTo>
                <a:lnTo>
                  <a:pt x="135449" y="127280"/>
                </a:lnTo>
                <a:lnTo>
                  <a:pt x="135449" y="234137"/>
                </a:lnTo>
                <a:lnTo>
                  <a:pt x="42631" y="287964"/>
                </a:lnTo>
                <a:lnTo>
                  <a:pt x="24901" y="301538"/>
                </a:lnTo>
                <a:lnTo>
                  <a:pt x="11476" y="318963"/>
                </a:lnTo>
                <a:lnTo>
                  <a:pt x="2971" y="339214"/>
                </a:lnTo>
                <a:lnTo>
                  <a:pt x="0" y="361270"/>
                </a:lnTo>
                <a:lnTo>
                  <a:pt x="0" y="446291"/>
                </a:lnTo>
                <a:lnTo>
                  <a:pt x="11476" y="488753"/>
                </a:lnTo>
                <a:lnTo>
                  <a:pt x="42631" y="519884"/>
                </a:lnTo>
                <a:lnTo>
                  <a:pt x="116213" y="562263"/>
                </a:lnTo>
                <a:lnTo>
                  <a:pt x="158602" y="573704"/>
                </a:lnTo>
                <a:lnTo>
                  <a:pt x="169640" y="572977"/>
                </a:lnTo>
                <a:lnTo>
                  <a:pt x="180489" y="570812"/>
                </a:lnTo>
                <a:lnTo>
                  <a:pt x="191053" y="567233"/>
                </a:lnTo>
                <a:lnTo>
                  <a:pt x="201233" y="562263"/>
                </a:lnTo>
                <a:lnTo>
                  <a:pt x="261949" y="527293"/>
                </a:lnTo>
                <a:lnTo>
                  <a:pt x="158723" y="527293"/>
                </a:lnTo>
                <a:lnTo>
                  <a:pt x="148778" y="526026"/>
                </a:lnTo>
                <a:lnTo>
                  <a:pt x="65783" y="479845"/>
                </a:lnTo>
                <a:lnTo>
                  <a:pt x="46270" y="446291"/>
                </a:lnTo>
                <a:lnTo>
                  <a:pt x="46270" y="361270"/>
                </a:lnTo>
                <a:lnTo>
                  <a:pt x="47637" y="351318"/>
                </a:lnTo>
                <a:lnTo>
                  <a:pt x="51543" y="342098"/>
                </a:lnTo>
                <a:lnTo>
                  <a:pt x="57690" y="334145"/>
                </a:lnTo>
                <a:lnTo>
                  <a:pt x="65783" y="327996"/>
                </a:lnTo>
                <a:lnTo>
                  <a:pt x="135449" y="287721"/>
                </a:lnTo>
                <a:lnTo>
                  <a:pt x="181719" y="287721"/>
                </a:lnTo>
                <a:lnTo>
                  <a:pt x="181719" y="261171"/>
                </a:lnTo>
                <a:lnTo>
                  <a:pt x="268576" y="211261"/>
                </a:lnTo>
                <a:lnTo>
                  <a:pt x="276706" y="207899"/>
                </a:lnTo>
                <a:lnTo>
                  <a:pt x="181719" y="207899"/>
                </a:lnTo>
                <a:lnTo>
                  <a:pt x="181719" y="127280"/>
                </a:lnTo>
                <a:lnTo>
                  <a:pt x="201233" y="93729"/>
                </a:lnTo>
                <a:lnTo>
                  <a:pt x="274815" y="51374"/>
                </a:lnTo>
                <a:lnTo>
                  <a:pt x="294142" y="46305"/>
                </a:lnTo>
                <a:lnTo>
                  <a:pt x="397205" y="46305"/>
                </a:lnTo>
                <a:lnTo>
                  <a:pt x="336682" y="11307"/>
                </a:lnTo>
                <a:lnTo>
                  <a:pt x="315970" y="2826"/>
                </a:lnTo>
                <a:lnTo>
                  <a:pt x="294068" y="0"/>
                </a:lnTo>
                <a:close/>
              </a:path>
              <a:path w="588645" h="574039">
                <a:moveTo>
                  <a:pt x="386995" y="508963"/>
                </a:moveTo>
                <a:lnTo>
                  <a:pt x="294294" y="508963"/>
                </a:lnTo>
                <a:lnTo>
                  <a:pt x="386835" y="562263"/>
                </a:lnTo>
                <a:lnTo>
                  <a:pt x="397016" y="567233"/>
                </a:lnTo>
                <a:lnTo>
                  <a:pt x="407583" y="570812"/>
                </a:lnTo>
                <a:lnTo>
                  <a:pt x="418443" y="572977"/>
                </a:lnTo>
                <a:lnTo>
                  <a:pt x="429501" y="573704"/>
                </a:lnTo>
                <a:lnTo>
                  <a:pt x="440432" y="572977"/>
                </a:lnTo>
                <a:lnTo>
                  <a:pt x="451263" y="570812"/>
                </a:lnTo>
                <a:lnTo>
                  <a:pt x="461801" y="567233"/>
                </a:lnTo>
                <a:lnTo>
                  <a:pt x="471855" y="562263"/>
                </a:lnTo>
                <a:lnTo>
                  <a:pt x="532573" y="527293"/>
                </a:lnTo>
                <a:lnTo>
                  <a:pt x="429362" y="527293"/>
                </a:lnTo>
                <a:lnTo>
                  <a:pt x="419405" y="526026"/>
                </a:lnTo>
                <a:lnTo>
                  <a:pt x="409987" y="522224"/>
                </a:lnTo>
                <a:lnTo>
                  <a:pt x="386995" y="508963"/>
                </a:lnTo>
                <a:close/>
              </a:path>
              <a:path w="588645" h="574039">
                <a:moveTo>
                  <a:pt x="181719" y="287721"/>
                </a:moveTo>
                <a:lnTo>
                  <a:pt x="135449" y="287721"/>
                </a:lnTo>
                <a:lnTo>
                  <a:pt x="135449" y="361270"/>
                </a:lnTo>
                <a:lnTo>
                  <a:pt x="148576" y="409937"/>
                </a:lnTo>
                <a:lnTo>
                  <a:pt x="184319" y="445528"/>
                </a:lnTo>
                <a:lnTo>
                  <a:pt x="247503" y="482185"/>
                </a:lnTo>
                <a:lnTo>
                  <a:pt x="178080" y="522224"/>
                </a:lnTo>
                <a:lnTo>
                  <a:pt x="168668" y="526026"/>
                </a:lnTo>
                <a:lnTo>
                  <a:pt x="158723" y="527293"/>
                </a:lnTo>
                <a:lnTo>
                  <a:pt x="261949" y="527293"/>
                </a:lnTo>
                <a:lnTo>
                  <a:pt x="293774" y="508963"/>
                </a:lnTo>
                <a:lnTo>
                  <a:pt x="386995" y="508963"/>
                </a:lnTo>
                <a:lnTo>
                  <a:pt x="340564" y="482185"/>
                </a:lnTo>
                <a:lnTo>
                  <a:pt x="386304" y="455649"/>
                </a:lnTo>
                <a:lnTo>
                  <a:pt x="294051" y="455649"/>
                </a:lnTo>
                <a:lnTo>
                  <a:pt x="207472" y="405496"/>
                </a:lnTo>
                <a:lnTo>
                  <a:pt x="196751" y="397304"/>
                </a:lnTo>
                <a:lnTo>
                  <a:pt x="188643" y="386801"/>
                </a:lnTo>
                <a:lnTo>
                  <a:pt x="183511" y="374589"/>
                </a:lnTo>
                <a:lnTo>
                  <a:pt x="181720" y="361270"/>
                </a:lnTo>
                <a:lnTo>
                  <a:pt x="181719" y="287721"/>
                </a:lnTo>
                <a:close/>
              </a:path>
              <a:path w="588645" h="574039">
                <a:moveTo>
                  <a:pt x="545018" y="287721"/>
                </a:moveTo>
                <a:lnTo>
                  <a:pt x="452619" y="287721"/>
                </a:lnTo>
                <a:lnTo>
                  <a:pt x="522284" y="327996"/>
                </a:lnTo>
                <a:lnTo>
                  <a:pt x="530378" y="334145"/>
                </a:lnTo>
                <a:lnTo>
                  <a:pt x="536525" y="342098"/>
                </a:lnTo>
                <a:lnTo>
                  <a:pt x="540430" y="351318"/>
                </a:lnTo>
                <a:lnTo>
                  <a:pt x="541798" y="361270"/>
                </a:lnTo>
                <a:lnTo>
                  <a:pt x="541798" y="446291"/>
                </a:lnTo>
                <a:lnTo>
                  <a:pt x="540528" y="455649"/>
                </a:lnTo>
                <a:lnTo>
                  <a:pt x="540430" y="456368"/>
                </a:lnTo>
                <a:lnTo>
                  <a:pt x="448737" y="522224"/>
                </a:lnTo>
                <a:lnTo>
                  <a:pt x="429362" y="527293"/>
                </a:lnTo>
                <a:lnTo>
                  <a:pt x="532573" y="527293"/>
                </a:lnTo>
                <a:lnTo>
                  <a:pt x="576605" y="488753"/>
                </a:lnTo>
                <a:lnTo>
                  <a:pt x="588068" y="446291"/>
                </a:lnTo>
                <a:lnTo>
                  <a:pt x="588068" y="361270"/>
                </a:lnTo>
                <a:lnTo>
                  <a:pt x="585101" y="339214"/>
                </a:lnTo>
                <a:lnTo>
                  <a:pt x="576604" y="318963"/>
                </a:lnTo>
                <a:lnTo>
                  <a:pt x="563181" y="301538"/>
                </a:lnTo>
                <a:lnTo>
                  <a:pt x="545437" y="287964"/>
                </a:lnTo>
                <a:lnTo>
                  <a:pt x="545018" y="287721"/>
                </a:lnTo>
                <a:close/>
              </a:path>
              <a:path w="588645" h="574039">
                <a:moveTo>
                  <a:pt x="400383" y="204450"/>
                </a:moveTo>
                <a:lnTo>
                  <a:pt x="294081" y="204450"/>
                </a:lnTo>
                <a:lnTo>
                  <a:pt x="307281" y="206153"/>
                </a:lnTo>
                <a:lnTo>
                  <a:pt x="319768" y="211261"/>
                </a:lnTo>
                <a:lnTo>
                  <a:pt x="406348" y="261171"/>
                </a:lnTo>
                <a:lnTo>
                  <a:pt x="406348" y="361270"/>
                </a:lnTo>
                <a:lnTo>
                  <a:pt x="404557" y="374589"/>
                </a:lnTo>
                <a:lnTo>
                  <a:pt x="380596" y="405496"/>
                </a:lnTo>
                <a:lnTo>
                  <a:pt x="294051" y="455649"/>
                </a:lnTo>
                <a:lnTo>
                  <a:pt x="386304" y="455649"/>
                </a:lnTo>
                <a:lnTo>
                  <a:pt x="424106" y="429989"/>
                </a:lnTo>
                <a:lnTo>
                  <a:pt x="449146" y="386801"/>
                </a:lnTo>
                <a:lnTo>
                  <a:pt x="452619" y="361270"/>
                </a:lnTo>
                <a:lnTo>
                  <a:pt x="452619" y="287721"/>
                </a:lnTo>
                <a:lnTo>
                  <a:pt x="545018" y="287721"/>
                </a:lnTo>
                <a:lnTo>
                  <a:pt x="452618" y="234137"/>
                </a:lnTo>
                <a:lnTo>
                  <a:pt x="452618" y="207899"/>
                </a:lnTo>
                <a:lnTo>
                  <a:pt x="406348" y="207899"/>
                </a:lnTo>
                <a:lnTo>
                  <a:pt x="400383" y="204450"/>
                </a:lnTo>
                <a:close/>
              </a:path>
              <a:path w="588645" h="574039">
                <a:moveTo>
                  <a:pt x="294081" y="158153"/>
                </a:moveTo>
                <a:lnTo>
                  <a:pt x="269036" y="161422"/>
                </a:lnTo>
                <a:lnTo>
                  <a:pt x="245424" y="171229"/>
                </a:lnTo>
                <a:lnTo>
                  <a:pt x="181719" y="207899"/>
                </a:lnTo>
                <a:lnTo>
                  <a:pt x="276706" y="207899"/>
                </a:lnTo>
                <a:lnTo>
                  <a:pt x="280928" y="206153"/>
                </a:lnTo>
                <a:lnTo>
                  <a:pt x="294081" y="204450"/>
                </a:lnTo>
                <a:lnTo>
                  <a:pt x="400383" y="204450"/>
                </a:lnTo>
                <a:lnTo>
                  <a:pt x="342921" y="171229"/>
                </a:lnTo>
                <a:lnTo>
                  <a:pt x="319172" y="161422"/>
                </a:lnTo>
                <a:lnTo>
                  <a:pt x="294081" y="158153"/>
                </a:lnTo>
                <a:close/>
              </a:path>
              <a:path w="588645" h="574039">
                <a:moveTo>
                  <a:pt x="397205" y="46305"/>
                </a:moveTo>
                <a:lnTo>
                  <a:pt x="294142" y="46305"/>
                </a:lnTo>
                <a:lnTo>
                  <a:pt x="304015" y="47573"/>
                </a:lnTo>
                <a:lnTo>
                  <a:pt x="313287" y="51374"/>
                </a:lnTo>
                <a:lnTo>
                  <a:pt x="386835" y="93729"/>
                </a:lnTo>
                <a:lnTo>
                  <a:pt x="406348" y="127280"/>
                </a:lnTo>
                <a:lnTo>
                  <a:pt x="406348" y="207899"/>
                </a:lnTo>
                <a:lnTo>
                  <a:pt x="452618" y="207899"/>
                </a:lnTo>
                <a:lnTo>
                  <a:pt x="452618" y="127280"/>
                </a:lnTo>
                <a:lnTo>
                  <a:pt x="441155" y="84834"/>
                </a:lnTo>
                <a:lnTo>
                  <a:pt x="409987" y="53697"/>
                </a:lnTo>
                <a:lnTo>
                  <a:pt x="397205" y="46305"/>
                </a:lnTo>
                <a:close/>
              </a:path>
            </a:pathLst>
          </a:custGeom>
          <a:solidFill>
            <a:srgbClr val="FFFFFF"/>
          </a:solidFill>
        </p:spPr>
        <p:txBody>
          <a:bodyPr wrap="square" lIns="0" tIns="0" rIns="0" bIns="0" rtlCol="0"/>
          <a:lstStyle/>
          <a:p>
            <a:endParaRPr/>
          </a:p>
        </p:txBody>
      </p:sp>
      <p:pic>
        <p:nvPicPr>
          <p:cNvPr id="19" name="bg object 19"/>
          <p:cNvPicPr/>
          <p:nvPr/>
        </p:nvPicPr>
        <p:blipFill>
          <a:blip r:embed="rId3" cstate="print"/>
          <a:stretch>
            <a:fillRect/>
          </a:stretch>
        </p:blipFill>
        <p:spPr>
          <a:xfrm>
            <a:off x="9519786" y="5516367"/>
            <a:ext cx="909400" cy="319797"/>
          </a:xfrm>
          <a:prstGeom prst="rect">
            <a:avLst/>
          </a:prstGeom>
        </p:spPr>
      </p:pic>
      <p:sp>
        <p:nvSpPr>
          <p:cNvPr id="2" name="Holder 2"/>
          <p:cNvSpPr>
            <a:spLocks noGrp="1"/>
          </p:cNvSpPr>
          <p:nvPr>
            <p:ph type="ctrTitle"/>
          </p:nvPr>
        </p:nvSpPr>
        <p:spPr>
          <a:xfrm>
            <a:off x="1063548" y="1835022"/>
            <a:ext cx="6577330" cy="1589404"/>
          </a:xfrm>
          <a:prstGeom prst="rect">
            <a:avLst/>
          </a:prstGeom>
        </p:spPr>
        <p:txBody>
          <a:bodyPr wrap="square" lIns="0" tIns="0" rIns="0" bIns="0">
            <a:spAutoFit/>
          </a:bodyPr>
          <a:lstStyle>
            <a:lvl1pPr>
              <a:defRPr sz="1800" b="1" i="0">
                <a:solidFill>
                  <a:srgbClr val="221BFF"/>
                </a:solidFill>
                <a:latin typeface="Segoe UI"/>
                <a:cs typeface="Segoe U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7E7E7E"/>
                </a:solidFill>
                <a:latin typeface="Segoe UI"/>
                <a:cs typeface="Segoe UI"/>
              </a:defRPr>
            </a:lvl1pPr>
          </a:lstStyle>
          <a:p>
            <a:pPr marL="12700">
              <a:lnSpc>
                <a:spcPct val="100000"/>
              </a:lnSpc>
              <a:spcBef>
                <a:spcPts val="165"/>
              </a:spcBef>
            </a:pPr>
            <a:r>
              <a:rPr dirty="0"/>
              <a:t>1</a:t>
            </a:r>
            <a:r>
              <a:rPr spc="70" dirty="0"/>
              <a:t> </a:t>
            </a:r>
            <a:r>
              <a:rPr dirty="0"/>
              <a:t>Q</a:t>
            </a:r>
            <a:r>
              <a:rPr spc="85" dirty="0"/>
              <a:t> </a:t>
            </a:r>
            <a:r>
              <a:rPr dirty="0"/>
              <a:t>2</a:t>
            </a:r>
            <a:r>
              <a:rPr spc="75" dirty="0"/>
              <a:t> </a:t>
            </a:r>
            <a:r>
              <a:rPr dirty="0"/>
              <a:t>0</a:t>
            </a:r>
            <a:r>
              <a:rPr spc="75" dirty="0"/>
              <a:t> </a:t>
            </a:r>
            <a:r>
              <a:rPr dirty="0"/>
              <a:t>2</a:t>
            </a:r>
            <a:r>
              <a:rPr spc="75" dirty="0"/>
              <a:t> </a:t>
            </a:r>
            <a:r>
              <a:rPr dirty="0"/>
              <a:t>5</a:t>
            </a:r>
            <a:r>
              <a:rPr spc="204" dirty="0"/>
              <a:t>  </a:t>
            </a:r>
            <a:r>
              <a:rPr dirty="0"/>
              <a:t>R</a:t>
            </a:r>
            <a:r>
              <a:rPr spc="75" dirty="0"/>
              <a:t> </a:t>
            </a:r>
            <a:r>
              <a:rPr dirty="0"/>
              <a:t>e</a:t>
            </a:r>
            <a:r>
              <a:rPr spc="80" dirty="0"/>
              <a:t> </a:t>
            </a:r>
            <a:r>
              <a:rPr dirty="0"/>
              <a:t>s</a:t>
            </a:r>
            <a:r>
              <a:rPr spc="70" dirty="0"/>
              <a:t> </a:t>
            </a:r>
            <a:r>
              <a:rPr dirty="0"/>
              <a:t>u</a:t>
            </a:r>
            <a:r>
              <a:rPr spc="80" dirty="0"/>
              <a:t> </a:t>
            </a:r>
            <a:r>
              <a:rPr dirty="0"/>
              <a:t>l</a:t>
            </a:r>
            <a:r>
              <a:rPr spc="75" dirty="0"/>
              <a:t> </a:t>
            </a:r>
            <a:r>
              <a:rPr dirty="0"/>
              <a:t>t</a:t>
            </a:r>
            <a:r>
              <a:rPr spc="80" dirty="0"/>
              <a:t> </a:t>
            </a:r>
            <a:r>
              <a:rPr dirty="0"/>
              <a:t>s</a:t>
            </a:r>
            <a:r>
              <a:rPr spc="190" dirty="0"/>
              <a:t>  </a:t>
            </a:r>
            <a:r>
              <a:rPr dirty="0"/>
              <a:t>P</a:t>
            </a:r>
            <a:r>
              <a:rPr spc="85" dirty="0"/>
              <a:t> </a:t>
            </a:r>
            <a:r>
              <a:rPr dirty="0"/>
              <a:t>r</a:t>
            </a:r>
            <a:r>
              <a:rPr spc="75" dirty="0"/>
              <a:t> </a:t>
            </a:r>
            <a:r>
              <a:rPr dirty="0"/>
              <a:t>e</a:t>
            </a:r>
            <a:r>
              <a:rPr spc="80" dirty="0"/>
              <a:t> </a:t>
            </a:r>
            <a:r>
              <a:rPr dirty="0"/>
              <a:t>s</a:t>
            </a:r>
            <a:r>
              <a:rPr spc="70" dirty="0"/>
              <a:t> </a:t>
            </a:r>
            <a:r>
              <a:rPr dirty="0"/>
              <a:t>e</a:t>
            </a:r>
            <a:r>
              <a:rPr spc="80" dirty="0"/>
              <a:t> </a:t>
            </a:r>
            <a:r>
              <a:rPr dirty="0"/>
              <a:t>n</a:t>
            </a:r>
            <a:r>
              <a:rPr spc="80" dirty="0"/>
              <a:t> </a:t>
            </a:r>
            <a:r>
              <a:rPr dirty="0"/>
              <a:t>t</a:t>
            </a:r>
            <a:r>
              <a:rPr spc="75" dirty="0"/>
              <a:t> </a:t>
            </a:r>
            <a:r>
              <a:rPr dirty="0"/>
              <a:t>a</a:t>
            </a:r>
            <a:r>
              <a:rPr spc="75" dirty="0"/>
              <a:t> </a:t>
            </a:r>
            <a:r>
              <a:rPr dirty="0"/>
              <a:t>t</a:t>
            </a:r>
            <a:r>
              <a:rPr spc="80" dirty="0"/>
              <a:t> </a:t>
            </a:r>
            <a:r>
              <a:rPr dirty="0"/>
              <a:t>i</a:t>
            </a:r>
            <a:r>
              <a:rPr spc="75" dirty="0"/>
              <a:t> </a:t>
            </a:r>
            <a:r>
              <a:rPr dirty="0"/>
              <a:t>o</a:t>
            </a:r>
            <a:r>
              <a:rPr spc="75" dirty="0"/>
              <a:t> </a:t>
            </a:r>
            <a:r>
              <a:rPr spc="-50" dirty="0"/>
              <a:t>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9/1/2025</a:t>
            </a:fld>
            <a:endParaRPr lang="en-US"/>
          </a:p>
        </p:txBody>
      </p:sp>
      <p:sp>
        <p:nvSpPr>
          <p:cNvPr id="6" name="Holder 6"/>
          <p:cNvSpPr>
            <a:spLocks noGrp="1"/>
          </p:cNvSpPr>
          <p:nvPr>
            <p:ph type="sldNum" sz="quarter" idx="7"/>
          </p:nvPr>
        </p:nvSpPr>
        <p:spPr/>
        <p:txBody>
          <a:bodyPr lIns="0" tIns="0" rIns="0" bIns="0"/>
          <a:lstStyle>
            <a:lvl1pPr>
              <a:defRPr sz="900" b="0" i="0">
                <a:solidFill>
                  <a:srgbClr val="7E7E7E"/>
                </a:solidFill>
                <a:latin typeface="Segoe UI"/>
                <a:cs typeface="Segoe UI"/>
              </a:defRPr>
            </a:lvl1pPr>
          </a:lstStyle>
          <a:p>
            <a:pPr marL="111760">
              <a:lnSpc>
                <a:spcPct val="100000"/>
              </a:lnSpc>
              <a:spcBef>
                <a:spcPts val="170"/>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1" i="0">
                <a:solidFill>
                  <a:srgbClr val="221BFF"/>
                </a:solidFill>
                <a:latin typeface="Segoe UI"/>
                <a:cs typeface="Segoe U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7E7E7E"/>
                </a:solidFill>
                <a:latin typeface="Segoe UI"/>
                <a:cs typeface="Segoe UI"/>
              </a:defRPr>
            </a:lvl1pPr>
          </a:lstStyle>
          <a:p>
            <a:pPr marL="12700">
              <a:lnSpc>
                <a:spcPct val="100000"/>
              </a:lnSpc>
              <a:spcBef>
                <a:spcPts val="165"/>
              </a:spcBef>
            </a:pPr>
            <a:r>
              <a:rPr dirty="0"/>
              <a:t>1</a:t>
            </a:r>
            <a:r>
              <a:rPr spc="70" dirty="0"/>
              <a:t> </a:t>
            </a:r>
            <a:r>
              <a:rPr dirty="0"/>
              <a:t>Q</a:t>
            </a:r>
            <a:r>
              <a:rPr spc="85" dirty="0"/>
              <a:t> </a:t>
            </a:r>
            <a:r>
              <a:rPr dirty="0"/>
              <a:t>2</a:t>
            </a:r>
            <a:r>
              <a:rPr spc="75" dirty="0"/>
              <a:t> </a:t>
            </a:r>
            <a:r>
              <a:rPr dirty="0"/>
              <a:t>0</a:t>
            </a:r>
            <a:r>
              <a:rPr spc="75" dirty="0"/>
              <a:t> </a:t>
            </a:r>
            <a:r>
              <a:rPr dirty="0"/>
              <a:t>2</a:t>
            </a:r>
            <a:r>
              <a:rPr spc="75" dirty="0"/>
              <a:t> </a:t>
            </a:r>
            <a:r>
              <a:rPr dirty="0"/>
              <a:t>5</a:t>
            </a:r>
            <a:r>
              <a:rPr spc="204" dirty="0"/>
              <a:t>  </a:t>
            </a:r>
            <a:r>
              <a:rPr dirty="0"/>
              <a:t>R</a:t>
            </a:r>
            <a:r>
              <a:rPr spc="75" dirty="0"/>
              <a:t> </a:t>
            </a:r>
            <a:r>
              <a:rPr dirty="0"/>
              <a:t>e</a:t>
            </a:r>
            <a:r>
              <a:rPr spc="80" dirty="0"/>
              <a:t> </a:t>
            </a:r>
            <a:r>
              <a:rPr dirty="0"/>
              <a:t>s</a:t>
            </a:r>
            <a:r>
              <a:rPr spc="70" dirty="0"/>
              <a:t> </a:t>
            </a:r>
            <a:r>
              <a:rPr dirty="0"/>
              <a:t>u</a:t>
            </a:r>
            <a:r>
              <a:rPr spc="80" dirty="0"/>
              <a:t> </a:t>
            </a:r>
            <a:r>
              <a:rPr dirty="0"/>
              <a:t>l</a:t>
            </a:r>
            <a:r>
              <a:rPr spc="75" dirty="0"/>
              <a:t> </a:t>
            </a:r>
            <a:r>
              <a:rPr dirty="0"/>
              <a:t>t</a:t>
            </a:r>
            <a:r>
              <a:rPr spc="80" dirty="0"/>
              <a:t> </a:t>
            </a:r>
            <a:r>
              <a:rPr dirty="0"/>
              <a:t>s</a:t>
            </a:r>
            <a:r>
              <a:rPr spc="190" dirty="0"/>
              <a:t>  </a:t>
            </a:r>
            <a:r>
              <a:rPr dirty="0"/>
              <a:t>P</a:t>
            </a:r>
            <a:r>
              <a:rPr spc="85" dirty="0"/>
              <a:t> </a:t>
            </a:r>
            <a:r>
              <a:rPr dirty="0"/>
              <a:t>r</a:t>
            </a:r>
            <a:r>
              <a:rPr spc="75" dirty="0"/>
              <a:t> </a:t>
            </a:r>
            <a:r>
              <a:rPr dirty="0"/>
              <a:t>e</a:t>
            </a:r>
            <a:r>
              <a:rPr spc="80" dirty="0"/>
              <a:t> </a:t>
            </a:r>
            <a:r>
              <a:rPr dirty="0"/>
              <a:t>s</a:t>
            </a:r>
            <a:r>
              <a:rPr spc="70" dirty="0"/>
              <a:t> </a:t>
            </a:r>
            <a:r>
              <a:rPr dirty="0"/>
              <a:t>e</a:t>
            </a:r>
            <a:r>
              <a:rPr spc="80" dirty="0"/>
              <a:t> </a:t>
            </a:r>
            <a:r>
              <a:rPr dirty="0"/>
              <a:t>n</a:t>
            </a:r>
            <a:r>
              <a:rPr spc="80" dirty="0"/>
              <a:t> </a:t>
            </a:r>
            <a:r>
              <a:rPr dirty="0"/>
              <a:t>t</a:t>
            </a:r>
            <a:r>
              <a:rPr spc="75" dirty="0"/>
              <a:t> </a:t>
            </a:r>
            <a:r>
              <a:rPr dirty="0"/>
              <a:t>a</a:t>
            </a:r>
            <a:r>
              <a:rPr spc="75" dirty="0"/>
              <a:t> </a:t>
            </a:r>
            <a:r>
              <a:rPr dirty="0"/>
              <a:t>t</a:t>
            </a:r>
            <a:r>
              <a:rPr spc="80" dirty="0"/>
              <a:t> </a:t>
            </a:r>
            <a:r>
              <a:rPr dirty="0"/>
              <a:t>i</a:t>
            </a:r>
            <a:r>
              <a:rPr spc="75" dirty="0"/>
              <a:t> </a:t>
            </a:r>
            <a:r>
              <a:rPr dirty="0"/>
              <a:t>o</a:t>
            </a:r>
            <a:r>
              <a:rPr spc="75" dirty="0"/>
              <a:t> </a:t>
            </a:r>
            <a:r>
              <a:rPr spc="-50" dirty="0"/>
              <a:t>n</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9/1/2025</a:t>
            </a:fld>
            <a:endParaRPr lang="en-US"/>
          </a:p>
        </p:txBody>
      </p:sp>
      <p:sp>
        <p:nvSpPr>
          <p:cNvPr id="6" name="Holder 6"/>
          <p:cNvSpPr>
            <a:spLocks noGrp="1"/>
          </p:cNvSpPr>
          <p:nvPr>
            <p:ph type="sldNum" sz="quarter" idx="7"/>
          </p:nvPr>
        </p:nvSpPr>
        <p:spPr/>
        <p:txBody>
          <a:bodyPr lIns="0" tIns="0" rIns="0" bIns="0"/>
          <a:lstStyle>
            <a:lvl1pPr>
              <a:defRPr sz="900" b="0" i="0">
                <a:solidFill>
                  <a:srgbClr val="7E7E7E"/>
                </a:solidFill>
                <a:latin typeface="Segoe UI"/>
                <a:cs typeface="Segoe UI"/>
              </a:defRPr>
            </a:lvl1pPr>
          </a:lstStyle>
          <a:p>
            <a:pPr marL="111760">
              <a:lnSpc>
                <a:spcPct val="100000"/>
              </a:lnSpc>
              <a:spcBef>
                <a:spcPts val="170"/>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00" b="1" i="0">
                <a:solidFill>
                  <a:srgbClr val="221BFF"/>
                </a:solidFill>
                <a:latin typeface="Segoe UI"/>
                <a:cs typeface="Segoe U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800" b="0" i="0">
                <a:solidFill>
                  <a:srgbClr val="7E7E7E"/>
                </a:solidFill>
                <a:latin typeface="Segoe UI"/>
                <a:cs typeface="Segoe UI"/>
              </a:defRPr>
            </a:lvl1pPr>
          </a:lstStyle>
          <a:p>
            <a:pPr marL="12700">
              <a:lnSpc>
                <a:spcPct val="100000"/>
              </a:lnSpc>
              <a:spcBef>
                <a:spcPts val="165"/>
              </a:spcBef>
            </a:pPr>
            <a:r>
              <a:rPr dirty="0"/>
              <a:t>1</a:t>
            </a:r>
            <a:r>
              <a:rPr spc="70" dirty="0"/>
              <a:t> </a:t>
            </a:r>
            <a:r>
              <a:rPr dirty="0"/>
              <a:t>Q</a:t>
            </a:r>
            <a:r>
              <a:rPr spc="85" dirty="0"/>
              <a:t> </a:t>
            </a:r>
            <a:r>
              <a:rPr dirty="0"/>
              <a:t>2</a:t>
            </a:r>
            <a:r>
              <a:rPr spc="75" dirty="0"/>
              <a:t> </a:t>
            </a:r>
            <a:r>
              <a:rPr dirty="0"/>
              <a:t>0</a:t>
            </a:r>
            <a:r>
              <a:rPr spc="75" dirty="0"/>
              <a:t> </a:t>
            </a:r>
            <a:r>
              <a:rPr dirty="0"/>
              <a:t>2</a:t>
            </a:r>
            <a:r>
              <a:rPr spc="75" dirty="0"/>
              <a:t> </a:t>
            </a:r>
            <a:r>
              <a:rPr dirty="0"/>
              <a:t>5</a:t>
            </a:r>
            <a:r>
              <a:rPr spc="204" dirty="0"/>
              <a:t>  </a:t>
            </a:r>
            <a:r>
              <a:rPr dirty="0"/>
              <a:t>R</a:t>
            </a:r>
            <a:r>
              <a:rPr spc="75" dirty="0"/>
              <a:t> </a:t>
            </a:r>
            <a:r>
              <a:rPr dirty="0"/>
              <a:t>e</a:t>
            </a:r>
            <a:r>
              <a:rPr spc="80" dirty="0"/>
              <a:t> </a:t>
            </a:r>
            <a:r>
              <a:rPr dirty="0"/>
              <a:t>s</a:t>
            </a:r>
            <a:r>
              <a:rPr spc="70" dirty="0"/>
              <a:t> </a:t>
            </a:r>
            <a:r>
              <a:rPr dirty="0"/>
              <a:t>u</a:t>
            </a:r>
            <a:r>
              <a:rPr spc="80" dirty="0"/>
              <a:t> </a:t>
            </a:r>
            <a:r>
              <a:rPr dirty="0"/>
              <a:t>l</a:t>
            </a:r>
            <a:r>
              <a:rPr spc="75" dirty="0"/>
              <a:t> </a:t>
            </a:r>
            <a:r>
              <a:rPr dirty="0"/>
              <a:t>t</a:t>
            </a:r>
            <a:r>
              <a:rPr spc="80" dirty="0"/>
              <a:t> </a:t>
            </a:r>
            <a:r>
              <a:rPr dirty="0"/>
              <a:t>s</a:t>
            </a:r>
            <a:r>
              <a:rPr spc="190" dirty="0"/>
              <a:t>  </a:t>
            </a:r>
            <a:r>
              <a:rPr dirty="0"/>
              <a:t>P</a:t>
            </a:r>
            <a:r>
              <a:rPr spc="85" dirty="0"/>
              <a:t> </a:t>
            </a:r>
            <a:r>
              <a:rPr dirty="0"/>
              <a:t>r</a:t>
            </a:r>
            <a:r>
              <a:rPr spc="75" dirty="0"/>
              <a:t> </a:t>
            </a:r>
            <a:r>
              <a:rPr dirty="0"/>
              <a:t>e</a:t>
            </a:r>
            <a:r>
              <a:rPr spc="80" dirty="0"/>
              <a:t> </a:t>
            </a:r>
            <a:r>
              <a:rPr dirty="0"/>
              <a:t>s</a:t>
            </a:r>
            <a:r>
              <a:rPr spc="70" dirty="0"/>
              <a:t> </a:t>
            </a:r>
            <a:r>
              <a:rPr dirty="0"/>
              <a:t>e</a:t>
            </a:r>
            <a:r>
              <a:rPr spc="80" dirty="0"/>
              <a:t> </a:t>
            </a:r>
            <a:r>
              <a:rPr dirty="0"/>
              <a:t>n</a:t>
            </a:r>
            <a:r>
              <a:rPr spc="80" dirty="0"/>
              <a:t> </a:t>
            </a:r>
            <a:r>
              <a:rPr dirty="0"/>
              <a:t>t</a:t>
            </a:r>
            <a:r>
              <a:rPr spc="75" dirty="0"/>
              <a:t> </a:t>
            </a:r>
            <a:r>
              <a:rPr dirty="0"/>
              <a:t>a</a:t>
            </a:r>
            <a:r>
              <a:rPr spc="75" dirty="0"/>
              <a:t> </a:t>
            </a:r>
            <a:r>
              <a:rPr dirty="0"/>
              <a:t>t</a:t>
            </a:r>
            <a:r>
              <a:rPr spc="80" dirty="0"/>
              <a:t> </a:t>
            </a:r>
            <a:r>
              <a:rPr dirty="0"/>
              <a:t>i</a:t>
            </a:r>
            <a:r>
              <a:rPr spc="75" dirty="0"/>
              <a:t> </a:t>
            </a:r>
            <a:r>
              <a:rPr dirty="0"/>
              <a:t>o</a:t>
            </a:r>
            <a:r>
              <a:rPr spc="75" dirty="0"/>
              <a:t> </a:t>
            </a:r>
            <a:r>
              <a:rPr spc="-50" dirty="0"/>
              <a:t>n</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9/1/2025</a:t>
            </a:fld>
            <a:endParaRPr lang="en-US"/>
          </a:p>
        </p:txBody>
      </p:sp>
      <p:sp>
        <p:nvSpPr>
          <p:cNvPr id="7" name="Holder 7"/>
          <p:cNvSpPr>
            <a:spLocks noGrp="1"/>
          </p:cNvSpPr>
          <p:nvPr>
            <p:ph type="sldNum" sz="quarter" idx="7"/>
          </p:nvPr>
        </p:nvSpPr>
        <p:spPr/>
        <p:txBody>
          <a:bodyPr lIns="0" tIns="0" rIns="0" bIns="0"/>
          <a:lstStyle>
            <a:lvl1pPr>
              <a:defRPr sz="900" b="0" i="0">
                <a:solidFill>
                  <a:srgbClr val="7E7E7E"/>
                </a:solidFill>
                <a:latin typeface="Segoe UI"/>
                <a:cs typeface="Segoe UI"/>
              </a:defRPr>
            </a:lvl1pPr>
          </a:lstStyle>
          <a:p>
            <a:pPr marL="111760">
              <a:lnSpc>
                <a:spcPct val="100000"/>
              </a:lnSpc>
              <a:spcBef>
                <a:spcPts val="170"/>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221AFF"/>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11483916" y="6448845"/>
            <a:ext cx="217269" cy="211420"/>
          </a:xfrm>
          <a:prstGeom prst="rect">
            <a:avLst/>
          </a:prstGeom>
        </p:spPr>
      </p:pic>
      <p:sp>
        <p:nvSpPr>
          <p:cNvPr id="18" name="bg object 18"/>
          <p:cNvSpPr/>
          <p:nvPr/>
        </p:nvSpPr>
        <p:spPr>
          <a:xfrm>
            <a:off x="1056320" y="3563775"/>
            <a:ext cx="5276215" cy="1546860"/>
          </a:xfrm>
          <a:custGeom>
            <a:avLst/>
            <a:gdLst/>
            <a:ahLst/>
            <a:cxnLst/>
            <a:rect l="l" t="t" r="r" b="b"/>
            <a:pathLst>
              <a:path w="5276215" h="1546860">
                <a:moveTo>
                  <a:pt x="0" y="0"/>
                </a:moveTo>
                <a:lnTo>
                  <a:pt x="4172685" y="0"/>
                </a:lnTo>
                <a:lnTo>
                  <a:pt x="4230155" y="11949"/>
                </a:lnTo>
                <a:lnTo>
                  <a:pt x="4297696" y="34887"/>
                </a:lnTo>
                <a:lnTo>
                  <a:pt x="4362412" y="66272"/>
                </a:lnTo>
                <a:lnTo>
                  <a:pt x="4422720" y="106103"/>
                </a:lnTo>
                <a:lnTo>
                  <a:pt x="4477424" y="153276"/>
                </a:lnTo>
                <a:lnTo>
                  <a:pt x="4525805" y="208223"/>
                </a:lnTo>
                <a:lnTo>
                  <a:pt x="4566917" y="269697"/>
                </a:lnTo>
                <a:lnTo>
                  <a:pt x="5275899" y="1498716"/>
                </a:lnTo>
                <a:lnTo>
                  <a:pt x="5275899" y="1500067"/>
                </a:lnTo>
                <a:lnTo>
                  <a:pt x="5195558" y="1546561"/>
                </a:lnTo>
                <a:lnTo>
                  <a:pt x="4487435" y="318886"/>
                </a:lnTo>
                <a:lnTo>
                  <a:pt x="4451605" y="264802"/>
                </a:lnTo>
                <a:lnTo>
                  <a:pt x="4451035" y="264802"/>
                </a:lnTo>
                <a:lnTo>
                  <a:pt x="4415429" y="223868"/>
                </a:lnTo>
                <a:lnTo>
                  <a:pt x="4416014" y="223868"/>
                </a:lnTo>
                <a:lnTo>
                  <a:pt x="4413591" y="221755"/>
                </a:lnTo>
                <a:lnTo>
                  <a:pt x="4411463" y="219309"/>
                </a:lnTo>
                <a:lnTo>
                  <a:pt x="4410786" y="219309"/>
                </a:lnTo>
                <a:lnTo>
                  <a:pt x="4370283" y="183989"/>
                </a:lnTo>
                <a:lnTo>
                  <a:pt x="4370842" y="183989"/>
                </a:lnTo>
                <a:lnTo>
                  <a:pt x="4368447" y="182389"/>
                </a:lnTo>
                <a:lnTo>
                  <a:pt x="4366100" y="180342"/>
                </a:lnTo>
                <a:lnTo>
                  <a:pt x="4365384" y="180342"/>
                </a:lnTo>
                <a:lnTo>
                  <a:pt x="4320496" y="150349"/>
                </a:lnTo>
                <a:lnTo>
                  <a:pt x="4321216" y="150349"/>
                </a:lnTo>
                <a:lnTo>
                  <a:pt x="4318477" y="149000"/>
                </a:lnTo>
                <a:lnTo>
                  <a:pt x="4315899" y="147277"/>
                </a:lnTo>
                <a:lnTo>
                  <a:pt x="4314979" y="147277"/>
                </a:lnTo>
                <a:lnTo>
                  <a:pt x="4266542" y="123427"/>
                </a:lnTo>
                <a:lnTo>
                  <a:pt x="4267375" y="123427"/>
                </a:lnTo>
                <a:lnTo>
                  <a:pt x="4261962" y="121171"/>
                </a:lnTo>
                <a:lnTo>
                  <a:pt x="4260811" y="121171"/>
                </a:lnTo>
                <a:lnTo>
                  <a:pt x="4208438" y="103176"/>
                </a:lnTo>
                <a:lnTo>
                  <a:pt x="4209174" y="103176"/>
                </a:lnTo>
                <a:lnTo>
                  <a:pt x="4206913" y="102652"/>
                </a:lnTo>
                <a:lnTo>
                  <a:pt x="4204528" y="101832"/>
                </a:lnTo>
                <a:lnTo>
                  <a:pt x="4203376" y="101832"/>
                </a:lnTo>
                <a:lnTo>
                  <a:pt x="4178735" y="96121"/>
                </a:lnTo>
                <a:lnTo>
                  <a:pt x="4148650" y="90842"/>
                </a:lnTo>
                <a:lnTo>
                  <a:pt x="4149488" y="90842"/>
                </a:lnTo>
                <a:lnTo>
                  <a:pt x="4118679" y="87865"/>
                </a:lnTo>
                <a:lnTo>
                  <a:pt x="4121733" y="87865"/>
                </a:lnTo>
                <a:lnTo>
                  <a:pt x="4084534" y="86715"/>
                </a:lnTo>
                <a:lnTo>
                  <a:pt x="0" y="86716"/>
                </a:lnTo>
                <a:lnTo>
                  <a:pt x="0" y="0"/>
                </a:lnTo>
                <a:close/>
              </a:path>
              <a:path w="5276215" h="1546860">
                <a:moveTo>
                  <a:pt x="4451035" y="264802"/>
                </a:moveTo>
                <a:lnTo>
                  <a:pt x="4451605" y="264802"/>
                </a:lnTo>
                <a:lnTo>
                  <a:pt x="4453420" y="267548"/>
                </a:lnTo>
                <a:lnTo>
                  <a:pt x="4451035" y="264802"/>
                </a:lnTo>
                <a:close/>
              </a:path>
              <a:path w="5276215" h="1546860">
                <a:moveTo>
                  <a:pt x="4413591" y="221755"/>
                </a:moveTo>
                <a:lnTo>
                  <a:pt x="4416014" y="223868"/>
                </a:lnTo>
                <a:lnTo>
                  <a:pt x="4415429" y="223868"/>
                </a:lnTo>
                <a:lnTo>
                  <a:pt x="4413591" y="221755"/>
                </a:lnTo>
                <a:close/>
              </a:path>
              <a:path w="5276215" h="1546860">
                <a:moveTo>
                  <a:pt x="4410786" y="219309"/>
                </a:moveTo>
                <a:lnTo>
                  <a:pt x="4411463" y="219309"/>
                </a:lnTo>
                <a:lnTo>
                  <a:pt x="4413591" y="221755"/>
                </a:lnTo>
                <a:lnTo>
                  <a:pt x="4410786" y="219309"/>
                </a:lnTo>
                <a:close/>
              </a:path>
              <a:path w="5276215" h="1546860">
                <a:moveTo>
                  <a:pt x="4368447" y="182389"/>
                </a:moveTo>
                <a:lnTo>
                  <a:pt x="4370842" y="183989"/>
                </a:lnTo>
                <a:lnTo>
                  <a:pt x="4370283" y="183989"/>
                </a:lnTo>
                <a:lnTo>
                  <a:pt x="4368447" y="182389"/>
                </a:lnTo>
                <a:close/>
              </a:path>
              <a:path w="5276215" h="1546860">
                <a:moveTo>
                  <a:pt x="4365384" y="180342"/>
                </a:moveTo>
                <a:lnTo>
                  <a:pt x="4366100" y="180342"/>
                </a:lnTo>
                <a:lnTo>
                  <a:pt x="4368447" y="182389"/>
                </a:lnTo>
                <a:lnTo>
                  <a:pt x="4365384" y="180342"/>
                </a:lnTo>
                <a:close/>
              </a:path>
              <a:path w="5276215" h="1546860">
                <a:moveTo>
                  <a:pt x="4318477" y="149000"/>
                </a:moveTo>
                <a:lnTo>
                  <a:pt x="4321216" y="150349"/>
                </a:lnTo>
                <a:lnTo>
                  <a:pt x="4320496" y="150349"/>
                </a:lnTo>
                <a:lnTo>
                  <a:pt x="4318477" y="149000"/>
                </a:lnTo>
                <a:close/>
              </a:path>
              <a:path w="5276215" h="1546860">
                <a:moveTo>
                  <a:pt x="4314979" y="147277"/>
                </a:moveTo>
                <a:lnTo>
                  <a:pt x="4315899" y="147277"/>
                </a:lnTo>
                <a:lnTo>
                  <a:pt x="4318477" y="149000"/>
                </a:lnTo>
                <a:lnTo>
                  <a:pt x="4314979" y="147277"/>
                </a:lnTo>
                <a:close/>
              </a:path>
              <a:path w="5276215" h="1546860">
                <a:moveTo>
                  <a:pt x="4261962" y="121171"/>
                </a:moveTo>
                <a:lnTo>
                  <a:pt x="4267375" y="123427"/>
                </a:lnTo>
                <a:lnTo>
                  <a:pt x="4264620" y="122480"/>
                </a:lnTo>
                <a:lnTo>
                  <a:pt x="4261962" y="121171"/>
                </a:lnTo>
                <a:close/>
              </a:path>
              <a:path w="5276215" h="1546860">
                <a:moveTo>
                  <a:pt x="4264620" y="122480"/>
                </a:moveTo>
                <a:lnTo>
                  <a:pt x="4267375" y="123427"/>
                </a:lnTo>
                <a:lnTo>
                  <a:pt x="4266542" y="123427"/>
                </a:lnTo>
                <a:lnTo>
                  <a:pt x="4264620" y="122480"/>
                </a:lnTo>
                <a:close/>
              </a:path>
              <a:path w="5276215" h="1546860">
                <a:moveTo>
                  <a:pt x="4260811" y="121171"/>
                </a:moveTo>
                <a:lnTo>
                  <a:pt x="4261962" y="121171"/>
                </a:lnTo>
                <a:lnTo>
                  <a:pt x="4264620" y="122480"/>
                </a:lnTo>
                <a:lnTo>
                  <a:pt x="4260811" y="121171"/>
                </a:lnTo>
                <a:close/>
              </a:path>
              <a:path w="5276215" h="1546860">
                <a:moveTo>
                  <a:pt x="4206913" y="102652"/>
                </a:moveTo>
                <a:lnTo>
                  <a:pt x="4209174" y="103176"/>
                </a:lnTo>
                <a:lnTo>
                  <a:pt x="4208438" y="103176"/>
                </a:lnTo>
                <a:lnTo>
                  <a:pt x="4206913" y="102652"/>
                </a:lnTo>
                <a:close/>
              </a:path>
              <a:path w="5276215" h="1546860">
                <a:moveTo>
                  <a:pt x="4203376" y="101832"/>
                </a:moveTo>
                <a:lnTo>
                  <a:pt x="4204528" y="101832"/>
                </a:lnTo>
                <a:lnTo>
                  <a:pt x="4206913" y="102652"/>
                </a:lnTo>
                <a:lnTo>
                  <a:pt x="4203376" y="101832"/>
                </a:lnTo>
                <a:close/>
              </a:path>
              <a:path w="5276215" h="1546860">
                <a:moveTo>
                  <a:pt x="4147623" y="90662"/>
                </a:moveTo>
                <a:lnTo>
                  <a:pt x="4149488" y="90842"/>
                </a:lnTo>
                <a:lnTo>
                  <a:pt x="4148650" y="90842"/>
                </a:lnTo>
                <a:lnTo>
                  <a:pt x="4147623" y="90662"/>
                </a:lnTo>
                <a:close/>
              </a:path>
            </a:pathLst>
          </a:custGeom>
          <a:solidFill>
            <a:srgbClr val="FFFFFF"/>
          </a:solidFill>
        </p:spPr>
        <p:txBody>
          <a:bodyPr wrap="square" lIns="0" tIns="0" rIns="0" bIns="0" rtlCol="0"/>
          <a:lstStyle/>
          <a:p>
            <a:endParaRPr/>
          </a:p>
        </p:txBody>
      </p:sp>
      <p:sp>
        <p:nvSpPr>
          <p:cNvPr id="19" name="bg object 19"/>
          <p:cNvSpPr/>
          <p:nvPr/>
        </p:nvSpPr>
        <p:spPr>
          <a:xfrm>
            <a:off x="10541241" y="5339938"/>
            <a:ext cx="588645" cy="574040"/>
          </a:xfrm>
          <a:custGeom>
            <a:avLst/>
            <a:gdLst/>
            <a:ahLst/>
            <a:cxnLst/>
            <a:rect l="l" t="t" r="r" b="b"/>
            <a:pathLst>
              <a:path w="588645" h="574039">
                <a:moveTo>
                  <a:pt x="294068" y="0"/>
                </a:moveTo>
                <a:lnTo>
                  <a:pt x="251662" y="11307"/>
                </a:lnTo>
                <a:lnTo>
                  <a:pt x="178080" y="53697"/>
                </a:lnTo>
                <a:lnTo>
                  <a:pt x="146925" y="84834"/>
                </a:lnTo>
                <a:lnTo>
                  <a:pt x="135449" y="127280"/>
                </a:lnTo>
                <a:lnTo>
                  <a:pt x="135449" y="234137"/>
                </a:lnTo>
                <a:lnTo>
                  <a:pt x="42631" y="287964"/>
                </a:lnTo>
                <a:lnTo>
                  <a:pt x="24901" y="301538"/>
                </a:lnTo>
                <a:lnTo>
                  <a:pt x="11476" y="318963"/>
                </a:lnTo>
                <a:lnTo>
                  <a:pt x="2971" y="339214"/>
                </a:lnTo>
                <a:lnTo>
                  <a:pt x="0" y="361270"/>
                </a:lnTo>
                <a:lnTo>
                  <a:pt x="0" y="446291"/>
                </a:lnTo>
                <a:lnTo>
                  <a:pt x="11476" y="488753"/>
                </a:lnTo>
                <a:lnTo>
                  <a:pt x="42631" y="519884"/>
                </a:lnTo>
                <a:lnTo>
                  <a:pt x="116213" y="562263"/>
                </a:lnTo>
                <a:lnTo>
                  <a:pt x="158602" y="573704"/>
                </a:lnTo>
                <a:lnTo>
                  <a:pt x="169640" y="572977"/>
                </a:lnTo>
                <a:lnTo>
                  <a:pt x="180489" y="570812"/>
                </a:lnTo>
                <a:lnTo>
                  <a:pt x="191053" y="567233"/>
                </a:lnTo>
                <a:lnTo>
                  <a:pt x="201233" y="562263"/>
                </a:lnTo>
                <a:lnTo>
                  <a:pt x="261949" y="527293"/>
                </a:lnTo>
                <a:lnTo>
                  <a:pt x="158723" y="527293"/>
                </a:lnTo>
                <a:lnTo>
                  <a:pt x="148778" y="526026"/>
                </a:lnTo>
                <a:lnTo>
                  <a:pt x="65783" y="479845"/>
                </a:lnTo>
                <a:lnTo>
                  <a:pt x="46270" y="446291"/>
                </a:lnTo>
                <a:lnTo>
                  <a:pt x="46270" y="361270"/>
                </a:lnTo>
                <a:lnTo>
                  <a:pt x="47637" y="351318"/>
                </a:lnTo>
                <a:lnTo>
                  <a:pt x="51543" y="342098"/>
                </a:lnTo>
                <a:lnTo>
                  <a:pt x="57690" y="334145"/>
                </a:lnTo>
                <a:lnTo>
                  <a:pt x="65783" y="327996"/>
                </a:lnTo>
                <a:lnTo>
                  <a:pt x="135449" y="287721"/>
                </a:lnTo>
                <a:lnTo>
                  <a:pt x="181719" y="287721"/>
                </a:lnTo>
                <a:lnTo>
                  <a:pt x="181719" y="261171"/>
                </a:lnTo>
                <a:lnTo>
                  <a:pt x="268576" y="211261"/>
                </a:lnTo>
                <a:lnTo>
                  <a:pt x="276706" y="207899"/>
                </a:lnTo>
                <a:lnTo>
                  <a:pt x="181719" y="207899"/>
                </a:lnTo>
                <a:lnTo>
                  <a:pt x="181719" y="127280"/>
                </a:lnTo>
                <a:lnTo>
                  <a:pt x="201233" y="93729"/>
                </a:lnTo>
                <a:lnTo>
                  <a:pt x="274815" y="51374"/>
                </a:lnTo>
                <a:lnTo>
                  <a:pt x="294142" y="46305"/>
                </a:lnTo>
                <a:lnTo>
                  <a:pt x="397205" y="46305"/>
                </a:lnTo>
                <a:lnTo>
                  <a:pt x="336682" y="11307"/>
                </a:lnTo>
                <a:lnTo>
                  <a:pt x="315970" y="2826"/>
                </a:lnTo>
                <a:lnTo>
                  <a:pt x="294068" y="0"/>
                </a:lnTo>
                <a:close/>
              </a:path>
              <a:path w="588645" h="574039">
                <a:moveTo>
                  <a:pt x="386995" y="508963"/>
                </a:moveTo>
                <a:lnTo>
                  <a:pt x="294294" y="508963"/>
                </a:lnTo>
                <a:lnTo>
                  <a:pt x="386835" y="562263"/>
                </a:lnTo>
                <a:lnTo>
                  <a:pt x="397016" y="567233"/>
                </a:lnTo>
                <a:lnTo>
                  <a:pt x="407583" y="570812"/>
                </a:lnTo>
                <a:lnTo>
                  <a:pt x="418443" y="572977"/>
                </a:lnTo>
                <a:lnTo>
                  <a:pt x="429501" y="573704"/>
                </a:lnTo>
                <a:lnTo>
                  <a:pt x="440432" y="572977"/>
                </a:lnTo>
                <a:lnTo>
                  <a:pt x="451263" y="570812"/>
                </a:lnTo>
                <a:lnTo>
                  <a:pt x="461801" y="567233"/>
                </a:lnTo>
                <a:lnTo>
                  <a:pt x="471855" y="562263"/>
                </a:lnTo>
                <a:lnTo>
                  <a:pt x="532573" y="527293"/>
                </a:lnTo>
                <a:lnTo>
                  <a:pt x="429362" y="527293"/>
                </a:lnTo>
                <a:lnTo>
                  <a:pt x="419405" y="526026"/>
                </a:lnTo>
                <a:lnTo>
                  <a:pt x="409987" y="522224"/>
                </a:lnTo>
                <a:lnTo>
                  <a:pt x="386995" y="508963"/>
                </a:lnTo>
                <a:close/>
              </a:path>
              <a:path w="588645" h="574039">
                <a:moveTo>
                  <a:pt x="181719" y="287721"/>
                </a:moveTo>
                <a:lnTo>
                  <a:pt x="135449" y="287721"/>
                </a:lnTo>
                <a:lnTo>
                  <a:pt x="135449" y="361270"/>
                </a:lnTo>
                <a:lnTo>
                  <a:pt x="148576" y="409937"/>
                </a:lnTo>
                <a:lnTo>
                  <a:pt x="184319" y="445528"/>
                </a:lnTo>
                <a:lnTo>
                  <a:pt x="247503" y="482185"/>
                </a:lnTo>
                <a:lnTo>
                  <a:pt x="178080" y="522224"/>
                </a:lnTo>
                <a:lnTo>
                  <a:pt x="168668" y="526026"/>
                </a:lnTo>
                <a:lnTo>
                  <a:pt x="158723" y="527293"/>
                </a:lnTo>
                <a:lnTo>
                  <a:pt x="261949" y="527293"/>
                </a:lnTo>
                <a:lnTo>
                  <a:pt x="293774" y="508963"/>
                </a:lnTo>
                <a:lnTo>
                  <a:pt x="386995" y="508963"/>
                </a:lnTo>
                <a:lnTo>
                  <a:pt x="340564" y="482185"/>
                </a:lnTo>
                <a:lnTo>
                  <a:pt x="386304" y="455649"/>
                </a:lnTo>
                <a:lnTo>
                  <a:pt x="294051" y="455649"/>
                </a:lnTo>
                <a:lnTo>
                  <a:pt x="207472" y="405496"/>
                </a:lnTo>
                <a:lnTo>
                  <a:pt x="196751" y="397304"/>
                </a:lnTo>
                <a:lnTo>
                  <a:pt x="188643" y="386801"/>
                </a:lnTo>
                <a:lnTo>
                  <a:pt x="183511" y="374589"/>
                </a:lnTo>
                <a:lnTo>
                  <a:pt x="181720" y="361270"/>
                </a:lnTo>
                <a:lnTo>
                  <a:pt x="181719" y="287721"/>
                </a:lnTo>
                <a:close/>
              </a:path>
              <a:path w="588645" h="574039">
                <a:moveTo>
                  <a:pt x="545018" y="287721"/>
                </a:moveTo>
                <a:lnTo>
                  <a:pt x="452619" y="287721"/>
                </a:lnTo>
                <a:lnTo>
                  <a:pt x="522284" y="327996"/>
                </a:lnTo>
                <a:lnTo>
                  <a:pt x="530378" y="334145"/>
                </a:lnTo>
                <a:lnTo>
                  <a:pt x="536525" y="342098"/>
                </a:lnTo>
                <a:lnTo>
                  <a:pt x="540430" y="351318"/>
                </a:lnTo>
                <a:lnTo>
                  <a:pt x="541798" y="361270"/>
                </a:lnTo>
                <a:lnTo>
                  <a:pt x="541798" y="446291"/>
                </a:lnTo>
                <a:lnTo>
                  <a:pt x="540528" y="455649"/>
                </a:lnTo>
                <a:lnTo>
                  <a:pt x="540430" y="456368"/>
                </a:lnTo>
                <a:lnTo>
                  <a:pt x="448737" y="522224"/>
                </a:lnTo>
                <a:lnTo>
                  <a:pt x="429362" y="527293"/>
                </a:lnTo>
                <a:lnTo>
                  <a:pt x="532573" y="527293"/>
                </a:lnTo>
                <a:lnTo>
                  <a:pt x="576605" y="488753"/>
                </a:lnTo>
                <a:lnTo>
                  <a:pt x="588068" y="446291"/>
                </a:lnTo>
                <a:lnTo>
                  <a:pt x="588068" y="361270"/>
                </a:lnTo>
                <a:lnTo>
                  <a:pt x="585101" y="339214"/>
                </a:lnTo>
                <a:lnTo>
                  <a:pt x="576604" y="318963"/>
                </a:lnTo>
                <a:lnTo>
                  <a:pt x="563181" y="301538"/>
                </a:lnTo>
                <a:lnTo>
                  <a:pt x="545437" y="287964"/>
                </a:lnTo>
                <a:lnTo>
                  <a:pt x="545018" y="287721"/>
                </a:lnTo>
                <a:close/>
              </a:path>
              <a:path w="588645" h="574039">
                <a:moveTo>
                  <a:pt x="400383" y="204450"/>
                </a:moveTo>
                <a:lnTo>
                  <a:pt x="294081" y="204450"/>
                </a:lnTo>
                <a:lnTo>
                  <a:pt x="307281" y="206153"/>
                </a:lnTo>
                <a:lnTo>
                  <a:pt x="319768" y="211261"/>
                </a:lnTo>
                <a:lnTo>
                  <a:pt x="406348" y="261171"/>
                </a:lnTo>
                <a:lnTo>
                  <a:pt x="406348" y="361270"/>
                </a:lnTo>
                <a:lnTo>
                  <a:pt x="404557" y="374589"/>
                </a:lnTo>
                <a:lnTo>
                  <a:pt x="380596" y="405496"/>
                </a:lnTo>
                <a:lnTo>
                  <a:pt x="294051" y="455649"/>
                </a:lnTo>
                <a:lnTo>
                  <a:pt x="386304" y="455649"/>
                </a:lnTo>
                <a:lnTo>
                  <a:pt x="424106" y="429989"/>
                </a:lnTo>
                <a:lnTo>
                  <a:pt x="449146" y="386801"/>
                </a:lnTo>
                <a:lnTo>
                  <a:pt x="452619" y="361270"/>
                </a:lnTo>
                <a:lnTo>
                  <a:pt x="452619" y="287721"/>
                </a:lnTo>
                <a:lnTo>
                  <a:pt x="545018" y="287721"/>
                </a:lnTo>
                <a:lnTo>
                  <a:pt x="452618" y="234137"/>
                </a:lnTo>
                <a:lnTo>
                  <a:pt x="452618" y="207899"/>
                </a:lnTo>
                <a:lnTo>
                  <a:pt x="406348" y="207899"/>
                </a:lnTo>
                <a:lnTo>
                  <a:pt x="400383" y="204450"/>
                </a:lnTo>
                <a:close/>
              </a:path>
              <a:path w="588645" h="574039">
                <a:moveTo>
                  <a:pt x="294081" y="158153"/>
                </a:moveTo>
                <a:lnTo>
                  <a:pt x="269036" y="161422"/>
                </a:lnTo>
                <a:lnTo>
                  <a:pt x="245424" y="171229"/>
                </a:lnTo>
                <a:lnTo>
                  <a:pt x="181719" y="207899"/>
                </a:lnTo>
                <a:lnTo>
                  <a:pt x="276706" y="207899"/>
                </a:lnTo>
                <a:lnTo>
                  <a:pt x="280928" y="206153"/>
                </a:lnTo>
                <a:lnTo>
                  <a:pt x="294081" y="204450"/>
                </a:lnTo>
                <a:lnTo>
                  <a:pt x="400383" y="204450"/>
                </a:lnTo>
                <a:lnTo>
                  <a:pt x="342921" y="171229"/>
                </a:lnTo>
                <a:lnTo>
                  <a:pt x="319172" y="161422"/>
                </a:lnTo>
                <a:lnTo>
                  <a:pt x="294081" y="158153"/>
                </a:lnTo>
                <a:close/>
              </a:path>
              <a:path w="588645" h="574039">
                <a:moveTo>
                  <a:pt x="397205" y="46305"/>
                </a:moveTo>
                <a:lnTo>
                  <a:pt x="294142" y="46305"/>
                </a:lnTo>
                <a:lnTo>
                  <a:pt x="304015" y="47573"/>
                </a:lnTo>
                <a:lnTo>
                  <a:pt x="313287" y="51374"/>
                </a:lnTo>
                <a:lnTo>
                  <a:pt x="386835" y="93729"/>
                </a:lnTo>
                <a:lnTo>
                  <a:pt x="406348" y="127280"/>
                </a:lnTo>
                <a:lnTo>
                  <a:pt x="406348" y="207899"/>
                </a:lnTo>
                <a:lnTo>
                  <a:pt x="452618" y="207899"/>
                </a:lnTo>
                <a:lnTo>
                  <a:pt x="452618" y="127280"/>
                </a:lnTo>
                <a:lnTo>
                  <a:pt x="441155" y="84834"/>
                </a:lnTo>
                <a:lnTo>
                  <a:pt x="409987" y="53697"/>
                </a:lnTo>
                <a:lnTo>
                  <a:pt x="397205" y="46305"/>
                </a:lnTo>
                <a:close/>
              </a:path>
            </a:pathLst>
          </a:custGeom>
          <a:solidFill>
            <a:srgbClr val="FFFFFF"/>
          </a:solidFill>
        </p:spPr>
        <p:txBody>
          <a:bodyPr wrap="square" lIns="0" tIns="0" rIns="0" bIns="0" rtlCol="0"/>
          <a:lstStyle/>
          <a:p>
            <a:endParaRPr/>
          </a:p>
        </p:txBody>
      </p:sp>
      <p:pic>
        <p:nvPicPr>
          <p:cNvPr id="20" name="bg object 20"/>
          <p:cNvPicPr/>
          <p:nvPr/>
        </p:nvPicPr>
        <p:blipFill>
          <a:blip r:embed="rId3" cstate="print"/>
          <a:stretch>
            <a:fillRect/>
          </a:stretch>
        </p:blipFill>
        <p:spPr>
          <a:xfrm>
            <a:off x="9519786" y="5516367"/>
            <a:ext cx="909400" cy="319797"/>
          </a:xfrm>
          <a:prstGeom prst="rect">
            <a:avLst/>
          </a:prstGeom>
        </p:spPr>
      </p:pic>
      <p:sp>
        <p:nvSpPr>
          <p:cNvPr id="2" name="Holder 2"/>
          <p:cNvSpPr>
            <a:spLocks noGrp="1"/>
          </p:cNvSpPr>
          <p:nvPr>
            <p:ph type="title"/>
          </p:nvPr>
        </p:nvSpPr>
        <p:spPr/>
        <p:txBody>
          <a:bodyPr lIns="0" tIns="0" rIns="0" bIns="0"/>
          <a:lstStyle>
            <a:lvl1pPr>
              <a:defRPr sz="1800" b="1" i="0">
                <a:solidFill>
                  <a:srgbClr val="221BFF"/>
                </a:solidFill>
                <a:latin typeface="Segoe UI"/>
                <a:cs typeface="Segoe UI"/>
              </a:defRPr>
            </a:lvl1pPr>
          </a:lstStyle>
          <a:p>
            <a:endParaRPr/>
          </a:p>
        </p:txBody>
      </p:sp>
      <p:sp>
        <p:nvSpPr>
          <p:cNvPr id="3" name="Holder 3"/>
          <p:cNvSpPr>
            <a:spLocks noGrp="1"/>
          </p:cNvSpPr>
          <p:nvPr>
            <p:ph type="ftr" sz="quarter" idx="5"/>
          </p:nvPr>
        </p:nvSpPr>
        <p:spPr/>
        <p:txBody>
          <a:bodyPr lIns="0" tIns="0" rIns="0" bIns="0"/>
          <a:lstStyle>
            <a:lvl1pPr>
              <a:defRPr sz="800" b="0" i="0">
                <a:solidFill>
                  <a:srgbClr val="7E7E7E"/>
                </a:solidFill>
                <a:latin typeface="Segoe UI"/>
                <a:cs typeface="Segoe UI"/>
              </a:defRPr>
            </a:lvl1pPr>
          </a:lstStyle>
          <a:p>
            <a:pPr marL="12700">
              <a:lnSpc>
                <a:spcPct val="100000"/>
              </a:lnSpc>
              <a:spcBef>
                <a:spcPts val="165"/>
              </a:spcBef>
            </a:pPr>
            <a:r>
              <a:rPr dirty="0"/>
              <a:t>1</a:t>
            </a:r>
            <a:r>
              <a:rPr spc="70" dirty="0"/>
              <a:t> </a:t>
            </a:r>
            <a:r>
              <a:rPr dirty="0"/>
              <a:t>Q</a:t>
            </a:r>
            <a:r>
              <a:rPr spc="85" dirty="0"/>
              <a:t> </a:t>
            </a:r>
            <a:r>
              <a:rPr dirty="0"/>
              <a:t>2</a:t>
            </a:r>
            <a:r>
              <a:rPr spc="75" dirty="0"/>
              <a:t> </a:t>
            </a:r>
            <a:r>
              <a:rPr dirty="0"/>
              <a:t>0</a:t>
            </a:r>
            <a:r>
              <a:rPr spc="75" dirty="0"/>
              <a:t> </a:t>
            </a:r>
            <a:r>
              <a:rPr dirty="0"/>
              <a:t>2</a:t>
            </a:r>
            <a:r>
              <a:rPr spc="75" dirty="0"/>
              <a:t> </a:t>
            </a:r>
            <a:r>
              <a:rPr dirty="0"/>
              <a:t>5</a:t>
            </a:r>
            <a:r>
              <a:rPr spc="204" dirty="0"/>
              <a:t>  </a:t>
            </a:r>
            <a:r>
              <a:rPr dirty="0"/>
              <a:t>R</a:t>
            </a:r>
            <a:r>
              <a:rPr spc="75" dirty="0"/>
              <a:t> </a:t>
            </a:r>
            <a:r>
              <a:rPr dirty="0"/>
              <a:t>e</a:t>
            </a:r>
            <a:r>
              <a:rPr spc="80" dirty="0"/>
              <a:t> </a:t>
            </a:r>
            <a:r>
              <a:rPr dirty="0"/>
              <a:t>s</a:t>
            </a:r>
            <a:r>
              <a:rPr spc="70" dirty="0"/>
              <a:t> </a:t>
            </a:r>
            <a:r>
              <a:rPr dirty="0"/>
              <a:t>u</a:t>
            </a:r>
            <a:r>
              <a:rPr spc="80" dirty="0"/>
              <a:t> </a:t>
            </a:r>
            <a:r>
              <a:rPr dirty="0"/>
              <a:t>l</a:t>
            </a:r>
            <a:r>
              <a:rPr spc="75" dirty="0"/>
              <a:t> </a:t>
            </a:r>
            <a:r>
              <a:rPr dirty="0"/>
              <a:t>t</a:t>
            </a:r>
            <a:r>
              <a:rPr spc="80" dirty="0"/>
              <a:t> </a:t>
            </a:r>
            <a:r>
              <a:rPr dirty="0"/>
              <a:t>s</a:t>
            </a:r>
            <a:r>
              <a:rPr spc="190" dirty="0"/>
              <a:t>  </a:t>
            </a:r>
            <a:r>
              <a:rPr dirty="0"/>
              <a:t>P</a:t>
            </a:r>
            <a:r>
              <a:rPr spc="85" dirty="0"/>
              <a:t> </a:t>
            </a:r>
            <a:r>
              <a:rPr dirty="0"/>
              <a:t>r</a:t>
            </a:r>
            <a:r>
              <a:rPr spc="75" dirty="0"/>
              <a:t> </a:t>
            </a:r>
            <a:r>
              <a:rPr dirty="0"/>
              <a:t>e</a:t>
            </a:r>
            <a:r>
              <a:rPr spc="80" dirty="0"/>
              <a:t> </a:t>
            </a:r>
            <a:r>
              <a:rPr dirty="0"/>
              <a:t>s</a:t>
            </a:r>
            <a:r>
              <a:rPr spc="70" dirty="0"/>
              <a:t> </a:t>
            </a:r>
            <a:r>
              <a:rPr dirty="0"/>
              <a:t>e</a:t>
            </a:r>
            <a:r>
              <a:rPr spc="80" dirty="0"/>
              <a:t> </a:t>
            </a:r>
            <a:r>
              <a:rPr dirty="0"/>
              <a:t>n</a:t>
            </a:r>
            <a:r>
              <a:rPr spc="80" dirty="0"/>
              <a:t> </a:t>
            </a:r>
            <a:r>
              <a:rPr dirty="0"/>
              <a:t>t</a:t>
            </a:r>
            <a:r>
              <a:rPr spc="75" dirty="0"/>
              <a:t> </a:t>
            </a:r>
            <a:r>
              <a:rPr dirty="0"/>
              <a:t>a</a:t>
            </a:r>
            <a:r>
              <a:rPr spc="75" dirty="0"/>
              <a:t> </a:t>
            </a:r>
            <a:r>
              <a:rPr dirty="0"/>
              <a:t>t</a:t>
            </a:r>
            <a:r>
              <a:rPr spc="80" dirty="0"/>
              <a:t> </a:t>
            </a:r>
            <a:r>
              <a:rPr dirty="0"/>
              <a:t>i</a:t>
            </a:r>
            <a:r>
              <a:rPr spc="75" dirty="0"/>
              <a:t> </a:t>
            </a:r>
            <a:r>
              <a:rPr dirty="0"/>
              <a:t>o</a:t>
            </a:r>
            <a:r>
              <a:rPr spc="75" dirty="0"/>
              <a:t> </a:t>
            </a:r>
            <a:r>
              <a:rPr spc="-50" dirty="0"/>
              <a:t>n</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9/1/2025</a:t>
            </a:fld>
            <a:endParaRPr lang="en-US"/>
          </a:p>
        </p:txBody>
      </p:sp>
      <p:sp>
        <p:nvSpPr>
          <p:cNvPr id="5" name="Holder 5"/>
          <p:cNvSpPr>
            <a:spLocks noGrp="1"/>
          </p:cNvSpPr>
          <p:nvPr>
            <p:ph type="sldNum" sz="quarter" idx="7"/>
          </p:nvPr>
        </p:nvSpPr>
        <p:spPr/>
        <p:txBody>
          <a:bodyPr lIns="0" tIns="0" rIns="0" bIns="0"/>
          <a:lstStyle>
            <a:lvl1pPr>
              <a:defRPr sz="900" b="0" i="0">
                <a:solidFill>
                  <a:srgbClr val="7E7E7E"/>
                </a:solidFill>
                <a:latin typeface="Segoe UI"/>
                <a:cs typeface="Segoe UI"/>
              </a:defRPr>
            </a:lvl1pPr>
          </a:lstStyle>
          <a:p>
            <a:pPr marL="111760">
              <a:lnSpc>
                <a:spcPct val="100000"/>
              </a:lnSpc>
              <a:spcBef>
                <a:spcPts val="170"/>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800" b="0" i="0">
                <a:solidFill>
                  <a:srgbClr val="7E7E7E"/>
                </a:solidFill>
                <a:latin typeface="Segoe UI"/>
                <a:cs typeface="Segoe UI"/>
              </a:defRPr>
            </a:lvl1pPr>
          </a:lstStyle>
          <a:p>
            <a:pPr marL="12700">
              <a:lnSpc>
                <a:spcPct val="100000"/>
              </a:lnSpc>
              <a:spcBef>
                <a:spcPts val="165"/>
              </a:spcBef>
            </a:pPr>
            <a:r>
              <a:rPr dirty="0"/>
              <a:t>1</a:t>
            </a:r>
            <a:r>
              <a:rPr spc="70" dirty="0"/>
              <a:t> </a:t>
            </a:r>
            <a:r>
              <a:rPr dirty="0"/>
              <a:t>Q</a:t>
            </a:r>
            <a:r>
              <a:rPr spc="85" dirty="0"/>
              <a:t> </a:t>
            </a:r>
            <a:r>
              <a:rPr dirty="0"/>
              <a:t>2</a:t>
            </a:r>
            <a:r>
              <a:rPr spc="75" dirty="0"/>
              <a:t> </a:t>
            </a:r>
            <a:r>
              <a:rPr dirty="0"/>
              <a:t>0</a:t>
            </a:r>
            <a:r>
              <a:rPr spc="75" dirty="0"/>
              <a:t> </a:t>
            </a:r>
            <a:r>
              <a:rPr dirty="0"/>
              <a:t>2</a:t>
            </a:r>
            <a:r>
              <a:rPr spc="75" dirty="0"/>
              <a:t> </a:t>
            </a:r>
            <a:r>
              <a:rPr dirty="0"/>
              <a:t>5</a:t>
            </a:r>
            <a:r>
              <a:rPr spc="204" dirty="0"/>
              <a:t>  </a:t>
            </a:r>
            <a:r>
              <a:rPr dirty="0"/>
              <a:t>R</a:t>
            </a:r>
            <a:r>
              <a:rPr spc="75" dirty="0"/>
              <a:t> </a:t>
            </a:r>
            <a:r>
              <a:rPr dirty="0"/>
              <a:t>e</a:t>
            </a:r>
            <a:r>
              <a:rPr spc="80" dirty="0"/>
              <a:t> </a:t>
            </a:r>
            <a:r>
              <a:rPr dirty="0"/>
              <a:t>s</a:t>
            </a:r>
            <a:r>
              <a:rPr spc="70" dirty="0"/>
              <a:t> </a:t>
            </a:r>
            <a:r>
              <a:rPr dirty="0"/>
              <a:t>u</a:t>
            </a:r>
            <a:r>
              <a:rPr spc="80" dirty="0"/>
              <a:t> </a:t>
            </a:r>
            <a:r>
              <a:rPr dirty="0"/>
              <a:t>l</a:t>
            </a:r>
            <a:r>
              <a:rPr spc="75" dirty="0"/>
              <a:t> </a:t>
            </a:r>
            <a:r>
              <a:rPr dirty="0"/>
              <a:t>t</a:t>
            </a:r>
            <a:r>
              <a:rPr spc="80" dirty="0"/>
              <a:t> </a:t>
            </a:r>
            <a:r>
              <a:rPr dirty="0"/>
              <a:t>s</a:t>
            </a:r>
            <a:r>
              <a:rPr spc="190" dirty="0"/>
              <a:t>  </a:t>
            </a:r>
            <a:r>
              <a:rPr dirty="0"/>
              <a:t>P</a:t>
            </a:r>
            <a:r>
              <a:rPr spc="85" dirty="0"/>
              <a:t> </a:t>
            </a:r>
            <a:r>
              <a:rPr dirty="0"/>
              <a:t>r</a:t>
            </a:r>
            <a:r>
              <a:rPr spc="75" dirty="0"/>
              <a:t> </a:t>
            </a:r>
            <a:r>
              <a:rPr dirty="0"/>
              <a:t>e</a:t>
            </a:r>
            <a:r>
              <a:rPr spc="80" dirty="0"/>
              <a:t> </a:t>
            </a:r>
            <a:r>
              <a:rPr dirty="0"/>
              <a:t>s</a:t>
            </a:r>
            <a:r>
              <a:rPr spc="70" dirty="0"/>
              <a:t> </a:t>
            </a:r>
            <a:r>
              <a:rPr dirty="0"/>
              <a:t>e</a:t>
            </a:r>
            <a:r>
              <a:rPr spc="80" dirty="0"/>
              <a:t> </a:t>
            </a:r>
            <a:r>
              <a:rPr dirty="0"/>
              <a:t>n</a:t>
            </a:r>
            <a:r>
              <a:rPr spc="80" dirty="0"/>
              <a:t> </a:t>
            </a:r>
            <a:r>
              <a:rPr dirty="0"/>
              <a:t>t</a:t>
            </a:r>
            <a:r>
              <a:rPr spc="75" dirty="0"/>
              <a:t> </a:t>
            </a:r>
            <a:r>
              <a:rPr dirty="0"/>
              <a:t>a</a:t>
            </a:r>
            <a:r>
              <a:rPr spc="75" dirty="0"/>
              <a:t> </a:t>
            </a:r>
            <a:r>
              <a:rPr dirty="0"/>
              <a:t>t</a:t>
            </a:r>
            <a:r>
              <a:rPr spc="80" dirty="0"/>
              <a:t> </a:t>
            </a:r>
            <a:r>
              <a:rPr dirty="0"/>
              <a:t>i</a:t>
            </a:r>
            <a:r>
              <a:rPr spc="75" dirty="0"/>
              <a:t> </a:t>
            </a:r>
            <a:r>
              <a:rPr dirty="0"/>
              <a:t>o</a:t>
            </a:r>
            <a:r>
              <a:rPr spc="75" dirty="0"/>
              <a:t> </a:t>
            </a:r>
            <a:r>
              <a:rPr spc="-50" dirty="0"/>
              <a:t>n</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9/1/2025</a:t>
            </a:fld>
            <a:endParaRPr lang="en-US"/>
          </a:p>
        </p:txBody>
      </p:sp>
      <p:sp>
        <p:nvSpPr>
          <p:cNvPr id="4" name="Holder 4"/>
          <p:cNvSpPr>
            <a:spLocks noGrp="1"/>
          </p:cNvSpPr>
          <p:nvPr>
            <p:ph type="sldNum" sz="quarter" idx="7"/>
          </p:nvPr>
        </p:nvSpPr>
        <p:spPr/>
        <p:txBody>
          <a:bodyPr lIns="0" tIns="0" rIns="0" bIns="0"/>
          <a:lstStyle>
            <a:lvl1pPr>
              <a:defRPr sz="900" b="0" i="0">
                <a:solidFill>
                  <a:srgbClr val="7E7E7E"/>
                </a:solidFill>
                <a:latin typeface="Segoe UI"/>
                <a:cs typeface="Segoe UI"/>
              </a:defRPr>
            </a:lvl1pPr>
          </a:lstStyle>
          <a:p>
            <a:pPr marL="111760">
              <a:lnSpc>
                <a:spcPct val="100000"/>
              </a:lnSpc>
              <a:spcBef>
                <a:spcPts val="170"/>
              </a:spcBef>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1483916" y="6448845"/>
            <a:ext cx="217269" cy="211420"/>
          </a:xfrm>
          <a:prstGeom prst="rect">
            <a:avLst/>
          </a:prstGeom>
        </p:spPr>
      </p:pic>
      <p:sp>
        <p:nvSpPr>
          <p:cNvPr id="2" name="Holder 2"/>
          <p:cNvSpPr>
            <a:spLocks noGrp="1"/>
          </p:cNvSpPr>
          <p:nvPr>
            <p:ph type="title"/>
          </p:nvPr>
        </p:nvSpPr>
        <p:spPr>
          <a:xfrm>
            <a:off x="282956" y="260730"/>
            <a:ext cx="11113770" cy="299720"/>
          </a:xfrm>
          <a:prstGeom prst="rect">
            <a:avLst/>
          </a:prstGeom>
        </p:spPr>
        <p:txBody>
          <a:bodyPr wrap="square" lIns="0" tIns="0" rIns="0" bIns="0">
            <a:spAutoFit/>
          </a:bodyPr>
          <a:lstStyle>
            <a:lvl1pPr>
              <a:defRPr sz="1800" b="1" i="0">
                <a:solidFill>
                  <a:srgbClr val="221BFF"/>
                </a:solidFill>
                <a:latin typeface="Segoe UI"/>
                <a:cs typeface="Segoe UI"/>
              </a:defRPr>
            </a:lvl1pPr>
          </a:lstStyle>
          <a:p>
            <a:endParaRPr/>
          </a:p>
        </p:txBody>
      </p:sp>
      <p:sp>
        <p:nvSpPr>
          <p:cNvPr id="3" name="Holder 3"/>
          <p:cNvSpPr>
            <a:spLocks noGrp="1"/>
          </p:cNvSpPr>
          <p:nvPr>
            <p:ph type="body" idx="1"/>
          </p:nvPr>
        </p:nvSpPr>
        <p:spPr>
          <a:xfrm>
            <a:off x="627532" y="1630816"/>
            <a:ext cx="5142230" cy="148208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558190" y="6455613"/>
            <a:ext cx="2303780" cy="161290"/>
          </a:xfrm>
          <a:prstGeom prst="rect">
            <a:avLst/>
          </a:prstGeom>
        </p:spPr>
        <p:txBody>
          <a:bodyPr wrap="square" lIns="0" tIns="0" rIns="0" bIns="0">
            <a:spAutoFit/>
          </a:bodyPr>
          <a:lstStyle>
            <a:lvl1pPr>
              <a:defRPr sz="800" b="0" i="0">
                <a:solidFill>
                  <a:srgbClr val="7E7E7E"/>
                </a:solidFill>
                <a:latin typeface="Segoe UI"/>
                <a:cs typeface="Segoe UI"/>
              </a:defRPr>
            </a:lvl1pPr>
          </a:lstStyle>
          <a:p>
            <a:pPr marL="12700">
              <a:lnSpc>
                <a:spcPct val="100000"/>
              </a:lnSpc>
              <a:spcBef>
                <a:spcPts val="165"/>
              </a:spcBef>
            </a:pPr>
            <a:r>
              <a:rPr dirty="0"/>
              <a:t>1</a:t>
            </a:r>
            <a:r>
              <a:rPr spc="70" dirty="0"/>
              <a:t> </a:t>
            </a:r>
            <a:r>
              <a:rPr dirty="0"/>
              <a:t>Q</a:t>
            </a:r>
            <a:r>
              <a:rPr spc="85" dirty="0"/>
              <a:t> </a:t>
            </a:r>
            <a:r>
              <a:rPr dirty="0"/>
              <a:t>2</a:t>
            </a:r>
            <a:r>
              <a:rPr spc="75" dirty="0"/>
              <a:t> </a:t>
            </a:r>
            <a:r>
              <a:rPr dirty="0"/>
              <a:t>0</a:t>
            </a:r>
            <a:r>
              <a:rPr spc="75" dirty="0"/>
              <a:t> </a:t>
            </a:r>
            <a:r>
              <a:rPr dirty="0"/>
              <a:t>2</a:t>
            </a:r>
            <a:r>
              <a:rPr spc="75" dirty="0"/>
              <a:t> </a:t>
            </a:r>
            <a:r>
              <a:rPr dirty="0"/>
              <a:t>5</a:t>
            </a:r>
            <a:r>
              <a:rPr spc="204" dirty="0"/>
              <a:t>  </a:t>
            </a:r>
            <a:r>
              <a:rPr dirty="0"/>
              <a:t>R</a:t>
            </a:r>
            <a:r>
              <a:rPr spc="75" dirty="0"/>
              <a:t> </a:t>
            </a:r>
            <a:r>
              <a:rPr dirty="0"/>
              <a:t>e</a:t>
            </a:r>
            <a:r>
              <a:rPr spc="80" dirty="0"/>
              <a:t> </a:t>
            </a:r>
            <a:r>
              <a:rPr dirty="0"/>
              <a:t>s</a:t>
            </a:r>
            <a:r>
              <a:rPr spc="70" dirty="0"/>
              <a:t> </a:t>
            </a:r>
            <a:r>
              <a:rPr dirty="0"/>
              <a:t>u</a:t>
            </a:r>
            <a:r>
              <a:rPr spc="80" dirty="0"/>
              <a:t> </a:t>
            </a:r>
            <a:r>
              <a:rPr dirty="0"/>
              <a:t>l</a:t>
            </a:r>
            <a:r>
              <a:rPr spc="75" dirty="0"/>
              <a:t> </a:t>
            </a:r>
            <a:r>
              <a:rPr dirty="0"/>
              <a:t>t</a:t>
            </a:r>
            <a:r>
              <a:rPr spc="80" dirty="0"/>
              <a:t> </a:t>
            </a:r>
            <a:r>
              <a:rPr dirty="0"/>
              <a:t>s</a:t>
            </a:r>
            <a:r>
              <a:rPr spc="190" dirty="0"/>
              <a:t>  </a:t>
            </a:r>
            <a:r>
              <a:rPr dirty="0"/>
              <a:t>P</a:t>
            </a:r>
            <a:r>
              <a:rPr spc="85" dirty="0"/>
              <a:t> </a:t>
            </a:r>
            <a:r>
              <a:rPr dirty="0"/>
              <a:t>r</a:t>
            </a:r>
            <a:r>
              <a:rPr spc="75" dirty="0"/>
              <a:t> </a:t>
            </a:r>
            <a:r>
              <a:rPr dirty="0"/>
              <a:t>e</a:t>
            </a:r>
            <a:r>
              <a:rPr spc="80" dirty="0"/>
              <a:t> </a:t>
            </a:r>
            <a:r>
              <a:rPr dirty="0"/>
              <a:t>s</a:t>
            </a:r>
            <a:r>
              <a:rPr spc="70" dirty="0"/>
              <a:t> </a:t>
            </a:r>
            <a:r>
              <a:rPr dirty="0"/>
              <a:t>e</a:t>
            </a:r>
            <a:r>
              <a:rPr spc="80" dirty="0"/>
              <a:t> </a:t>
            </a:r>
            <a:r>
              <a:rPr dirty="0"/>
              <a:t>n</a:t>
            </a:r>
            <a:r>
              <a:rPr spc="80" dirty="0"/>
              <a:t> </a:t>
            </a:r>
            <a:r>
              <a:rPr dirty="0"/>
              <a:t>t</a:t>
            </a:r>
            <a:r>
              <a:rPr spc="75" dirty="0"/>
              <a:t> </a:t>
            </a:r>
            <a:r>
              <a:rPr dirty="0"/>
              <a:t>a</a:t>
            </a:r>
            <a:r>
              <a:rPr spc="75" dirty="0"/>
              <a:t> </a:t>
            </a:r>
            <a:r>
              <a:rPr dirty="0"/>
              <a:t>t</a:t>
            </a:r>
            <a:r>
              <a:rPr spc="80" dirty="0"/>
              <a:t> </a:t>
            </a:r>
            <a:r>
              <a:rPr dirty="0"/>
              <a:t>i</a:t>
            </a:r>
            <a:r>
              <a:rPr spc="75" dirty="0"/>
              <a:t> </a:t>
            </a:r>
            <a:r>
              <a:rPr dirty="0"/>
              <a:t>o</a:t>
            </a:r>
            <a:r>
              <a:rPr spc="75" dirty="0"/>
              <a:t> </a:t>
            </a:r>
            <a:r>
              <a:rPr spc="-50" dirty="0"/>
              <a:t>n</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9/1/2025</a:t>
            </a:fld>
            <a:endParaRPr lang="en-US"/>
          </a:p>
        </p:txBody>
      </p:sp>
      <p:sp>
        <p:nvSpPr>
          <p:cNvPr id="6" name="Holder 6"/>
          <p:cNvSpPr>
            <a:spLocks noGrp="1"/>
          </p:cNvSpPr>
          <p:nvPr>
            <p:ph type="sldNum" sz="quarter" idx="7"/>
          </p:nvPr>
        </p:nvSpPr>
        <p:spPr>
          <a:xfrm>
            <a:off x="4284979" y="6447028"/>
            <a:ext cx="262254" cy="177800"/>
          </a:xfrm>
          <a:prstGeom prst="rect">
            <a:avLst/>
          </a:prstGeom>
        </p:spPr>
        <p:txBody>
          <a:bodyPr wrap="square" lIns="0" tIns="0" rIns="0" bIns="0">
            <a:spAutoFit/>
          </a:bodyPr>
          <a:lstStyle>
            <a:lvl1pPr>
              <a:defRPr sz="900" b="0" i="0">
                <a:solidFill>
                  <a:srgbClr val="7E7E7E"/>
                </a:solidFill>
                <a:latin typeface="Segoe UI"/>
                <a:cs typeface="Segoe UI"/>
              </a:defRPr>
            </a:lvl1pPr>
          </a:lstStyle>
          <a:p>
            <a:pPr marL="111760">
              <a:lnSpc>
                <a:spcPct val="100000"/>
              </a:lnSpc>
              <a:spcBef>
                <a:spcPts val="170"/>
              </a:spcBef>
            </a:pPr>
            <a:fld id="{81D60167-4931-47E6-BA6A-407CBD079E47}" type="slidenum">
              <a:rPr spc="-50" dirty="0"/>
              <a:t>‹#›</a:t>
            </a:fld>
            <a:endParaRPr spc="-50" dirty="0"/>
          </a:p>
        </p:txBody>
      </p:sp>
      <p:sp>
        <p:nvSpPr>
          <p:cNvPr id="8" name="TextBox 7">
            <a:extLst>
              <a:ext uri="{FF2B5EF4-FFF2-40B4-BE49-F238E27FC236}">
                <a16:creationId xmlns:a16="http://schemas.microsoft.com/office/drawing/2014/main" id="{4043A88E-C253-C725-A8FB-38D59CC877C0}"/>
              </a:ext>
            </a:extLst>
          </p:cNvPr>
          <p:cNvSpPr txBox="1"/>
          <p:nvPr userDrawn="1">
            <p:extLst>
              <p:ext uri="{1162E1C5-73C7-4A58-AE30-91384D911F3F}">
                <p184:classification xmlns:p184="http://schemas.microsoft.com/office/powerpoint/2018/4/main" val="ftr"/>
              </p:ext>
            </p:extLst>
          </p:nvPr>
        </p:nvSpPr>
        <p:spPr>
          <a:xfrm>
            <a:off x="5495925" y="6642100"/>
            <a:ext cx="1228725" cy="152400"/>
          </a:xfrm>
          <a:prstGeom prst="rect">
            <a:avLst/>
          </a:prstGeom>
        </p:spPr>
        <p:txBody>
          <a:bodyPr horzOverflow="overflow" lIns="0" tIns="0" rIns="0" bIns="0">
            <a:spAutoFit/>
          </a:bodyPr>
          <a:lstStyle/>
          <a:p>
            <a:pPr algn="l"/>
            <a:r>
              <a:rPr lang="en-US" sz="1000">
                <a:solidFill>
                  <a:srgbClr val="FFFF00">
                    <a:alpha val="50000"/>
                  </a:srgbClr>
                </a:solidFill>
                <a:latin typeface="Calibri" panose="020F0502020204030204" pitchFamily="34" charset="0"/>
                <a:ea typeface="Calibri" panose="020F0502020204030204" pitchFamily="34" charset="0"/>
                <a:cs typeface="Calibri" panose="020F0502020204030204" pitchFamily="34" charset="0"/>
              </a:rPr>
              <a:t>Ejada Internal Use Only</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533400" y="650466"/>
            <a:ext cx="5870652" cy="1594667"/>
          </a:xfrm>
          <a:prstGeom prst="rect">
            <a:avLst/>
          </a:prstGeom>
        </p:spPr>
        <p:txBody>
          <a:bodyPr vert="horz" wrap="square" lIns="0" tIns="106045" rIns="0" bIns="0" rtlCol="0">
            <a:spAutoFit/>
          </a:bodyPr>
          <a:lstStyle/>
          <a:p>
            <a:pPr marL="12700" marR="5080">
              <a:lnSpc>
                <a:spcPts val="5830"/>
              </a:lnSpc>
              <a:spcBef>
                <a:spcPts val="835"/>
              </a:spcBef>
            </a:pPr>
            <a:r>
              <a:rPr lang="en-US" sz="5400" dirty="0">
                <a:solidFill>
                  <a:srgbClr val="FFFFFF"/>
                </a:solidFill>
              </a:rPr>
              <a:t>Api Marketplace </a:t>
            </a:r>
            <a:br>
              <a:rPr lang="en-US" sz="5400" dirty="0">
                <a:solidFill>
                  <a:srgbClr val="FFFFFF"/>
                </a:solidFill>
              </a:rPr>
            </a:br>
            <a:r>
              <a:rPr lang="en-US" sz="5400" dirty="0">
                <a:solidFill>
                  <a:srgbClr val="FFFFFF"/>
                </a:solidFill>
              </a:rPr>
              <a:t>“Golden Wallet”</a:t>
            </a:r>
            <a:endParaRPr sz="5400" dirty="0"/>
          </a:p>
        </p:txBody>
      </p:sp>
      <p:graphicFrame>
        <p:nvGraphicFramePr>
          <p:cNvPr id="5" name="object 3"/>
          <p:cNvGraphicFramePr>
            <a:graphicFrameLocks noGrp="1"/>
          </p:cNvGraphicFramePr>
          <p:nvPr>
            <p:extLst>
              <p:ext uri="{D42A27DB-BD31-4B8C-83A1-F6EECF244321}">
                <p14:modId xmlns:p14="http://schemas.microsoft.com/office/powerpoint/2010/main" val="2582719334"/>
              </p:ext>
            </p:extLst>
          </p:nvPr>
        </p:nvGraphicFramePr>
        <p:xfrm>
          <a:off x="6477000" y="2438400"/>
          <a:ext cx="5097780" cy="2218690"/>
        </p:xfrm>
        <a:graphic>
          <a:graphicData uri="http://schemas.openxmlformats.org/drawingml/2006/table">
            <a:tbl>
              <a:tblPr firstRow="1" bandRow="1">
                <a:tableStyleId>{2D5ABB26-0587-4C30-8999-92F81FD0307C}</a:tableStyleId>
              </a:tblPr>
              <a:tblGrid>
                <a:gridCol w="780415">
                  <a:extLst>
                    <a:ext uri="{9D8B030D-6E8A-4147-A177-3AD203B41FA5}">
                      <a16:colId xmlns:a16="http://schemas.microsoft.com/office/drawing/2014/main" val="20000"/>
                    </a:ext>
                  </a:extLst>
                </a:gridCol>
                <a:gridCol w="4317365">
                  <a:extLst>
                    <a:ext uri="{9D8B030D-6E8A-4147-A177-3AD203B41FA5}">
                      <a16:colId xmlns:a16="http://schemas.microsoft.com/office/drawing/2014/main" val="20001"/>
                    </a:ext>
                  </a:extLst>
                </a:gridCol>
              </a:tblGrid>
              <a:tr h="0">
                <a:tc>
                  <a:txBody>
                    <a:bodyPr/>
                    <a:lstStyle/>
                    <a:p>
                      <a:pPr marL="92075">
                        <a:lnSpc>
                          <a:spcPct val="100000"/>
                        </a:lnSpc>
                        <a:spcBef>
                          <a:spcPts val="190"/>
                        </a:spcBef>
                      </a:pPr>
                      <a:r>
                        <a:rPr lang="en-US" sz="2400" b="1" spc="-25" dirty="0">
                          <a:solidFill>
                            <a:srgbClr val="211AFA"/>
                          </a:solidFill>
                        </a:rPr>
                        <a:t>1</a:t>
                      </a:r>
                      <a:endParaRPr sz="2400" dirty="0">
                        <a:latin typeface="Segoe UI"/>
                        <a:cs typeface="Segoe UI"/>
                      </a:endParaRPr>
                    </a:p>
                  </a:txBody>
                  <a:tcPr marL="0" marR="0" marT="2413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17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2700000" scaled="1"/>
                      <a:tileRect/>
                    </a:gradFill>
                  </a:tcPr>
                </a:tc>
                <a:tc>
                  <a:txBody>
                    <a:bodyPr/>
                    <a:lstStyle/>
                    <a:p>
                      <a:pPr marL="337185">
                        <a:lnSpc>
                          <a:spcPct val="100000"/>
                        </a:lnSpc>
                        <a:spcBef>
                          <a:spcPts val="690"/>
                        </a:spcBef>
                      </a:pPr>
                      <a:r>
                        <a:rPr lang="en-US" sz="1600" dirty="0">
                          <a:solidFill>
                            <a:srgbClr val="171717"/>
                          </a:solidFill>
                        </a:rPr>
                        <a:t>Description</a:t>
                      </a:r>
                      <a:endParaRPr sz="1600" dirty="0">
                        <a:latin typeface="Segoe UI"/>
                        <a:cs typeface="Segoe UI"/>
                      </a:endParaRPr>
                    </a:p>
                  </a:txBody>
                  <a:tcPr marL="0" marR="0" marT="8763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17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2700000" scaled="1"/>
                      <a:tileRect/>
                    </a:gradFill>
                  </a:tcPr>
                </a:tc>
                <a:extLst>
                  <a:ext uri="{0D108BD9-81ED-4DB2-BD59-A6C34878D82A}">
                    <a16:rowId xmlns:a16="http://schemas.microsoft.com/office/drawing/2014/main" val="10000"/>
                  </a:ext>
                </a:extLst>
              </a:tr>
              <a:tr h="457200">
                <a:tc>
                  <a:txBody>
                    <a:bodyPr/>
                    <a:lstStyle/>
                    <a:p>
                      <a:pPr marL="92075">
                        <a:lnSpc>
                          <a:spcPct val="100000"/>
                        </a:lnSpc>
                        <a:spcBef>
                          <a:spcPts val="305"/>
                        </a:spcBef>
                      </a:pPr>
                      <a:r>
                        <a:rPr lang="en-US" sz="2400" b="1" spc="-25" dirty="0">
                          <a:solidFill>
                            <a:srgbClr val="211AFA"/>
                          </a:solidFill>
                        </a:rPr>
                        <a:t>2</a:t>
                      </a:r>
                      <a:endParaRPr sz="2400" dirty="0">
                        <a:latin typeface="Segoe UI"/>
                        <a:cs typeface="Segoe UI"/>
                      </a:endParaRPr>
                    </a:p>
                  </a:txBody>
                  <a:tcPr marL="0" marR="0" marT="3873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17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2700000" scaled="1"/>
                      <a:tileRect/>
                    </a:gradFill>
                  </a:tcPr>
                </a:tc>
                <a:tc>
                  <a:txBody>
                    <a:bodyPr/>
                    <a:lstStyle/>
                    <a:p>
                      <a:pPr marL="337185">
                        <a:lnSpc>
                          <a:spcPct val="100000"/>
                        </a:lnSpc>
                        <a:spcBef>
                          <a:spcPts val="805"/>
                        </a:spcBef>
                      </a:pPr>
                      <a:r>
                        <a:rPr lang="en-US" sz="1600" dirty="0">
                          <a:solidFill>
                            <a:srgbClr val="171717"/>
                          </a:solidFill>
                        </a:rPr>
                        <a:t>Terminologies </a:t>
                      </a:r>
                      <a:endParaRPr sz="1600" dirty="0">
                        <a:latin typeface="Segoe UI"/>
                        <a:cs typeface="Segoe UI"/>
                      </a:endParaRPr>
                    </a:p>
                  </a:txBody>
                  <a:tcPr marL="0" marR="0" marT="10223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17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2700000" scaled="1"/>
                      <a:tileRect/>
                    </a:gradFill>
                  </a:tcPr>
                </a:tc>
                <a:extLst>
                  <a:ext uri="{0D108BD9-81ED-4DB2-BD59-A6C34878D82A}">
                    <a16:rowId xmlns:a16="http://schemas.microsoft.com/office/drawing/2014/main" val="10001"/>
                  </a:ext>
                </a:extLst>
              </a:tr>
              <a:tr h="457200">
                <a:tc>
                  <a:txBody>
                    <a:bodyPr/>
                    <a:lstStyle/>
                    <a:p>
                      <a:pPr marL="92075">
                        <a:lnSpc>
                          <a:spcPct val="100000"/>
                        </a:lnSpc>
                        <a:spcBef>
                          <a:spcPts val="305"/>
                        </a:spcBef>
                      </a:pPr>
                      <a:r>
                        <a:rPr lang="en-US" sz="2400" b="1" spc="-25" dirty="0">
                          <a:solidFill>
                            <a:srgbClr val="211AFA"/>
                          </a:solidFill>
                        </a:rPr>
                        <a:t>3</a:t>
                      </a:r>
                      <a:endParaRPr sz="2400" dirty="0">
                        <a:latin typeface="Segoe UI"/>
                        <a:cs typeface="Segoe UI"/>
                      </a:endParaRPr>
                    </a:p>
                  </a:txBody>
                  <a:tcPr marL="0" marR="0" marT="3873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17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2700000" scaled="1"/>
                      <a:tileRect/>
                    </a:gradFill>
                  </a:tcPr>
                </a:tc>
                <a:tc>
                  <a:txBody>
                    <a:bodyPr/>
                    <a:lstStyle/>
                    <a:p>
                      <a:pPr marL="337185">
                        <a:lnSpc>
                          <a:spcPct val="100000"/>
                        </a:lnSpc>
                        <a:spcBef>
                          <a:spcPts val="805"/>
                        </a:spcBef>
                      </a:pPr>
                      <a:r>
                        <a:rPr lang="en-US" sz="1600" dirty="0">
                          <a:solidFill>
                            <a:srgbClr val="171717"/>
                          </a:solidFill>
                        </a:rPr>
                        <a:t>Key Features </a:t>
                      </a:r>
                      <a:endParaRPr sz="1600" dirty="0">
                        <a:latin typeface="Segoe UI"/>
                        <a:cs typeface="Segoe UI"/>
                      </a:endParaRPr>
                    </a:p>
                  </a:txBody>
                  <a:tcPr marL="0" marR="0" marT="10223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17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2700000" scaled="1"/>
                      <a:tileRect/>
                    </a:gradFill>
                  </a:tcPr>
                </a:tc>
                <a:extLst>
                  <a:ext uri="{0D108BD9-81ED-4DB2-BD59-A6C34878D82A}">
                    <a16:rowId xmlns:a16="http://schemas.microsoft.com/office/drawing/2014/main" val="10002"/>
                  </a:ext>
                </a:extLst>
              </a:tr>
              <a:tr h="457200">
                <a:tc>
                  <a:txBody>
                    <a:bodyPr/>
                    <a:lstStyle/>
                    <a:p>
                      <a:pPr marL="92075">
                        <a:lnSpc>
                          <a:spcPct val="100000"/>
                        </a:lnSpc>
                        <a:spcBef>
                          <a:spcPts val="305"/>
                        </a:spcBef>
                      </a:pPr>
                      <a:r>
                        <a:rPr lang="en-US" sz="2400" b="1" spc="-25" dirty="0">
                          <a:solidFill>
                            <a:srgbClr val="211AFA"/>
                          </a:solidFill>
                        </a:rPr>
                        <a:t>4</a:t>
                      </a:r>
                      <a:endParaRPr sz="2400" dirty="0">
                        <a:latin typeface="Segoe UI"/>
                        <a:cs typeface="Segoe UI"/>
                      </a:endParaRPr>
                    </a:p>
                  </a:txBody>
                  <a:tcPr marL="0" marR="0" marT="3873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17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2700000" scaled="1"/>
                      <a:tileRect/>
                    </a:gradFill>
                  </a:tcPr>
                </a:tc>
                <a:tc>
                  <a:txBody>
                    <a:bodyPr/>
                    <a:lstStyle/>
                    <a:p>
                      <a:pPr marL="337185">
                        <a:lnSpc>
                          <a:spcPct val="100000"/>
                        </a:lnSpc>
                        <a:spcBef>
                          <a:spcPts val="805"/>
                        </a:spcBef>
                      </a:pPr>
                      <a:r>
                        <a:rPr lang="en-US" sz="1600" dirty="0">
                          <a:solidFill>
                            <a:srgbClr val="171717"/>
                          </a:solidFill>
                        </a:rPr>
                        <a:t>Process Workflow</a:t>
                      </a:r>
                      <a:endParaRPr sz="1600" dirty="0">
                        <a:latin typeface="Segoe UI"/>
                        <a:cs typeface="Segoe UI"/>
                      </a:endParaRPr>
                    </a:p>
                  </a:txBody>
                  <a:tcPr marL="0" marR="0" marT="10223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17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2700000" scaled="1"/>
                      <a:tileRect/>
                    </a:gradFill>
                  </a:tcPr>
                </a:tc>
                <a:extLst>
                  <a:ext uri="{0D108BD9-81ED-4DB2-BD59-A6C34878D82A}">
                    <a16:rowId xmlns:a16="http://schemas.microsoft.com/office/drawing/2014/main" val="10003"/>
                  </a:ext>
                </a:extLst>
              </a:tr>
              <a:tr h="457200">
                <a:tc>
                  <a:txBody>
                    <a:bodyPr/>
                    <a:lstStyle/>
                    <a:p>
                      <a:pPr marL="92075">
                        <a:lnSpc>
                          <a:spcPct val="100000"/>
                        </a:lnSpc>
                        <a:spcBef>
                          <a:spcPts val="305"/>
                        </a:spcBef>
                      </a:pPr>
                      <a:r>
                        <a:rPr lang="en-US" sz="2400" b="1" spc="-25" dirty="0">
                          <a:solidFill>
                            <a:srgbClr val="211AFA"/>
                          </a:solidFill>
                        </a:rPr>
                        <a:t>5</a:t>
                      </a:r>
                      <a:endParaRPr sz="2400" dirty="0">
                        <a:latin typeface="Segoe UI"/>
                        <a:cs typeface="Segoe UI"/>
                      </a:endParaRPr>
                    </a:p>
                  </a:txBody>
                  <a:tcPr marL="0" marR="0" marT="3873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17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2700000" scaled="1"/>
                      <a:tileRect/>
                    </a:gradFill>
                  </a:tcPr>
                </a:tc>
                <a:tc>
                  <a:txBody>
                    <a:bodyPr/>
                    <a:lstStyle/>
                    <a:p>
                      <a:pPr marL="337185">
                        <a:lnSpc>
                          <a:spcPct val="100000"/>
                        </a:lnSpc>
                        <a:spcBef>
                          <a:spcPts val="805"/>
                        </a:spcBef>
                      </a:pPr>
                      <a:r>
                        <a:rPr lang="en-US" sz="1600" dirty="0">
                          <a:solidFill>
                            <a:srgbClr val="171717"/>
                          </a:solidFill>
                        </a:rPr>
                        <a:t>Key Inputs/Outputs </a:t>
                      </a:r>
                      <a:endParaRPr sz="1600" dirty="0">
                        <a:latin typeface="Segoe UI"/>
                        <a:cs typeface="Segoe UI"/>
                      </a:endParaRPr>
                    </a:p>
                  </a:txBody>
                  <a:tcPr marL="0" marR="0" marT="10223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gradFill flip="none" rotWithShape="1">
                      <a:gsLst>
                        <a:gs pos="17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2700000" scaled="1"/>
                      <a:tileRect/>
                    </a:gra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8425" y="2246502"/>
            <a:ext cx="4252595" cy="633507"/>
          </a:xfrm>
          <a:prstGeom prst="rect">
            <a:avLst/>
          </a:prstGeom>
        </p:spPr>
        <p:txBody>
          <a:bodyPr vert="horz" wrap="square" lIns="0" tIns="81280" rIns="0" bIns="0" rtlCol="0">
            <a:spAutoFit/>
          </a:bodyPr>
          <a:lstStyle/>
          <a:p>
            <a:pPr marL="12700" marR="5080">
              <a:lnSpc>
                <a:spcPts val="4320"/>
              </a:lnSpc>
              <a:spcBef>
                <a:spcPts val="640"/>
              </a:spcBef>
            </a:pPr>
            <a:r>
              <a:rPr lang="en-US" sz="4000" dirty="0">
                <a:solidFill>
                  <a:srgbClr val="FFFFFF"/>
                </a:solidFill>
              </a:rPr>
              <a:t>Description</a:t>
            </a:r>
            <a:endParaRPr sz="4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lang="en-US" dirty="0"/>
              <a:t>Descriptions </a:t>
            </a:r>
            <a:endParaRPr sz="1600" dirty="0">
              <a:latin typeface="Segoe UI"/>
              <a:cs typeface="Segoe UI"/>
            </a:endParaRPr>
          </a:p>
        </p:txBody>
      </p:sp>
      <p:sp>
        <p:nvSpPr>
          <p:cNvPr id="85" name="object 85"/>
          <p:cNvSpPr txBox="1">
            <a:spLocks noGrp="1"/>
          </p:cNvSpPr>
          <p:nvPr>
            <p:ph type="sldNum" sz="quarter" idx="7"/>
          </p:nvPr>
        </p:nvSpPr>
        <p:spPr>
          <a:prstGeom prst="rect">
            <a:avLst/>
          </a:prstGeom>
        </p:spPr>
        <p:txBody>
          <a:bodyPr vert="horz" wrap="square" lIns="0" tIns="21590" rIns="0" bIns="0" rtlCol="0">
            <a:spAutoFit/>
          </a:bodyPr>
          <a:lstStyle/>
          <a:p>
            <a:pPr marL="111760">
              <a:lnSpc>
                <a:spcPct val="100000"/>
              </a:lnSpc>
              <a:spcBef>
                <a:spcPts val="170"/>
              </a:spcBef>
            </a:pPr>
            <a:fld id="{81D60167-4931-47E6-BA6A-407CBD079E47}" type="slidenum">
              <a:rPr spc="-50" dirty="0"/>
              <a:t>3</a:t>
            </a:fld>
            <a:endParaRPr spc="-50" dirty="0"/>
          </a:p>
        </p:txBody>
      </p:sp>
      <p:sp>
        <p:nvSpPr>
          <p:cNvPr id="86" name="TextBox 85">
            <a:extLst>
              <a:ext uri="{FF2B5EF4-FFF2-40B4-BE49-F238E27FC236}">
                <a16:creationId xmlns:a16="http://schemas.microsoft.com/office/drawing/2014/main" id="{1E1DB378-25D1-9523-C9AC-B8664B7A957C}"/>
              </a:ext>
            </a:extLst>
          </p:cNvPr>
          <p:cNvSpPr txBox="1"/>
          <p:nvPr/>
        </p:nvSpPr>
        <p:spPr>
          <a:xfrm>
            <a:off x="457200" y="990600"/>
            <a:ext cx="11430000" cy="276999"/>
          </a:xfrm>
          <a:prstGeom prst="rect">
            <a:avLst/>
          </a:prstGeom>
          <a:noFill/>
        </p:spPr>
        <p:txBody>
          <a:bodyPr wrap="square" rtlCol="0">
            <a:spAutoFit/>
          </a:bodyPr>
          <a:lstStyle/>
          <a:p>
            <a:endParaRPr lang="en-US" sz="1200" dirty="0"/>
          </a:p>
        </p:txBody>
      </p:sp>
      <p:sp>
        <p:nvSpPr>
          <p:cNvPr id="87" name="TextBox 86">
            <a:extLst>
              <a:ext uri="{FF2B5EF4-FFF2-40B4-BE49-F238E27FC236}">
                <a16:creationId xmlns:a16="http://schemas.microsoft.com/office/drawing/2014/main" id="{A2CB84B1-CF2B-4F72-993D-16EEE3D9E6A7}"/>
              </a:ext>
            </a:extLst>
          </p:cNvPr>
          <p:cNvSpPr txBox="1"/>
          <p:nvPr/>
        </p:nvSpPr>
        <p:spPr>
          <a:xfrm>
            <a:off x="152400" y="685800"/>
            <a:ext cx="11734800" cy="6322244"/>
          </a:xfrm>
          <a:prstGeom prst="rect">
            <a:avLst/>
          </a:prstGeom>
          <a:noFill/>
        </p:spPr>
        <p:txBody>
          <a:bodyPr wrap="square" rtlCol="0">
            <a:spAutoFit/>
          </a:bodyPr>
          <a:lstStyle/>
          <a:p>
            <a:pPr marL="285750" marR="0" lvl="0" indent="-285750" algn="l" defTabSz="914400" rtl="0" eaLnBrk="1" fontAlgn="auto" latinLnBrk="0" hangingPunct="1">
              <a:spcBef>
                <a:spcPts val="1000"/>
              </a:spcBef>
              <a:spcAft>
                <a:spcPts val="0"/>
              </a:spcAft>
              <a:buClrTx/>
              <a:buSzTx/>
              <a:buFont typeface="Arial" panose="020B0604020202020204" pitchFamily="34" charset="0"/>
              <a:buChar char="•"/>
              <a:tabLst/>
              <a:defRPr/>
            </a:pPr>
            <a:r>
              <a:rPr kumimoji="0" lang="en-US" sz="1500" b="1" i="0" u="none" strike="noStrike" kern="1200" cap="none" spc="0" normalizeH="0" baseline="0" noProof="0" dirty="0">
                <a:ln>
                  <a:noFill/>
                </a:ln>
                <a:solidFill>
                  <a:prstClr val="black"/>
                </a:solidFill>
                <a:effectLst/>
                <a:uLnTx/>
                <a:uFillTx/>
                <a:latin typeface="Inter"/>
                <a:ea typeface="+mn-ea"/>
                <a:cs typeface="+mn-cs"/>
              </a:rPr>
              <a:t>What is the API Marketplace?</a:t>
            </a:r>
          </a:p>
          <a:p>
            <a:pPr marL="285750" lvl="6" indent="-285750" algn="l" rtl="0">
              <a:spcBef>
                <a:spcPts val="1000"/>
              </a:spcBef>
              <a:buFont typeface="Courier New" panose="02070309020205020404" pitchFamily="49" charset="0"/>
              <a:buChar char="o"/>
              <a:defRPr/>
            </a:pPr>
            <a:r>
              <a:rPr kumimoji="0" lang="en-US" sz="1500" b="0" i="0" u="none" strike="noStrike" kern="1200" cap="none" spc="0" normalizeH="0" baseline="0" noProof="0" dirty="0">
                <a:ln>
                  <a:noFill/>
                </a:ln>
                <a:solidFill>
                  <a:prstClr val="black"/>
                </a:solidFill>
                <a:effectLst/>
                <a:uLnTx/>
                <a:uFillTx/>
                <a:latin typeface="Inter"/>
                <a:ea typeface="+mn-ea"/>
                <a:cs typeface="+mn-cs"/>
              </a:rPr>
              <a:t>A Centralized platform to expose APIs for mutual fund investments.</a:t>
            </a:r>
          </a:p>
          <a:p>
            <a:pPr marL="285750" lvl="8" indent="-285750" algn="l" rtl="0">
              <a:spcBef>
                <a:spcPts val="300"/>
              </a:spcBef>
              <a:buFont typeface="Courier New" panose="02070309020205020404" pitchFamily="49" charset="0"/>
              <a:buChar char="o"/>
              <a:defRPr/>
            </a:pPr>
            <a:r>
              <a:rPr kumimoji="0" lang="en-US" sz="1500" b="0" i="0" u="none" strike="noStrike" kern="1200" cap="none" spc="0" normalizeH="0" baseline="0" noProof="0" dirty="0">
                <a:ln>
                  <a:noFill/>
                </a:ln>
                <a:solidFill>
                  <a:prstClr val="black"/>
                </a:solidFill>
                <a:effectLst/>
                <a:uLnTx/>
                <a:uFillTx/>
                <a:latin typeface="Inter"/>
                <a:ea typeface="+mn-ea"/>
                <a:cs typeface="+mn-cs"/>
              </a:rPr>
              <a:t>Enables ARB subsidiaries to offer mutual fund services through their digital channels.</a:t>
            </a:r>
          </a:p>
          <a:p>
            <a:pPr lvl="8" algn="l" rtl="0">
              <a:lnSpc>
                <a:spcPct val="90000"/>
              </a:lnSpc>
              <a:spcBef>
                <a:spcPts val="300"/>
              </a:spcBef>
              <a:defRPr/>
            </a:pPr>
            <a:endParaRPr kumimoji="0" lang="en-US" sz="1500" b="0" i="0" u="none" strike="noStrike" kern="1200" cap="none" spc="0" normalizeH="0" baseline="0" noProof="0" dirty="0">
              <a:ln>
                <a:noFill/>
              </a:ln>
              <a:solidFill>
                <a:prstClr val="black"/>
              </a:solidFill>
              <a:effectLst/>
              <a:uLnTx/>
              <a:uFillTx/>
              <a:latin typeface="Inter"/>
              <a:ea typeface="+mn-ea"/>
              <a:cs typeface="+mn-cs"/>
            </a:endParaRPr>
          </a:p>
          <a:p>
            <a:pPr marL="285750" indent="-285750">
              <a:buFont typeface="Arial" panose="020B0604020202020204" pitchFamily="34" charset="0"/>
              <a:buChar char="•"/>
            </a:pPr>
            <a:r>
              <a:rPr lang="en-US" sz="1500" b="1" dirty="0">
                <a:latin typeface="Inter"/>
              </a:rPr>
              <a:t>What is a Digital Gold Wallet?</a:t>
            </a:r>
          </a:p>
          <a:p>
            <a:pPr marL="285750" indent="-285750">
              <a:buFont typeface="Courier New" panose="02070309020205020404" pitchFamily="49" charset="0"/>
              <a:buChar char="o"/>
            </a:pPr>
            <a:r>
              <a:rPr lang="en-US" sz="1500" dirty="0">
                <a:latin typeface="Inter"/>
              </a:rPr>
              <a:t>Explain the concept of a digital gold wallet as a secure and convenient way for customers to buy, sell, and hold gold in a digital, paperless form.</a:t>
            </a:r>
          </a:p>
          <a:p>
            <a:pPr marL="285750" indent="-285750">
              <a:buFont typeface="Courier New" panose="02070309020205020404" pitchFamily="49" charset="0"/>
              <a:buChar char="o"/>
            </a:pPr>
            <a:r>
              <a:rPr lang="en-US" sz="1500" dirty="0">
                <a:latin typeface="Inter"/>
              </a:rPr>
              <a:t>Emphasize that it removes the need for physical storage, logistics, and security concerns associated with physical gold.</a:t>
            </a:r>
          </a:p>
          <a:p>
            <a:endParaRPr lang="en-US" sz="1500" dirty="0">
              <a:latin typeface="Inter"/>
            </a:endParaRPr>
          </a:p>
          <a:p>
            <a:pPr marL="285750" indent="-285750">
              <a:buFont typeface="Arial" panose="020B0604020202020204" pitchFamily="34" charset="0"/>
              <a:buChar char="•"/>
            </a:pPr>
            <a:r>
              <a:rPr lang="en-US" sz="1500" b="1" dirty="0">
                <a:latin typeface="Inter "/>
              </a:rPr>
              <a:t>How Will It Be Used?</a:t>
            </a:r>
            <a:endParaRPr lang="en-US" sz="1500" dirty="0">
              <a:latin typeface="Inter "/>
            </a:endParaRPr>
          </a:p>
          <a:p>
            <a:pPr marL="285750" indent="-285750">
              <a:buFont typeface="Courier New" panose="02070309020205020404" pitchFamily="49" charset="0"/>
              <a:buChar char="o"/>
            </a:pPr>
            <a:r>
              <a:rPr lang="en-US" sz="1500" dirty="0">
                <a:latin typeface="Inter "/>
              </a:rPr>
              <a:t>Describe the product's function from the consumer's (business client's) perspective.</a:t>
            </a:r>
          </a:p>
          <a:p>
            <a:pPr marL="285750" indent="-285750">
              <a:buFont typeface="Courier New" panose="02070309020205020404" pitchFamily="49" charset="0"/>
              <a:buChar char="o"/>
            </a:pPr>
            <a:r>
              <a:rPr lang="en-US" sz="1500" dirty="0">
                <a:latin typeface="Inter "/>
              </a:rPr>
              <a:t>Explain that the consumer will use the provided APIs to seamlessly integrate gold buying, selling, and management functionalities directly into their own digital channels for their end-users.</a:t>
            </a:r>
          </a:p>
          <a:p>
            <a:pPr marL="285750" indent="-285750">
              <a:buFont typeface="Courier New" panose="02070309020205020404" pitchFamily="49" charset="0"/>
              <a:buChar char="o"/>
            </a:pPr>
            <a:r>
              <a:rPr lang="en-US" sz="1500" dirty="0">
                <a:latin typeface="Inter "/>
              </a:rPr>
              <a:t>Show how this enables their customers to have a dedicated digital account for their gold holdings.</a:t>
            </a:r>
          </a:p>
          <a:p>
            <a:endParaRPr lang="en-US" sz="1500" dirty="0">
              <a:latin typeface="Inter "/>
            </a:endParaRPr>
          </a:p>
          <a:p>
            <a:pPr marL="285750" indent="-285750">
              <a:buFont typeface="Arial" panose="020B0604020202020204" pitchFamily="34" charset="0"/>
              <a:buChar char="•"/>
            </a:pPr>
            <a:r>
              <a:rPr lang="en-US" sz="1500" b="1" dirty="0">
                <a:latin typeface="Inter "/>
              </a:rPr>
              <a:t>How Will It Be Used?</a:t>
            </a:r>
            <a:endParaRPr lang="en-US" sz="1500" dirty="0">
              <a:latin typeface="Inter "/>
            </a:endParaRPr>
          </a:p>
          <a:p>
            <a:pPr marL="285750" indent="-285750">
              <a:buFont typeface="Courier New" panose="02070309020205020404" pitchFamily="49" charset="0"/>
              <a:buChar char="o"/>
            </a:pPr>
            <a:r>
              <a:rPr lang="en-US" sz="1500" dirty="0">
                <a:latin typeface="Inter "/>
              </a:rPr>
              <a:t>Describe the product's function from the consumer's (business client's) perspective.</a:t>
            </a:r>
          </a:p>
          <a:p>
            <a:pPr marL="285750" indent="-285750">
              <a:buFont typeface="Courier New" panose="02070309020205020404" pitchFamily="49" charset="0"/>
              <a:buChar char="o"/>
            </a:pPr>
            <a:r>
              <a:rPr lang="en-US" sz="1500" dirty="0">
                <a:latin typeface="Inter "/>
              </a:rPr>
              <a:t>Explain that the consumer will use the provided APIs to seamlessly integrate gold buying, selling, and management functionalities directly into their own digital channels for their end-users.</a:t>
            </a:r>
          </a:p>
          <a:p>
            <a:pPr marL="285750" indent="-285750">
              <a:buFont typeface="Courier New" panose="02070309020205020404" pitchFamily="49" charset="0"/>
              <a:buChar char="o"/>
            </a:pPr>
            <a:r>
              <a:rPr lang="en-US" sz="1500" dirty="0">
                <a:latin typeface="Inter "/>
              </a:rPr>
              <a:t>Show how this enables their customers to have a dedicated digital account for their gold holdings.</a:t>
            </a:r>
          </a:p>
          <a:p>
            <a:endParaRPr lang="en-US" sz="1500" dirty="0">
              <a:latin typeface="Inter "/>
            </a:endParaRPr>
          </a:p>
          <a:p>
            <a:pPr marL="285750" indent="-285750">
              <a:buFont typeface="Arial" panose="020B0604020202020204" pitchFamily="34" charset="0"/>
              <a:buChar char="•"/>
            </a:pPr>
            <a:r>
              <a:rPr lang="en-US" sz="1500" b="1" dirty="0">
                <a:latin typeface="Inter "/>
              </a:rPr>
              <a:t>Key Advantages of a Digital Gold Wallet</a:t>
            </a:r>
            <a:endParaRPr lang="en-US" sz="1500" dirty="0">
              <a:latin typeface="Inter "/>
            </a:endParaRPr>
          </a:p>
          <a:p>
            <a:pPr marL="285750" indent="-285750">
              <a:buFont typeface="Courier New" panose="02070309020205020404" pitchFamily="49" charset="0"/>
              <a:buChar char="o"/>
            </a:pPr>
            <a:r>
              <a:rPr lang="en-US" sz="1500" dirty="0">
                <a:latin typeface="Inter "/>
              </a:rPr>
              <a:t>Convenience: Manage gold anytime, anywhere on a mobile or web app.</a:t>
            </a:r>
          </a:p>
          <a:p>
            <a:pPr marL="285750" indent="-285750">
              <a:buFont typeface="Courier New" panose="02070309020205020404" pitchFamily="49" charset="0"/>
              <a:buChar char="o"/>
            </a:pPr>
            <a:r>
              <a:rPr lang="en-US" sz="1500" dirty="0">
                <a:latin typeface="Inter "/>
              </a:rPr>
              <a:t>Security: Gold is held securely for your customers, without the risks of physical ownership.</a:t>
            </a:r>
          </a:p>
          <a:p>
            <a:pPr marL="285750" indent="-285750">
              <a:buFont typeface="Courier New" panose="02070309020205020404" pitchFamily="49" charset="0"/>
              <a:buChar char="o"/>
            </a:pPr>
            <a:r>
              <a:rPr lang="en-US" sz="1500" dirty="0">
                <a:latin typeface="Inter "/>
              </a:rPr>
              <a:t>Accessibility: Buy and sell gold in small, affordable amounts.</a:t>
            </a:r>
          </a:p>
          <a:p>
            <a:pPr marL="285750" indent="-285750">
              <a:buFont typeface="Courier New" panose="02070309020205020404" pitchFamily="49" charset="0"/>
              <a:buChar char="o"/>
            </a:pPr>
            <a:r>
              <a:rPr lang="en-US" sz="1500" dirty="0">
                <a:latin typeface="Inter "/>
              </a:rPr>
              <a:t>Investment: Easily investment portfolios with gold.</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8425" y="2794838"/>
            <a:ext cx="4271645" cy="635000"/>
          </a:xfrm>
          <a:prstGeom prst="rect">
            <a:avLst/>
          </a:prstGeom>
        </p:spPr>
        <p:txBody>
          <a:bodyPr vert="horz" wrap="square" lIns="0" tIns="12065" rIns="0" bIns="0" rtlCol="0">
            <a:spAutoFit/>
          </a:bodyPr>
          <a:lstStyle/>
          <a:p>
            <a:pPr marL="12700">
              <a:lnSpc>
                <a:spcPct val="100000"/>
              </a:lnSpc>
              <a:spcBef>
                <a:spcPts val="95"/>
              </a:spcBef>
            </a:pPr>
            <a:r>
              <a:rPr lang="en-US" sz="4000" dirty="0">
                <a:solidFill>
                  <a:srgbClr val="FFFFFF"/>
                </a:solidFill>
              </a:rPr>
              <a:t>Terminologies </a:t>
            </a:r>
            <a:endParaRPr sz="4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82956" y="260730"/>
            <a:ext cx="10017760" cy="299720"/>
          </a:xfrm>
          <a:prstGeom prst="rect">
            <a:avLst/>
          </a:prstGeom>
        </p:spPr>
        <p:txBody>
          <a:bodyPr vert="horz" wrap="square" lIns="0" tIns="12700" rIns="0" bIns="0" rtlCol="0">
            <a:spAutoFit/>
          </a:bodyPr>
          <a:lstStyle/>
          <a:p>
            <a:pPr marL="12700">
              <a:lnSpc>
                <a:spcPct val="100000"/>
              </a:lnSpc>
              <a:spcBef>
                <a:spcPts val="100"/>
              </a:spcBef>
            </a:pPr>
            <a:r>
              <a:rPr lang="en-US" sz="1800" b="1" dirty="0">
                <a:solidFill>
                  <a:srgbClr val="221BFF"/>
                </a:solidFill>
                <a:latin typeface="Segoe UI"/>
                <a:cs typeface="Segoe UI"/>
              </a:rPr>
              <a:t>Terminologies- Business Definitions </a:t>
            </a:r>
            <a:endParaRPr sz="1600" dirty="0">
              <a:latin typeface="Segoe UI"/>
              <a:cs typeface="Segoe UI"/>
            </a:endParaRPr>
          </a:p>
        </p:txBody>
      </p:sp>
      <p:graphicFrame>
        <p:nvGraphicFramePr>
          <p:cNvPr id="9" name="Table 8">
            <a:extLst>
              <a:ext uri="{FF2B5EF4-FFF2-40B4-BE49-F238E27FC236}">
                <a16:creationId xmlns:a16="http://schemas.microsoft.com/office/drawing/2014/main" id="{C12694AB-2BAA-AC1B-E888-3CC486CA6E42}"/>
              </a:ext>
            </a:extLst>
          </p:cNvPr>
          <p:cNvGraphicFramePr>
            <a:graphicFrameLocks noGrp="1"/>
          </p:cNvGraphicFramePr>
          <p:nvPr>
            <p:extLst>
              <p:ext uri="{D42A27DB-BD31-4B8C-83A1-F6EECF244321}">
                <p14:modId xmlns:p14="http://schemas.microsoft.com/office/powerpoint/2010/main" val="3467008522"/>
              </p:ext>
            </p:extLst>
          </p:nvPr>
        </p:nvGraphicFramePr>
        <p:xfrm>
          <a:off x="431495" y="972485"/>
          <a:ext cx="11329010" cy="4913029"/>
        </p:xfrm>
        <a:graphic>
          <a:graphicData uri="http://schemas.openxmlformats.org/drawingml/2006/table">
            <a:tbl>
              <a:tblPr firstRow="1" bandRow="1">
                <a:tableStyleId>{3B4B98B0-60AC-42C2-AFA5-B58CD77FA1E5}</a:tableStyleId>
              </a:tblPr>
              <a:tblGrid>
                <a:gridCol w="2690641">
                  <a:extLst>
                    <a:ext uri="{9D8B030D-6E8A-4147-A177-3AD203B41FA5}">
                      <a16:colId xmlns:a16="http://schemas.microsoft.com/office/drawing/2014/main" val="795359942"/>
                    </a:ext>
                  </a:extLst>
                </a:gridCol>
                <a:gridCol w="8638369">
                  <a:extLst>
                    <a:ext uri="{9D8B030D-6E8A-4147-A177-3AD203B41FA5}">
                      <a16:colId xmlns:a16="http://schemas.microsoft.com/office/drawing/2014/main" val="3716767133"/>
                    </a:ext>
                  </a:extLst>
                </a:gridCol>
              </a:tblGrid>
              <a:tr h="699232">
                <a:tc>
                  <a:txBody>
                    <a:bodyPr/>
                    <a:lstStyle/>
                    <a:p>
                      <a:r>
                        <a:rPr lang="en-US" dirty="0"/>
                        <a:t>Gold Wallet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u="none" strike="noStrike" cap="none" normalizeH="0" baseline="0" dirty="0">
                          <a:ln>
                            <a:noFill/>
                          </a:ln>
                          <a:solidFill>
                            <a:schemeClr val="tx1"/>
                          </a:solidFill>
                          <a:effectLst/>
                        </a:rPr>
                        <a:t>A digital account that allows an end-user to buy, sell, and hold gold in a paperless form.</a:t>
                      </a:r>
                      <a:endParaRPr kumimoji="0" lang="en-US" altLang="en-US" sz="1800" b="0" i="0" u="none" strike="noStrike" cap="none" normalizeH="0" baseline="0" dirty="0">
                        <a:ln>
                          <a:noFill/>
                        </a:ln>
                        <a:solidFill>
                          <a:schemeClr val="tx1"/>
                        </a:solidFill>
                        <a:effectLst/>
                        <a:latin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7383261"/>
                  </a:ext>
                </a:extLst>
              </a:tr>
              <a:tr h="830517">
                <a:tc>
                  <a:txBody>
                    <a:bodyPr/>
                    <a:lstStyle/>
                    <a:p>
                      <a:r>
                        <a:rPr lang="en-US" sz="1800" b="1" i="0" baseline="0" dirty="0">
                          <a:solidFill>
                            <a:schemeClr val="tx1"/>
                          </a:solidFill>
                          <a:effectLst/>
                          <a:latin typeface="+mn-lt"/>
                          <a:ea typeface="+mn-ea"/>
                          <a:cs typeface="+mn-cs"/>
                        </a:rPr>
                        <a:t>Subscription(Buy Gold)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process by which an end-user initiates the purchase of a specific quantity of gold to be added to their digital wallet.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1764608"/>
                  </a:ext>
                </a:extLst>
              </a:tr>
              <a:tr h="581361">
                <a:tc>
                  <a:txBody>
                    <a:bodyPr/>
                    <a:lstStyle/>
                    <a:p>
                      <a:r>
                        <a:rPr lang="en-US" sz="1800" b="1" i="0" baseline="0" dirty="0">
                          <a:solidFill>
                            <a:schemeClr val="tx1"/>
                          </a:solidFill>
                          <a:effectLst/>
                          <a:latin typeface="+mn-lt"/>
                          <a:ea typeface="+mn-ea"/>
                          <a:cs typeface="+mn-cs"/>
                        </a:rPr>
                        <a:t>Redemption(Sell Gold)</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dirty="0"/>
                        <a:t>The process by which an end-user sells a specific quantity of gold from their digital wallet for the equivalent value in currency.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386589"/>
                  </a:ext>
                </a:extLst>
              </a:tr>
              <a:tr h="897347">
                <a:tc>
                  <a:txBody>
                    <a:bodyPr/>
                    <a:lstStyle/>
                    <a:p>
                      <a:r>
                        <a:rPr lang="en-US" sz="1800" b="1" i="0" baseline="0" dirty="0">
                          <a:solidFill>
                            <a:schemeClr val="tx1"/>
                          </a:solidFill>
                          <a:effectLst/>
                          <a:latin typeface="+mn-lt"/>
                          <a:ea typeface="+mn-ea"/>
                          <a:cs typeface="+mn-cs"/>
                        </a:rPr>
                        <a:t>Customer Portfolio Holdings </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"List Customer Paper Gold Wallet Details" API, this term refers to the specific details of a customer's gold wallet, including the current amount of gold held, its status, and the commodity type. It is the record of what the end-user currently possesses.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9093206"/>
                  </a:ext>
                </a:extLst>
              </a:tr>
              <a:tr h="900517">
                <a:tc>
                  <a:txBody>
                    <a:bodyPr/>
                    <a:lstStyle/>
                    <a:p>
                      <a:r>
                        <a:rPr lang="en-US" b="1" dirty="0"/>
                        <a:t>Customer Portfolio Holdings</a:t>
                      </a:r>
                      <a:br>
                        <a:rPr lang="en-US" dirty="0"/>
                      </a:b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The detailed record of all investment units owned by a customer, including fund names, quantities, acquisition dates, and related attributes, representing their current positions in the investment pool.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7681000"/>
                  </a:ext>
                </a:extLst>
              </a:tr>
              <a:tr h="900517">
                <a:tc>
                  <a:txBody>
                    <a:bodyPr/>
                    <a:lstStyle/>
                    <a:p>
                      <a:r>
                        <a:rPr lang="en-US" b="1" dirty="0"/>
                        <a:t>Portfolio Performance</a:t>
                      </a:r>
                      <a:br>
                        <a:rPr lang="en-US" dirty="0"/>
                      </a:b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The "List Gold Rate History" and "Inquire Gold Rates" APIs provide the data needed to calculate and display this. This term represents the change in value of the customer's gold holdings over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572721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221AFF"/>
          </a:solidFill>
        </p:spPr>
        <p:txBody>
          <a:bodyPr wrap="square" lIns="0" tIns="0" rIns="0" bIns="0" rtlCol="0"/>
          <a:lstStyle/>
          <a:p>
            <a:endParaRPr/>
          </a:p>
        </p:txBody>
      </p:sp>
      <p:pic>
        <p:nvPicPr>
          <p:cNvPr id="3" name="object 3"/>
          <p:cNvPicPr/>
          <p:nvPr/>
        </p:nvPicPr>
        <p:blipFill>
          <a:blip r:embed="rId2" cstate="print"/>
          <a:stretch>
            <a:fillRect/>
          </a:stretch>
        </p:blipFill>
        <p:spPr>
          <a:xfrm>
            <a:off x="11483916" y="6448845"/>
            <a:ext cx="217269" cy="211420"/>
          </a:xfrm>
          <a:prstGeom prst="rect">
            <a:avLst/>
          </a:prstGeom>
        </p:spPr>
      </p:pic>
      <p:sp>
        <p:nvSpPr>
          <p:cNvPr id="4" name="object 4"/>
          <p:cNvSpPr/>
          <p:nvPr/>
        </p:nvSpPr>
        <p:spPr>
          <a:xfrm>
            <a:off x="1056320" y="3563775"/>
            <a:ext cx="5276215" cy="1546860"/>
          </a:xfrm>
          <a:custGeom>
            <a:avLst/>
            <a:gdLst/>
            <a:ahLst/>
            <a:cxnLst/>
            <a:rect l="l" t="t" r="r" b="b"/>
            <a:pathLst>
              <a:path w="5276215" h="1546860">
                <a:moveTo>
                  <a:pt x="0" y="0"/>
                </a:moveTo>
                <a:lnTo>
                  <a:pt x="4172685" y="0"/>
                </a:lnTo>
                <a:lnTo>
                  <a:pt x="4230155" y="11949"/>
                </a:lnTo>
                <a:lnTo>
                  <a:pt x="4297696" y="34887"/>
                </a:lnTo>
                <a:lnTo>
                  <a:pt x="4362412" y="66272"/>
                </a:lnTo>
                <a:lnTo>
                  <a:pt x="4422720" y="106103"/>
                </a:lnTo>
                <a:lnTo>
                  <a:pt x="4477424" y="153276"/>
                </a:lnTo>
                <a:lnTo>
                  <a:pt x="4525805" y="208223"/>
                </a:lnTo>
                <a:lnTo>
                  <a:pt x="4566917" y="269697"/>
                </a:lnTo>
                <a:lnTo>
                  <a:pt x="5275899" y="1498716"/>
                </a:lnTo>
                <a:lnTo>
                  <a:pt x="5275899" y="1500067"/>
                </a:lnTo>
                <a:lnTo>
                  <a:pt x="5195558" y="1546561"/>
                </a:lnTo>
                <a:lnTo>
                  <a:pt x="4487435" y="318886"/>
                </a:lnTo>
                <a:lnTo>
                  <a:pt x="4451605" y="264802"/>
                </a:lnTo>
                <a:lnTo>
                  <a:pt x="4451035" y="264802"/>
                </a:lnTo>
                <a:lnTo>
                  <a:pt x="4415429" y="223868"/>
                </a:lnTo>
                <a:lnTo>
                  <a:pt x="4416014" y="223868"/>
                </a:lnTo>
                <a:lnTo>
                  <a:pt x="4413591" y="221755"/>
                </a:lnTo>
                <a:lnTo>
                  <a:pt x="4411463" y="219309"/>
                </a:lnTo>
                <a:lnTo>
                  <a:pt x="4410786" y="219309"/>
                </a:lnTo>
                <a:lnTo>
                  <a:pt x="4370283" y="183989"/>
                </a:lnTo>
                <a:lnTo>
                  <a:pt x="4370842" y="183989"/>
                </a:lnTo>
                <a:lnTo>
                  <a:pt x="4368447" y="182389"/>
                </a:lnTo>
                <a:lnTo>
                  <a:pt x="4366100" y="180342"/>
                </a:lnTo>
                <a:lnTo>
                  <a:pt x="4365384" y="180342"/>
                </a:lnTo>
                <a:lnTo>
                  <a:pt x="4320496" y="150349"/>
                </a:lnTo>
                <a:lnTo>
                  <a:pt x="4321216" y="150349"/>
                </a:lnTo>
                <a:lnTo>
                  <a:pt x="4318477" y="149000"/>
                </a:lnTo>
                <a:lnTo>
                  <a:pt x="4315899" y="147277"/>
                </a:lnTo>
                <a:lnTo>
                  <a:pt x="4314979" y="147277"/>
                </a:lnTo>
                <a:lnTo>
                  <a:pt x="4266542" y="123427"/>
                </a:lnTo>
                <a:lnTo>
                  <a:pt x="4267375" y="123427"/>
                </a:lnTo>
                <a:lnTo>
                  <a:pt x="4261962" y="121171"/>
                </a:lnTo>
                <a:lnTo>
                  <a:pt x="4260811" y="121171"/>
                </a:lnTo>
                <a:lnTo>
                  <a:pt x="4208438" y="103176"/>
                </a:lnTo>
                <a:lnTo>
                  <a:pt x="4209174" y="103176"/>
                </a:lnTo>
                <a:lnTo>
                  <a:pt x="4206913" y="102652"/>
                </a:lnTo>
                <a:lnTo>
                  <a:pt x="4204528" y="101832"/>
                </a:lnTo>
                <a:lnTo>
                  <a:pt x="4203376" y="101832"/>
                </a:lnTo>
                <a:lnTo>
                  <a:pt x="4178735" y="96121"/>
                </a:lnTo>
                <a:lnTo>
                  <a:pt x="4148650" y="90842"/>
                </a:lnTo>
                <a:lnTo>
                  <a:pt x="4149488" y="90842"/>
                </a:lnTo>
                <a:lnTo>
                  <a:pt x="4118679" y="87865"/>
                </a:lnTo>
                <a:lnTo>
                  <a:pt x="4121733" y="87865"/>
                </a:lnTo>
                <a:lnTo>
                  <a:pt x="4084534" y="86715"/>
                </a:lnTo>
                <a:lnTo>
                  <a:pt x="0" y="86716"/>
                </a:lnTo>
                <a:lnTo>
                  <a:pt x="0" y="0"/>
                </a:lnTo>
                <a:close/>
              </a:path>
              <a:path w="5276215" h="1546860">
                <a:moveTo>
                  <a:pt x="4451035" y="264802"/>
                </a:moveTo>
                <a:lnTo>
                  <a:pt x="4451605" y="264802"/>
                </a:lnTo>
                <a:lnTo>
                  <a:pt x="4453420" y="267548"/>
                </a:lnTo>
                <a:lnTo>
                  <a:pt x="4451035" y="264802"/>
                </a:lnTo>
                <a:close/>
              </a:path>
              <a:path w="5276215" h="1546860">
                <a:moveTo>
                  <a:pt x="4413591" y="221755"/>
                </a:moveTo>
                <a:lnTo>
                  <a:pt x="4416014" y="223868"/>
                </a:lnTo>
                <a:lnTo>
                  <a:pt x="4415429" y="223868"/>
                </a:lnTo>
                <a:lnTo>
                  <a:pt x="4413591" y="221755"/>
                </a:lnTo>
                <a:close/>
              </a:path>
              <a:path w="5276215" h="1546860">
                <a:moveTo>
                  <a:pt x="4410786" y="219309"/>
                </a:moveTo>
                <a:lnTo>
                  <a:pt x="4411463" y="219309"/>
                </a:lnTo>
                <a:lnTo>
                  <a:pt x="4413591" y="221755"/>
                </a:lnTo>
                <a:lnTo>
                  <a:pt x="4410786" y="219309"/>
                </a:lnTo>
                <a:close/>
              </a:path>
              <a:path w="5276215" h="1546860">
                <a:moveTo>
                  <a:pt x="4368447" y="182389"/>
                </a:moveTo>
                <a:lnTo>
                  <a:pt x="4370842" y="183989"/>
                </a:lnTo>
                <a:lnTo>
                  <a:pt x="4370283" y="183989"/>
                </a:lnTo>
                <a:lnTo>
                  <a:pt x="4368447" y="182389"/>
                </a:lnTo>
                <a:close/>
              </a:path>
              <a:path w="5276215" h="1546860">
                <a:moveTo>
                  <a:pt x="4365384" y="180342"/>
                </a:moveTo>
                <a:lnTo>
                  <a:pt x="4366100" y="180342"/>
                </a:lnTo>
                <a:lnTo>
                  <a:pt x="4368447" y="182389"/>
                </a:lnTo>
                <a:lnTo>
                  <a:pt x="4365384" y="180342"/>
                </a:lnTo>
                <a:close/>
              </a:path>
              <a:path w="5276215" h="1546860">
                <a:moveTo>
                  <a:pt x="4318477" y="149000"/>
                </a:moveTo>
                <a:lnTo>
                  <a:pt x="4321216" y="150349"/>
                </a:lnTo>
                <a:lnTo>
                  <a:pt x="4320496" y="150349"/>
                </a:lnTo>
                <a:lnTo>
                  <a:pt x="4318477" y="149000"/>
                </a:lnTo>
                <a:close/>
              </a:path>
              <a:path w="5276215" h="1546860">
                <a:moveTo>
                  <a:pt x="4314979" y="147277"/>
                </a:moveTo>
                <a:lnTo>
                  <a:pt x="4315899" y="147277"/>
                </a:lnTo>
                <a:lnTo>
                  <a:pt x="4318477" y="149000"/>
                </a:lnTo>
                <a:lnTo>
                  <a:pt x="4314979" y="147277"/>
                </a:lnTo>
                <a:close/>
              </a:path>
              <a:path w="5276215" h="1546860">
                <a:moveTo>
                  <a:pt x="4261962" y="121171"/>
                </a:moveTo>
                <a:lnTo>
                  <a:pt x="4267375" y="123427"/>
                </a:lnTo>
                <a:lnTo>
                  <a:pt x="4264620" y="122480"/>
                </a:lnTo>
                <a:lnTo>
                  <a:pt x="4261962" y="121171"/>
                </a:lnTo>
                <a:close/>
              </a:path>
              <a:path w="5276215" h="1546860">
                <a:moveTo>
                  <a:pt x="4264620" y="122480"/>
                </a:moveTo>
                <a:lnTo>
                  <a:pt x="4267375" y="123427"/>
                </a:lnTo>
                <a:lnTo>
                  <a:pt x="4266542" y="123427"/>
                </a:lnTo>
                <a:lnTo>
                  <a:pt x="4264620" y="122480"/>
                </a:lnTo>
                <a:close/>
              </a:path>
              <a:path w="5276215" h="1546860">
                <a:moveTo>
                  <a:pt x="4260811" y="121171"/>
                </a:moveTo>
                <a:lnTo>
                  <a:pt x="4261962" y="121171"/>
                </a:lnTo>
                <a:lnTo>
                  <a:pt x="4264620" y="122480"/>
                </a:lnTo>
                <a:lnTo>
                  <a:pt x="4260811" y="121171"/>
                </a:lnTo>
                <a:close/>
              </a:path>
              <a:path w="5276215" h="1546860">
                <a:moveTo>
                  <a:pt x="4206913" y="102652"/>
                </a:moveTo>
                <a:lnTo>
                  <a:pt x="4209174" y="103176"/>
                </a:lnTo>
                <a:lnTo>
                  <a:pt x="4208438" y="103176"/>
                </a:lnTo>
                <a:lnTo>
                  <a:pt x="4206913" y="102652"/>
                </a:lnTo>
                <a:close/>
              </a:path>
              <a:path w="5276215" h="1546860">
                <a:moveTo>
                  <a:pt x="4203376" y="101832"/>
                </a:moveTo>
                <a:lnTo>
                  <a:pt x="4204528" y="101832"/>
                </a:lnTo>
                <a:lnTo>
                  <a:pt x="4206913" y="102652"/>
                </a:lnTo>
                <a:lnTo>
                  <a:pt x="4203376" y="101832"/>
                </a:lnTo>
                <a:close/>
              </a:path>
              <a:path w="5276215" h="1546860">
                <a:moveTo>
                  <a:pt x="4147623" y="90662"/>
                </a:moveTo>
                <a:lnTo>
                  <a:pt x="4149488" y="90842"/>
                </a:lnTo>
                <a:lnTo>
                  <a:pt x="4148650" y="90842"/>
                </a:lnTo>
                <a:lnTo>
                  <a:pt x="4147623" y="90662"/>
                </a:lnTo>
                <a:close/>
              </a:path>
            </a:pathLst>
          </a:custGeom>
          <a:solidFill>
            <a:srgbClr val="FFFFFF"/>
          </a:solidFill>
        </p:spPr>
        <p:txBody>
          <a:bodyPr wrap="square" lIns="0" tIns="0" rIns="0" bIns="0" rtlCol="0"/>
          <a:lstStyle/>
          <a:p>
            <a:endParaRPr/>
          </a:p>
        </p:txBody>
      </p:sp>
      <p:sp>
        <p:nvSpPr>
          <p:cNvPr id="5" name="object 5"/>
          <p:cNvSpPr/>
          <p:nvPr/>
        </p:nvSpPr>
        <p:spPr>
          <a:xfrm>
            <a:off x="10541241" y="5339938"/>
            <a:ext cx="588645" cy="574040"/>
          </a:xfrm>
          <a:custGeom>
            <a:avLst/>
            <a:gdLst/>
            <a:ahLst/>
            <a:cxnLst/>
            <a:rect l="l" t="t" r="r" b="b"/>
            <a:pathLst>
              <a:path w="588645" h="574039">
                <a:moveTo>
                  <a:pt x="294068" y="0"/>
                </a:moveTo>
                <a:lnTo>
                  <a:pt x="251662" y="11307"/>
                </a:lnTo>
                <a:lnTo>
                  <a:pt x="178080" y="53697"/>
                </a:lnTo>
                <a:lnTo>
                  <a:pt x="146925" y="84834"/>
                </a:lnTo>
                <a:lnTo>
                  <a:pt x="135449" y="127280"/>
                </a:lnTo>
                <a:lnTo>
                  <a:pt x="135449" y="234137"/>
                </a:lnTo>
                <a:lnTo>
                  <a:pt x="42631" y="287964"/>
                </a:lnTo>
                <a:lnTo>
                  <a:pt x="24901" y="301538"/>
                </a:lnTo>
                <a:lnTo>
                  <a:pt x="11476" y="318963"/>
                </a:lnTo>
                <a:lnTo>
                  <a:pt x="2971" y="339214"/>
                </a:lnTo>
                <a:lnTo>
                  <a:pt x="0" y="361270"/>
                </a:lnTo>
                <a:lnTo>
                  <a:pt x="0" y="446291"/>
                </a:lnTo>
                <a:lnTo>
                  <a:pt x="11476" y="488753"/>
                </a:lnTo>
                <a:lnTo>
                  <a:pt x="42631" y="519884"/>
                </a:lnTo>
                <a:lnTo>
                  <a:pt x="116213" y="562263"/>
                </a:lnTo>
                <a:lnTo>
                  <a:pt x="158602" y="573704"/>
                </a:lnTo>
                <a:lnTo>
                  <a:pt x="169640" y="572977"/>
                </a:lnTo>
                <a:lnTo>
                  <a:pt x="180489" y="570812"/>
                </a:lnTo>
                <a:lnTo>
                  <a:pt x="191053" y="567233"/>
                </a:lnTo>
                <a:lnTo>
                  <a:pt x="201233" y="562263"/>
                </a:lnTo>
                <a:lnTo>
                  <a:pt x="261949" y="527293"/>
                </a:lnTo>
                <a:lnTo>
                  <a:pt x="158723" y="527293"/>
                </a:lnTo>
                <a:lnTo>
                  <a:pt x="148778" y="526026"/>
                </a:lnTo>
                <a:lnTo>
                  <a:pt x="65783" y="479845"/>
                </a:lnTo>
                <a:lnTo>
                  <a:pt x="46270" y="446291"/>
                </a:lnTo>
                <a:lnTo>
                  <a:pt x="46270" y="361270"/>
                </a:lnTo>
                <a:lnTo>
                  <a:pt x="47637" y="351318"/>
                </a:lnTo>
                <a:lnTo>
                  <a:pt x="51543" y="342098"/>
                </a:lnTo>
                <a:lnTo>
                  <a:pt x="57690" y="334145"/>
                </a:lnTo>
                <a:lnTo>
                  <a:pt x="65783" y="327996"/>
                </a:lnTo>
                <a:lnTo>
                  <a:pt x="135449" y="287721"/>
                </a:lnTo>
                <a:lnTo>
                  <a:pt x="181719" y="287721"/>
                </a:lnTo>
                <a:lnTo>
                  <a:pt x="181719" y="261171"/>
                </a:lnTo>
                <a:lnTo>
                  <a:pt x="268576" y="211261"/>
                </a:lnTo>
                <a:lnTo>
                  <a:pt x="276706" y="207899"/>
                </a:lnTo>
                <a:lnTo>
                  <a:pt x="181719" y="207899"/>
                </a:lnTo>
                <a:lnTo>
                  <a:pt x="181719" y="127280"/>
                </a:lnTo>
                <a:lnTo>
                  <a:pt x="201233" y="93729"/>
                </a:lnTo>
                <a:lnTo>
                  <a:pt x="274815" y="51374"/>
                </a:lnTo>
                <a:lnTo>
                  <a:pt x="294142" y="46305"/>
                </a:lnTo>
                <a:lnTo>
                  <a:pt x="397205" y="46305"/>
                </a:lnTo>
                <a:lnTo>
                  <a:pt x="336682" y="11307"/>
                </a:lnTo>
                <a:lnTo>
                  <a:pt x="315970" y="2826"/>
                </a:lnTo>
                <a:lnTo>
                  <a:pt x="294068" y="0"/>
                </a:lnTo>
                <a:close/>
              </a:path>
              <a:path w="588645" h="574039">
                <a:moveTo>
                  <a:pt x="386995" y="508963"/>
                </a:moveTo>
                <a:lnTo>
                  <a:pt x="294294" y="508963"/>
                </a:lnTo>
                <a:lnTo>
                  <a:pt x="386835" y="562263"/>
                </a:lnTo>
                <a:lnTo>
                  <a:pt x="397016" y="567233"/>
                </a:lnTo>
                <a:lnTo>
                  <a:pt x="407583" y="570812"/>
                </a:lnTo>
                <a:lnTo>
                  <a:pt x="418443" y="572977"/>
                </a:lnTo>
                <a:lnTo>
                  <a:pt x="429501" y="573704"/>
                </a:lnTo>
                <a:lnTo>
                  <a:pt x="440432" y="572977"/>
                </a:lnTo>
                <a:lnTo>
                  <a:pt x="451263" y="570812"/>
                </a:lnTo>
                <a:lnTo>
                  <a:pt x="461801" y="567233"/>
                </a:lnTo>
                <a:lnTo>
                  <a:pt x="471855" y="562263"/>
                </a:lnTo>
                <a:lnTo>
                  <a:pt x="532573" y="527293"/>
                </a:lnTo>
                <a:lnTo>
                  <a:pt x="429362" y="527293"/>
                </a:lnTo>
                <a:lnTo>
                  <a:pt x="419405" y="526026"/>
                </a:lnTo>
                <a:lnTo>
                  <a:pt x="409987" y="522224"/>
                </a:lnTo>
                <a:lnTo>
                  <a:pt x="386995" y="508963"/>
                </a:lnTo>
                <a:close/>
              </a:path>
              <a:path w="588645" h="574039">
                <a:moveTo>
                  <a:pt x="181719" y="287721"/>
                </a:moveTo>
                <a:lnTo>
                  <a:pt x="135449" y="287721"/>
                </a:lnTo>
                <a:lnTo>
                  <a:pt x="135449" y="361270"/>
                </a:lnTo>
                <a:lnTo>
                  <a:pt x="148576" y="409937"/>
                </a:lnTo>
                <a:lnTo>
                  <a:pt x="184319" y="445528"/>
                </a:lnTo>
                <a:lnTo>
                  <a:pt x="247503" y="482185"/>
                </a:lnTo>
                <a:lnTo>
                  <a:pt x="178080" y="522224"/>
                </a:lnTo>
                <a:lnTo>
                  <a:pt x="168668" y="526026"/>
                </a:lnTo>
                <a:lnTo>
                  <a:pt x="158723" y="527293"/>
                </a:lnTo>
                <a:lnTo>
                  <a:pt x="261949" y="527293"/>
                </a:lnTo>
                <a:lnTo>
                  <a:pt x="293774" y="508963"/>
                </a:lnTo>
                <a:lnTo>
                  <a:pt x="386995" y="508963"/>
                </a:lnTo>
                <a:lnTo>
                  <a:pt x="340564" y="482185"/>
                </a:lnTo>
                <a:lnTo>
                  <a:pt x="386304" y="455649"/>
                </a:lnTo>
                <a:lnTo>
                  <a:pt x="294051" y="455649"/>
                </a:lnTo>
                <a:lnTo>
                  <a:pt x="207472" y="405496"/>
                </a:lnTo>
                <a:lnTo>
                  <a:pt x="196751" y="397304"/>
                </a:lnTo>
                <a:lnTo>
                  <a:pt x="188643" y="386801"/>
                </a:lnTo>
                <a:lnTo>
                  <a:pt x="183511" y="374589"/>
                </a:lnTo>
                <a:lnTo>
                  <a:pt x="181720" y="361270"/>
                </a:lnTo>
                <a:lnTo>
                  <a:pt x="181719" y="287721"/>
                </a:lnTo>
                <a:close/>
              </a:path>
              <a:path w="588645" h="574039">
                <a:moveTo>
                  <a:pt x="545018" y="287721"/>
                </a:moveTo>
                <a:lnTo>
                  <a:pt x="452619" y="287721"/>
                </a:lnTo>
                <a:lnTo>
                  <a:pt x="522284" y="327996"/>
                </a:lnTo>
                <a:lnTo>
                  <a:pt x="530378" y="334145"/>
                </a:lnTo>
                <a:lnTo>
                  <a:pt x="536525" y="342098"/>
                </a:lnTo>
                <a:lnTo>
                  <a:pt x="540430" y="351318"/>
                </a:lnTo>
                <a:lnTo>
                  <a:pt x="541798" y="361270"/>
                </a:lnTo>
                <a:lnTo>
                  <a:pt x="541798" y="446291"/>
                </a:lnTo>
                <a:lnTo>
                  <a:pt x="540528" y="455649"/>
                </a:lnTo>
                <a:lnTo>
                  <a:pt x="540430" y="456368"/>
                </a:lnTo>
                <a:lnTo>
                  <a:pt x="448737" y="522224"/>
                </a:lnTo>
                <a:lnTo>
                  <a:pt x="429362" y="527293"/>
                </a:lnTo>
                <a:lnTo>
                  <a:pt x="532573" y="527293"/>
                </a:lnTo>
                <a:lnTo>
                  <a:pt x="576605" y="488753"/>
                </a:lnTo>
                <a:lnTo>
                  <a:pt x="588068" y="446291"/>
                </a:lnTo>
                <a:lnTo>
                  <a:pt x="588068" y="361270"/>
                </a:lnTo>
                <a:lnTo>
                  <a:pt x="585101" y="339214"/>
                </a:lnTo>
                <a:lnTo>
                  <a:pt x="576604" y="318963"/>
                </a:lnTo>
                <a:lnTo>
                  <a:pt x="563181" y="301538"/>
                </a:lnTo>
                <a:lnTo>
                  <a:pt x="545437" y="287964"/>
                </a:lnTo>
                <a:lnTo>
                  <a:pt x="545018" y="287721"/>
                </a:lnTo>
                <a:close/>
              </a:path>
              <a:path w="588645" h="574039">
                <a:moveTo>
                  <a:pt x="400383" y="204450"/>
                </a:moveTo>
                <a:lnTo>
                  <a:pt x="294081" y="204450"/>
                </a:lnTo>
                <a:lnTo>
                  <a:pt x="307281" y="206153"/>
                </a:lnTo>
                <a:lnTo>
                  <a:pt x="319768" y="211261"/>
                </a:lnTo>
                <a:lnTo>
                  <a:pt x="406348" y="261171"/>
                </a:lnTo>
                <a:lnTo>
                  <a:pt x="406348" y="361270"/>
                </a:lnTo>
                <a:lnTo>
                  <a:pt x="404557" y="374589"/>
                </a:lnTo>
                <a:lnTo>
                  <a:pt x="380596" y="405496"/>
                </a:lnTo>
                <a:lnTo>
                  <a:pt x="294051" y="455649"/>
                </a:lnTo>
                <a:lnTo>
                  <a:pt x="386304" y="455649"/>
                </a:lnTo>
                <a:lnTo>
                  <a:pt x="424106" y="429989"/>
                </a:lnTo>
                <a:lnTo>
                  <a:pt x="449146" y="386801"/>
                </a:lnTo>
                <a:lnTo>
                  <a:pt x="452619" y="361270"/>
                </a:lnTo>
                <a:lnTo>
                  <a:pt x="452619" y="287721"/>
                </a:lnTo>
                <a:lnTo>
                  <a:pt x="545018" y="287721"/>
                </a:lnTo>
                <a:lnTo>
                  <a:pt x="452618" y="234137"/>
                </a:lnTo>
                <a:lnTo>
                  <a:pt x="452618" y="207899"/>
                </a:lnTo>
                <a:lnTo>
                  <a:pt x="406348" y="207899"/>
                </a:lnTo>
                <a:lnTo>
                  <a:pt x="400383" y="204450"/>
                </a:lnTo>
                <a:close/>
              </a:path>
              <a:path w="588645" h="574039">
                <a:moveTo>
                  <a:pt x="294081" y="158153"/>
                </a:moveTo>
                <a:lnTo>
                  <a:pt x="269036" y="161422"/>
                </a:lnTo>
                <a:lnTo>
                  <a:pt x="245424" y="171229"/>
                </a:lnTo>
                <a:lnTo>
                  <a:pt x="181719" y="207899"/>
                </a:lnTo>
                <a:lnTo>
                  <a:pt x="276706" y="207899"/>
                </a:lnTo>
                <a:lnTo>
                  <a:pt x="280928" y="206153"/>
                </a:lnTo>
                <a:lnTo>
                  <a:pt x="294081" y="204450"/>
                </a:lnTo>
                <a:lnTo>
                  <a:pt x="400383" y="204450"/>
                </a:lnTo>
                <a:lnTo>
                  <a:pt x="342921" y="171229"/>
                </a:lnTo>
                <a:lnTo>
                  <a:pt x="319172" y="161422"/>
                </a:lnTo>
                <a:lnTo>
                  <a:pt x="294081" y="158153"/>
                </a:lnTo>
                <a:close/>
              </a:path>
              <a:path w="588645" h="574039">
                <a:moveTo>
                  <a:pt x="397205" y="46305"/>
                </a:moveTo>
                <a:lnTo>
                  <a:pt x="294142" y="46305"/>
                </a:lnTo>
                <a:lnTo>
                  <a:pt x="304015" y="47573"/>
                </a:lnTo>
                <a:lnTo>
                  <a:pt x="313287" y="51374"/>
                </a:lnTo>
                <a:lnTo>
                  <a:pt x="386835" y="93729"/>
                </a:lnTo>
                <a:lnTo>
                  <a:pt x="406348" y="127280"/>
                </a:lnTo>
                <a:lnTo>
                  <a:pt x="406348" y="207899"/>
                </a:lnTo>
                <a:lnTo>
                  <a:pt x="452618" y="207899"/>
                </a:lnTo>
                <a:lnTo>
                  <a:pt x="452618" y="127280"/>
                </a:lnTo>
                <a:lnTo>
                  <a:pt x="441155" y="84834"/>
                </a:lnTo>
                <a:lnTo>
                  <a:pt x="409987" y="53697"/>
                </a:lnTo>
                <a:lnTo>
                  <a:pt x="397205" y="46305"/>
                </a:lnTo>
                <a:close/>
              </a:path>
            </a:pathLst>
          </a:custGeom>
          <a:solidFill>
            <a:srgbClr val="FFFFFF"/>
          </a:solidFill>
        </p:spPr>
        <p:txBody>
          <a:bodyPr wrap="square" lIns="0" tIns="0" rIns="0" bIns="0" rtlCol="0"/>
          <a:lstStyle/>
          <a:p>
            <a:endParaRPr/>
          </a:p>
        </p:txBody>
      </p:sp>
      <p:pic>
        <p:nvPicPr>
          <p:cNvPr id="6" name="object 6"/>
          <p:cNvPicPr/>
          <p:nvPr/>
        </p:nvPicPr>
        <p:blipFill>
          <a:blip r:embed="rId3" cstate="print"/>
          <a:stretch>
            <a:fillRect/>
          </a:stretch>
        </p:blipFill>
        <p:spPr>
          <a:xfrm>
            <a:off x="9519786" y="5516367"/>
            <a:ext cx="909400" cy="319797"/>
          </a:xfrm>
          <a:prstGeom prst="rect">
            <a:avLst/>
          </a:prstGeom>
        </p:spPr>
      </p:pic>
      <p:sp>
        <p:nvSpPr>
          <p:cNvPr id="7" name="object 7"/>
          <p:cNvSpPr txBox="1"/>
          <p:nvPr/>
        </p:nvSpPr>
        <p:spPr>
          <a:xfrm>
            <a:off x="1447800" y="2211111"/>
            <a:ext cx="7543800" cy="1243289"/>
          </a:xfrm>
          <a:prstGeom prst="rect">
            <a:avLst/>
          </a:prstGeom>
        </p:spPr>
        <p:txBody>
          <a:bodyPr vert="horz" wrap="square" lIns="0" tIns="12065" rIns="0" bIns="0" rtlCol="0">
            <a:spAutoFit/>
          </a:bodyPr>
          <a:lstStyle/>
          <a:p>
            <a:pPr marL="12700">
              <a:lnSpc>
                <a:spcPct val="100000"/>
              </a:lnSpc>
              <a:spcBef>
                <a:spcPts val="95"/>
              </a:spcBef>
            </a:pPr>
            <a:r>
              <a:rPr lang="en-US" sz="4000" b="1" dirty="0">
                <a:solidFill>
                  <a:schemeClr val="bg1"/>
                </a:solidFill>
              </a:rPr>
              <a:t>Key </a:t>
            </a:r>
            <a:r>
              <a:rPr lang="en-US" sz="4000" b="1" dirty="0">
                <a:solidFill>
                  <a:schemeClr val="bg1"/>
                </a:solidFill>
                <a:latin typeface="Segoe UI"/>
                <a:ea typeface="+mj-ea"/>
                <a:cs typeface="Segoe UI"/>
              </a:rPr>
              <a:t>Features</a:t>
            </a:r>
            <a:r>
              <a:rPr lang="en-US" sz="4000" b="1" dirty="0">
                <a:solidFill>
                  <a:schemeClr val="bg1"/>
                </a:solidFill>
              </a:rPr>
              <a:t> – Business Perspective</a:t>
            </a:r>
            <a:endParaRPr sz="4000" b="1" dirty="0">
              <a:solidFill>
                <a:schemeClr val="bg1"/>
              </a:solidFill>
              <a:latin typeface="Segoe UI"/>
              <a:cs typeface="Segoe U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6324A-66D8-62E2-01B8-5729DBB95A60}"/>
              </a:ext>
            </a:extLst>
          </p:cNvPr>
          <p:cNvSpPr>
            <a:spLocks noGrp="1"/>
          </p:cNvSpPr>
          <p:nvPr>
            <p:ph type="title"/>
          </p:nvPr>
        </p:nvSpPr>
        <p:spPr>
          <a:xfrm>
            <a:off x="282956" y="260730"/>
            <a:ext cx="11113770" cy="276999"/>
          </a:xfrm>
        </p:spPr>
        <p:txBody>
          <a:bodyPr/>
          <a:lstStyle/>
          <a:p>
            <a:r>
              <a:rPr lang="en-US" dirty="0"/>
              <a:t>Key Features </a:t>
            </a:r>
          </a:p>
        </p:txBody>
      </p:sp>
      <p:sp>
        <p:nvSpPr>
          <p:cNvPr id="3" name="Text Placeholder 2">
            <a:extLst>
              <a:ext uri="{FF2B5EF4-FFF2-40B4-BE49-F238E27FC236}">
                <a16:creationId xmlns:a16="http://schemas.microsoft.com/office/drawing/2014/main" id="{3D164A84-4993-87F0-3BD0-7A28B07F9154}"/>
              </a:ext>
            </a:extLst>
          </p:cNvPr>
          <p:cNvSpPr>
            <a:spLocks noGrp="1"/>
          </p:cNvSpPr>
          <p:nvPr>
            <p:ph type="body" idx="1"/>
          </p:nvPr>
        </p:nvSpPr>
        <p:spPr>
          <a:xfrm>
            <a:off x="228600" y="762000"/>
            <a:ext cx="11582400" cy="5539978"/>
          </a:xfrm>
          <a:noFill/>
          <a:ln>
            <a:noFill/>
          </a:ln>
        </p:spPr>
        <p:style>
          <a:lnRef idx="0">
            <a:scrgbClr r="0" g="0" b="0"/>
          </a:lnRef>
          <a:fillRef idx="0">
            <a:scrgbClr r="0" g="0" b="0"/>
          </a:fillRef>
          <a:effectRef idx="0">
            <a:scrgbClr r="0" g="0" b="0"/>
          </a:effectRef>
          <a:fontRef idx="minor">
            <a:schemeClr val="accent1"/>
          </a:fontRef>
        </p:style>
        <p:txBody>
          <a:bodyPr/>
          <a:lstStyle/>
          <a:p>
            <a:pPr marL="285750" indent="-285750">
              <a:buFont typeface="Arial" panose="020B0604020202020204" pitchFamily="34" charset="0"/>
              <a:buChar char="•"/>
            </a:pPr>
            <a:r>
              <a:rPr lang="en-US" dirty="0"/>
              <a:t>Subscription Capabilities:</a:t>
            </a:r>
          </a:p>
          <a:p>
            <a:pPr marL="285750" indent="-285750">
              <a:buFont typeface="Courier New" panose="02070309020205020404" pitchFamily="49" charset="0"/>
              <a:buChar char="o"/>
            </a:pPr>
            <a:r>
              <a:rPr lang="en-US" dirty="0"/>
              <a:t>Access to a complete and UpToDate catalogue of available bullions with relevant attributes.</a:t>
            </a:r>
          </a:p>
          <a:p>
            <a:pPr marL="285750" indent="-285750">
              <a:buFont typeface="Courier New" panose="02070309020205020404" pitchFamily="49" charset="0"/>
              <a:buChar char="o"/>
            </a:pPr>
            <a:r>
              <a:rPr lang="en-US" dirty="0"/>
              <a:t>Automated eligibility and suitability checks before allowing a gold purchase.</a:t>
            </a:r>
          </a:p>
          <a:p>
            <a:pPr marL="285750" indent="-285750">
              <a:buFont typeface="Courier New" panose="02070309020205020404" pitchFamily="49" charset="0"/>
              <a:buChar char="o"/>
            </a:pPr>
            <a:r>
              <a:rPr lang="en-US" dirty="0"/>
              <a:t>Flexible investment amounts based on the bullion's minimum and maximum thresholds.</a:t>
            </a:r>
          </a:p>
          <a:p>
            <a:pPr marL="285750" indent="-285750">
              <a:buFont typeface="Courier New" panose="02070309020205020404" pitchFamily="49" charset="0"/>
              <a:buChar char="o"/>
            </a:pPr>
            <a:r>
              <a:rPr lang="en-US" dirty="0"/>
              <a:t>Immediate confirmation of successful subscriptions with unique transaction IDs.</a:t>
            </a:r>
          </a:p>
          <a:p>
            <a:endParaRPr lang="en-US" dirty="0"/>
          </a:p>
          <a:p>
            <a:pPr marL="285750" indent="-285750">
              <a:buFont typeface="Arial" panose="020B0604020202020204" pitchFamily="34" charset="0"/>
              <a:buChar char="•"/>
            </a:pPr>
            <a:r>
              <a:rPr lang="en-US" dirty="0"/>
              <a:t>Redemption Capabilities:</a:t>
            </a:r>
          </a:p>
          <a:p>
            <a:pPr marL="285750" indent="-285750">
              <a:buFont typeface="Courier New" panose="02070309020205020404" pitchFamily="49" charset="0"/>
              <a:buChar char="o"/>
            </a:pPr>
            <a:r>
              <a:rPr lang="en-US" dirty="0"/>
              <a:t>Ability to request a partial or full withdrawal from owned gold holdings.</a:t>
            </a:r>
          </a:p>
          <a:p>
            <a:pPr marL="285750" indent="-285750">
              <a:buFont typeface="Courier New" panose="02070309020205020404" pitchFamily="49" charset="0"/>
              <a:buChar char="o"/>
            </a:pPr>
            <a:r>
              <a:rPr lang="en-US" dirty="0"/>
              <a:t>Handling of settlement timelines according to the product's operational rules.</a:t>
            </a:r>
          </a:p>
          <a:p>
            <a:pPr marL="285750" indent="-285750">
              <a:buFont typeface="Courier New" panose="02070309020205020404" pitchFamily="49" charset="0"/>
              <a:buChar char="o"/>
            </a:pPr>
            <a:r>
              <a:rPr lang="en-US" dirty="0"/>
              <a:t>Status tracking from request initiation to completion.</a:t>
            </a:r>
          </a:p>
          <a:p>
            <a:endParaRPr lang="en-US" dirty="0"/>
          </a:p>
          <a:p>
            <a:pPr marL="285750" indent="-285750">
              <a:buFont typeface="Arial" panose="020B0604020202020204" pitchFamily="34" charset="0"/>
              <a:buChar char="•"/>
            </a:pPr>
            <a:r>
              <a:rPr lang="en-US" dirty="0"/>
              <a:t>Portfolio Management:</a:t>
            </a:r>
          </a:p>
          <a:p>
            <a:pPr marL="285750" indent="-285750">
              <a:buFont typeface="Courier New" panose="02070309020205020404" pitchFamily="49" charset="0"/>
              <a:buChar char="o"/>
            </a:pPr>
            <a:r>
              <a:rPr lang="en-US" dirty="0"/>
              <a:t>Consolidated view of all customer holdings across multiple wallets.</a:t>
            </a:r>
          </a:p>
          <a:p>
            <a:pPr marL="285750" indent="-285750">
              <a:buFont typeface="Courier New" panose="02070309020205020404" pitchFamily="49" charset="0"/>
              <a:buChar char="o"/>
            </a:pPr>
            <a:r>
              <a:rPr lang="en-US" dirty="0"/>
              <a:t>Real-time updates of gold quantities, valuations, and asset composition.</a:t>
            </a:r>
          </a:p>
          <a:p>
            <a:pPr marL="285750" indent="-285750">
              <a:buFont typeface="Courier New" panose="02070309020205020404" pitchFamily="49" charset="0"/>
              <a:buChar char="o"/>
            </a:pPr>
            <a:r>
              <a:rPr lang="en-US" dirty="0"/>
              <a:t>Exportable reports for compliance and record-keeping.</a:t>
            </a:r>
          </a:p>
          <a:p>
            <a:endParaRPr lang="en-US" dirty="0"/>
          </a:p>
          <a:p>
            <a:pPr marL="285750" indent="-285750">
              <a:buFont typeface="Arial" panose="020B0604020202020204" pitchFamily="34" charset="0"/>
              <a:buChar char="•"/>
            </a:pPr>
            <a:r>
              <a:rPr lang="en-US" dirty="0"/>
              <a:t>Reporting &amp; Notifications:</a:t>
            </a:r>
          </a:p>
          <a:p>
            <a:pPr marL="285750" indent="-285750">
              <a:buFont typeface="Courier New" panose="02070309020205020404" pitchFamily="49" charset="0"/>
              <a:buChar char="o"/>
            </a:pPr>
            <a:r>
              <a:rPr lang="en-US" dirty="0"/>
              <a:t>Transaction summaries for subscriptions and redemptions.</a:t>
            </a:r>
          </a:p>
          <a:p>
            <a:pPr marL="285750" indent="-285750">
              <a:buFont typeface="Courier New" panose="02070309020205020404" pitchFamily="49" charset="0"/>
              <a:buChar char="o"/>
            </a:pPr>
            <a:r>
              <a:rPr lang="en-US" dirty="0"/>
              <a:t>Periodic performance statements for each customer portfolio.</a:t>
            </a:r>
          </a:p>
          <a:p>
            <a:pPr marL="285750" indent="-285750">
              <a:buFont typeface="Courier New" panose="02070309020205020404" pitchFamily="49" charset="0"/>
              <a:buChar char="o"/>
            </a:pPr>
            <a:r>
              <a:rPr lang="en-US" dirty="0"/>
              <a:t>Alerts for key events such as rate changes, dividend distributions, or product suspensions.</a:t>
            </a:r>
          </a:p>
        </p:txBody>
      </p:sp>
    </p:spTree>
    <p:extLst>
      <p:ext uri="{BB962C8B-B14F-4D97-AF65-F5344CB8AC3E}">
        <p14:creationId xmlns:p14="http://schemas.microsoft.com/office/powerpoint/2010/main" val="23790035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8425" y="1697862"/>
            <a:ext cx="4089400" cy="1191993"/>
          </a:xfrm>
          <a:prstGeom prst="rect">
            <a:avLst/>
          </a:prstGeom>
        </p:spPr>
        <p:txBody>
          <a:bodyPr vert="horz" wrap="square" lIns="0" tIns="12065" rIns="0" bIns="0" rtlCol="0">
            <a:spAutoFit/>
          </a:bodyPr>
          <a:lstStyle/>
          <a:p>
            <a:pPr marL="12700">
              <a:lnSpc>
                <a:spcPts val="4560"/>
              </a:lnSpc>
              <a:spcBef>
                <a:spcPts val="95"/>
              </a:spcBef>
            </a:pPr>
            <a:r>
              <a:rPr lang="en-US" sz="4000" spc="-10" dirty="0">
                <a:solidFill>
                  <a:srgbClr val="FFFFFF"/>
                </a:solidFill>
              </a:rPr>
              <a:t>Process Workflow</a:t>
            </a:r>
            <a:endParaRPr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6DE539F-6683-AC36-1326-11A4981AC908}"/>
              </a:ext>
            </a:extLst>
          </p:cNvPr>
          <p:cNvSpPr txBox="1"/>
          <p:nvPr/>
        </p:nvSpPr>
        <p:spPr>
          <a:xfrm>
            <a:off x="8839200" y="1371600"/>
            <a:ext cx="1524000" cy="1447800"/>
          </a:xfrm>
          <a:prstGeom prst="rect">
            <a:avLst/>
          </a:prstGeom>
          <a:solidFill>
            <a:schemeClr val="bg1"/>
          </a:solidFill>
        </p:spPr>
        <p:txBody>
          <a:bodyPr wrap="square" rtlCol="0">
            <a:spAutoFit/>
          </a:bodyPr>
          <a:lstStyle/>
          <a:p>
            <a:endParaRPr lang="en-US" dirty="0"/>
          </a:p>
        </p:txBody>
      </p:sp>
      <p:pic>
        <p:nvPicPr>
          <p:cNvPr id="3" name="Picture 2" descr="A diagram of a customer">
            <a:extLst>
              <a:ext uri="{FF2B5EF4-FFF2-40B4-BE49-F238E27FC236}">
                <a16:creationId xmlns:a16="http://schemas.microsoft.com/office/drawing/2014/main" id="{A31223FA-86C5-EF75-2FBC-E1A4B38E0B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247650"/>
            <a:ext cx="10058400" cy="6362700"/>
          </a:xfrm>
          <a:prstGeom prst="rect">
            <a:avLst/>
          </a:prstGeom>
        </p:spPr>
      </p:pic>
    </p:spTree>
    <p:extLst>
      <p:ext uri="{BB962C8B-B14F-4D97-AF65-F5344CB8AC3E}">
        <p14:creationId xmlns:p14="http://schemas.microsoft.com/office/powerpoint/2010/main" val="3770906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4400" y="2133600"/>
            <a:ext cx="5408575" cy="1184940"/>
          </a:xfrm>
          <a:prstGeom prst="rect">
            <a:avLst/>
          </a:prstGeom>
        </p:spPr>
        <p:txBody>
          <a:bodyPr vert="horz" wrap="square" lIns="0" tIns="81280" rIns="0" bIns="0" rtlCol="0">
            <a:spAutoFit/>
          </a:bodyPr>
          <a:lstStyle/>
          <a:p>
            <a:pPr marL="12700" marR="5080">
              <a:lnSpc>
                <a:spcPts val="4320"/>
              </a:lnSpc>
              <a:spcBef>
                <a:spcPts val="640"/>
              </a:spcBef>
              <a:tabLst>
                <a:tab pos="644525" algn="l"/>
              </a:tabLst>
            </a:pPr>
            <a:r>
              <a:rPr lang="en-US" sz="4000" dirty="0">
                <a:solidFill>
                  <a:schemeClr val="bg1"/>
                </a:solidFill>
              </a:rPr>
              <a:t>Inputs &amp; Outputs – Business Keys</a:t>
            </a:r>
            <a:endParaRPr sz="4000" dirty="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r>
              <a:rPr lang="en-US" dirty="0"/>
              <a:t>Purpose: Explain what the client needs to provide and what they will get from the APIs.</a:t>
            </a:r>
          </a:p>
        </p:txBody>
      </p:sp>
      <p:sp>
        <p:nvSpPr>
          <p:cNvPr id="5" name="object 5"/>
          <p:cNvSpPr txBox="1">
            <a:spLocks noGrp="1"/>
          </p:cNvSpPr>
          <p:nvPr>
            <p:ph type="sldNum" sz="quarter" idx="7"/>
          </p:nvPr>
        </p:nvSpPr>
        <p:spPr>
          <a:prstGeom prst="rect">
            <a:avLst/>
          </a:prstGeom>
        </p:spPr>
        <p:txBody>
          <a:bodyPr vert="horz" wrap="square" lIns="0" tIns="21590" rIns="0" bIns="0" rtlCol="0">
            <a:spAutoFit/>
          </a:bodyPr>
          <a:lstStyle/>
          <a:p>
            <a:pPr marL="12700">
              <a:lnSpc>
                <a:spcPct val="100000"/>
              </a:lnSpc>
              <a:spcBef>
                <a:spcPts val="170"/>
              </a:spcBef>
            </a:pPr>
            <a:r>
              <a:rPr dirty="0"/>
              <a:t>2</a:t>
            </a:r>
            <a:r>
              <a:rPr spc="40" dirty="0"/>
              <a:t> </a:t>
            </a:r>
            <a:r>
              <a:rPr spc="-50" dirty="0"/>
              <a:t>9</a:t>
            </a:r>
            <a:r>
              <a:rPr dirty="0"/>
              <a:t> </a:t>
            </a:r>
          </a:p>
        </p:txBody>
      </p:sp>
      <p:sp>
        <p:nvSpPr>
          <p:cNvPr id="10" name="Rectangle 4">
            <a:extLst>
              <a:ext uri="{FF2B5EF4-FFF2-40B4-BE49-F238E27FC236}">
                <a16:creationId xmlns:a16="http://schemas.microsoft.com/office/drawing/2014/main" id="{442C7765-66C9-0198-88F1-18F3A6B888CB}"/>
              </a:ext>
            </a:extLst>
          </p:cNvPr>
          <p:cNvSpPr>
            <a:spLocks noChangeArrowheads="1"/>
          </p:cNvSpPr>
          <p:nvPr/>
        </p:nvSpPr>
        <p:spPr bwMode="auto">
          <a:xfrm>
            <a:off x="381000" y="990600"/>
            <a:ext cx="10668000" cy="4196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Inputs (Business Perspective):</a:t>
            </a:r>
          </a:p>
          <a:p>
            <a:pPr marL="285750" marR="0" lvl="0" indent="-285750" algn="l"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Customer identification details (for KYC/Onboarding) based on the CIC parameter.</a:t>
            </a:r>
          </a:p>
          <a:p>
            <a:pPr marL="285750" marR="0" lvl="0" indent="-285750" algn="l"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Gold selection and subscription/redemption details (bullion type, amount) based on transaction inputs.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Outputs (Business Perspective):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Gold details and pricing data (</a:t>
            </a:r>
            <a:r>
              <a:rPr kumimoji="0" lang="en-US" altLang="en-US" sz="1800" b="0" i="0" u="none" strike="noStrike" cap="none" normalizeH="0" baseline="0" dirty="0" err="1">
                <a:ln>
                  <a:noFill/>
                </a:ln>
                <a:solidFill>
                  <a:schemeClr val="tx1"/>
                </a:solidFill>
                <a:effectLst/>
                <a:latin typeface="Arial" panose="020B0604020202020204" pitchFamily="34" charset="0"/>
              </a:rPr>
              <a:t>GoldRateHistoryList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TransactionKey</a:t>
            </a:r>
            <a:r>
              <a:rPr kumimoji="0" lang="en-US" altLang="en-US" sz="1800" b="0" i="0" u="none" strike="noStrike" cap="none" normalizeH="0" baseline="0" dirty="0">
                <a:ln>
                  <a:noFill/>
                </a:ln>
                <a:solidFill>
                  <a:schemeClr val="tx1"/>
                </a:solidFill>
                <a:effectLst/>
                <a:latin typeface="Arial" panose="020B0604020202020204" pitchFamily="34" charset="0"/>
              </a:rPr>
              <a:t> with rate information).</a:t>
            </a:r>
          </a:p>
          <a:p>
            <a:pPr marL="285750" marR="0" lvl="0" indent="-285750" algn="l"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Subscription/redemption confirmation and status </a:t>
            </a:r>
          </a:p>
          <a:p>
            <a:pPr marL="285750" marR="0" lvl="0" indent="-285750" algn="l"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Portfolio summaries and performance reports (List Customer Paper Gold Wallet Details, derived from List Gold Rate History).</a:t>
            </a:r>
          </a:p>
          <a:p>
            <a:pPr marL="285750" marR="0" lvl="0" indent="-285750" algn="l" defTabSz="914400" rtl="0" eaLnBrk="0" fontAlgn="base" latinLnBrk="0" hangingPunct="0">
              <a:lnSpc>
                <a:spcPct val="15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Notifications on transactions and dividends (based on the Confirmation Status Callback API).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BA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0f1e79fc-1f4d-4187-a67d-c1c5354c13f8}" enabled="1" method="Standard" siteId="{e1304ad9-93ba-4557-8b20-8c1c1143b399}" contentBits="2" removed="0"/>
</clbl:labelList>
</file>

<file path=docProps/app.xml><?xml version="1.0" encoding="utf-8"?>
<Properties xmlns="http://schemas.openxmlformats.org/officeDocument/2006/extended-properties" xmlns:vt="http://schemas.openxmlformats.org/officeDocument/2006/docPropsVTypes">
  <Template>Slice</Template>
  <TotalTime>436</TotalTime>
  <Words>801</Words>
  <Application>Microsoft Office PowerPoint</Application>
  <PresentationFormat>Widescreen</PresentationFormat>
  <Paragraphs>85</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Courier New</vt:lpstr>
      <vt:lpstr>Inter</vt:lpstr>
      <vt:lpstr>Inter </vt:lpstr>
      <vt:lpstr>Segoe UI</vt:lpstr>
      <vt:lpstr>Office Theme</vt:lpstr>
      <vt:lpstr>Api Marketplace  “Golden Wallet”</vt:lpstr>
      <vt:lpstr>Description</vt:lpstr>
      <vt:lpstr>Descriptions </vt:lpstr>
      <vt:lpstr>Terminologies </vt:lpstr>
      <vt:lpstr>PowerPoint Presentation</vt:lpstr>
      <vt:lpstr>PowerPoint Presentation</vt:lpstr>
      <vt:lpstr>Key Features </vt:lpstr>
      <vt:lpstr>Process Workflow</vt:lpstr>
      <vt:lpstr>PowerPoint Presentation</vt:lpstr>
      <vt:lpstr>Inputs &amp; Outputs – Business Keys</vt:lpstr>
      <vt:lpstr>Purpose: Explain what the client needs to provide and what they will get from the APIs.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Saed B. Basseet</dc:creator>
  <cp:lastModifiedBy>Marwan Ahmed Hafez | Ejada Systems</cp:lastModifiedBy>
  <cp:revision>4</cp:revision>
  <dcterms:created xsi:type="dcterms:W3CDTF">2025-08-14T10:33:30Z</dcterms:created>
  <dcterms:modified xsi:type="dcterms:W3CDTF">2025-09-01T14:10:16Z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2025-04-30T00:00:00Z</vt:filetime>
  </property>
  <property fmtid="{D5CDD505-2E9C-101B-9397-08002B2CF9AE}" pid="3" name="Creator">
    <vt:lpwstr>Microsoft® PowerPoint® 2019</vt:lpwstr>
  </property>
  <property fmtid="{D5CDD505-2E9C-101B-9397-08002B2CF9AE}" pid="4" name="LastSaved">
    <vt:filetime>2025-08-14T00:00:00Z</vt:filetime>
  </property>
  <property fmtid="{D5CDD505-2E9C-101B-9397-08002B2CF9AE}" pid="5" name="Producer">
    <vt:lpwstr>Microsoft® PowerPoint® 2019</vt:lpwstr>
  </property>
  <property fmtid="{D5CDD505-2E9C-101B-9397-08002B2CF9AE}" pid="6" name="ClassificationContentMarkingFooterLocations">
    <vt:lpwstr>Office Theme:8</vt:lpwstr>
  </property>
  <property fmtid="{D5CDD505-2E9C-101B-9397-08002B2CF9AE}" pid="7" name="ClassificationContentMarkingFooterText">
    <vt:lpwstr>Ejada Internal Use Only</vt:lpwstr>
  </property>
</Properties>
</file>