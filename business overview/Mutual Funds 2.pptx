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73" r:id="rId5"/>
    <p:sldId id="274" r:id="rId6"/>
    <p:sldId id="276" r:id="rId7"/>
    <p:sldId id="285" r:id="rId8"/>
    <p:sldId id="279" r:id="rId9"/>
    <p:sldId id="286" r:id="rId10"/>
    <p:sldId id="282" r:id="rId11"/>
    <p:sldId id="28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7" y="2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53A36-3E18-4F5A-A47E-85C93F1958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1EB04-1340-4785-B2D5-B1B80D2E6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1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1EB04-1340-4785-B2D5-B1B80D2E69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548" y="1835022"/>
            <a:ext cx="6577330" cy="158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532" y="1630816"/>
            <a:ext cx="514223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8190" y="6455613"/>
            <a:ext cx="230378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4979" y="6447028"/>
            <a:ext cx="2622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3A88E-C253-C725-A8FB-38D59CC87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650466"/>
            <a:ext cx="5870652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dirty="0">
                <a:solidFill>
                  <a:srgbClr val="FFFFFF"/>
                </a:solidFill>
              </a:rPr>
              <a:t>Api Marketplace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“Mutual Funds”</a:t>
            </a:r>
            <a:endParaRPr sz="5400" dirty="0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9334"/>
              </p:ext>
            </p:extLst>
          </p:nvPr>
        </p:nvGraphicFramePr>
        <p:xfrm>
          <a:off x="6477000" y="2438400"/>
          <a:ext cx="5097780" cy="22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1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Description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876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2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Terminologies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3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Features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4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Process Workflow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5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Inputs/Outputs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246502"/>
            <a:ext cx="4252595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en-US" sz="4000" dirty="0">
                <a:solidFill>
                  <a:srgbClr val="FFFFFF"/>
                </a:solidFill>
              </a:rPr>
              <a:t>Description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Descriptions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DB378-25D1-9523-C9AC-B8664B7A957C}"/>
              </a:ext>
            </a:extLst>
          </p:cNvPr>
          <p:cNvSpPr txBox="1"/>
          <p:nvPr/>
        </p:nvSpPr>
        <p:spPr>
          <a:xfrm>
            <a:off x="457200" y="990600"/>
            <a:ext cx="114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2CB84B1-CF2B-4F72-993D-16EEE3D9E6A7}"/>
              </a:ext>
            </a:extLst>
          </p:cNvPr>
          <p:cNvSpPr txBox="1"/>
          <p:nvPr/>
        </p:nvSpPr>
        <p:spPr>
          <a:xfrm>
            <a:off x="152400" y="685800"/>
            <a:ext cx="11734800" cy="610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is the API Marketplace?</a:t>
            </a:r>
          </a:p>
          <a:p>
            <a:pPr marL="285750" lvl="6" indent="-285750" algn="l" rtl="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 Centralized platform to expose APIs for mutual fund investments.</a:t>
            </a:r>
          </a:p>
          <a:p>
            <a:pPr marL="285750" lvl="8" indent="-285750" algn="l" rtl="0">
              <a:lnSpc>
                <a:spcPct val="90000"/>
              </a:lnSpc>
              <a:spcBef>
                <a:spcPts val="30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Enables ARB subsidiaries to offer mutual fund services through their digital channels.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Quire Sans Pro Light"/>
                <a:ea typeface="+mn-ea"/>
                <a:cs typeface="+mn-cs"/>
              </a:rPr>
              <a:t>What is a Mutual Fund?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Quire Sans Pro Light"/>
                <a:ea typeface="+mn-ea"/>
                <a:cs typeface="+mn-cs"/>
              </a:rPr>
              <a:t>Mutual Fund: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Quire Sans Pro Light"/>
                <a:ea typeface="+mn-ea"/>
                <a:cs typeface="+mn-cs"/>
              </a:rPr>
              <a:t> A pooled investment managed by professionals, offering investors proportional ownership of a diversified portfolio.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Quire Sans Pro Light"/>
                <a:ea typeface="+mn-ea"/>
                <a:cs typeface="+mn-cs"/>
              </a:rPr>
              <a:t>What Mutual Funds Do: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Quire Sans Pro Light"/>
                <a:ea typeface="+mn-ea"/>
                <a:cs typeface="+mn-cs"/>
              </a:rPr>
              <a:t>Allow investors to subscribe (buy) units and redeem (Sell) units </a:t>
            </a:r>
            <a:endParaRPr kumimoji="0" lang="ar-EG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ire Sans Pro Light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It Will Be Used (B2B):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Your business (Consumer) integrates with API Marketplace to offer these services to your customers.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Quire Sans Pro Ligh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Advantages of Mutual Funds (Business View):</a:t>
            </a:r>
          </a:p>
          <a:p>
            <a:pPr marL="285750" lvl="4" indent="-285750" algn="l" rtl="0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Expand product offerings without building your own investment platform.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Quick time</a:t>
            </a:r>
            <a:r>
              <a:rPr kumimoji="0" lang="ar-EG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</a:t>
            </a:r>
            <a:r>
              <a:rPr kumimoji="0" lang="ar-EG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through standardized APIs.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Multiple risk</a:t>
            </a:r>
            <a:r>
              <a:rPr kumimoji="0" lang="ar-EG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level options for customer choice.</a:t>
            </a:r>
            <a:endParaRPr kumimoji="0" lang="ar-EG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How It Works (Business Flow):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Your platform presents fund products, manages subscriptions/redemptions, and provides performance tracking to end customers.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794838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</a:rPr>
              <a:t>Terminologies 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956" y="260730"/>
            <a:ext cx="1001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21BFF"/>
                </a:solidFill>
                <a:latin typeface="Segoe UI"/>
                <a:cs typeface="Segoe UI"/>
              </a:rPr>
              <a:t>Terminologies- Business Definitions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84979" y="6447028"/>
            <a:ext cx="224154" cy="177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1</a:t>
            </a:r>
            <a:r>
              <a:rPr sz="900" spc="4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7E7E7E"/>
                </a:solidFill>
                <a:latin typeface="Segoe UI"/>
                <a:cs typeface="Segoe UI"/>
              </a:rPr>
              <a:t>9</a:t>
            </a:r>
            <a:r>
              <a:rPr sz="900" dirty="0">
                <a:solidFill>
                  <a:srgbClr val="7E7E7E"/>
                </a:solidFill>
                <a:latin typeface="Segoe UI"/>
                <a:cs typeface="Segoe UI"/>
              </a:rPr>
              <a:t> </a:t>
            </a:r>
            <a:endParaRPr sz="900" dirty="0">
              <a:latin typeface="Segoe UI"/>
              <a:cs typeface="Segoe U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694AB-2BAA-AC1B-E888-3CC486CA6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228220"/>
              </p:ext>
            </p:extLst>
          </p:nvPr>
        </p:nvGraphicFramePr>
        <p:xfrm>
          <a:off x="558190" y="600710"/>
          <a:ext cx="11329010" cy="552849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0641">
                  <a:extLst>
                    <a:ext uri="{9D8B030D-6E8A-4147-A177-3AD203B41FA5}">
                      <a16:colId xmlns:a16="http://schemas.microsoft.com/office/drawing/2014/main" val="795359942"/>
                    </a:ext>
                  </a:extLst>
                </a:gridCol>
                <a:gridCol w="8638369">
                  <a:extLst>
                    <a:ext uri="{9D8B030D-6E8A-4147-A177-3AD203B41FA5}">
                      <a16:colId xmlns:a16="http://schemas.microsoft.com/office/drawing/2014/main" val="3716767133"/>
                    </a:ext>
                  </a:extLst>
                </a:gridCol>
              </a:tblGrid>
              <a:tr h="699232">
                <a:tc>
                  <a:txBody>
                    <a:bodyPr/>
                    <a:lstStyle/>
                    <a:p>
                      <a:r>
                        <a:rPr lang="en-US" dirty="0"/>
                        <a:t>Mutual Fund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 investment product where multiple parties contribute capital into a professionally managed pool, providing diversified asset exposure.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383261"/>
                  </a:ext>
                </a:extLst>
              </a:tr>
              <a:tr h="830517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Subscription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The process of committing funds to acquire a proportional share in the investment pool.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764608"/>
                  </a:ext>
                </a:extLst>
              </a:tr>
              <a:tr h="581361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Redemption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act of withdrawing part or all of the invested share in exchange for its current value.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86589"/>
                  </a:ext>
                </a:extLst>
              </a:tr>
              <a:tr h="897347">
                <a:tc>
                  <a:txBody>
                    <a:bodyPr/>
                    <a:lstStyle/>
                    <a:p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Portfolio Management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oversight and reporting of invested holdings, including performance tracking and valuation updates.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093206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r>
                        <a:rPr lang="en-US" b="1" dirty="0"/>
                        <a:t>Portfolio Holdings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detailed record of all investment units owned by a customer, including fund names, quantities, acquisition dates, and related attributes, representing their current positions in the investment pool.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681000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r>
                        <a:rPr lang="en-US" b="1" dirty="0"/>
                        <a:t>Portfolio Performance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measurement and reporting of how a customer’s holdings have changed in value over time, including gains, losses, dividends, and overall return, enabling informed investment decisions.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7272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800" y="2211111"/>
            <a:ext cx="7543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</a:rPr>
              <a:t>Key </a:t>
            </a:r>
            <a:r>
              <a:rPr lang="en-US" sz="4000" b="1" dirty="0">
                <a:solidFill>
                  <a:schemeClr val="bg1"/>
                </a:solidFill>
                <a:latin typeface="Segoe UI"/>
                <a:ea typeface="+mj-ea"/>
                <a:cs typeface="Segoe UI"/>
              </a:rPr>
              <a:t>Features</a:t>
            </a:r>
            <a:r>
              <a:rPr lang="en-US" sz="4000" b="1" dirty="0">
                <a:solidFill>
                  <a:schemeClr val="bg1"/>
                </a:solidFill>
              </a:rPr>
              <a:t> – Business Perspective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324A-66D8-62E2-01B8-5729DB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Key Features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64A84-4993-87F0-3BD0-7A28B07F9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532" y="762000"/>
            <a:ext cx="11183468" cy="4985980"/>
          </a:xfrm>
        </p:spPr>
        <p:txBody>
          <a:bodyPr/>
          <a:lstStyle/>
          <a:p>
            <a:r>
              <a:rPr lang="en-US" b="1" dirty="0"/>
              <a:t>1. Subscription Capabilities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Access to a complete and up-to-date catalogue of available funds with relevant attributes </a:t>
            </a:r>
            <a:endParaRPr lang="ar-EG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Automated eligibility and suitability checks before allowing an investment.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Flexible investment amounts based on the fund’s minimum and maximum thresholds.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Immediate confirmation of successful subscriptions with unique transaction IDs.</a:t>
            </a:r>
          </a:p>
          <a:p>
            <a:r>
              <a:rPr lang="en-US" b="1" dirty="0"/>
              <a:t>2. Redemption Capabilities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Ability to request partial or full withdrawal from owned funds.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Handling of settlement timelines according to the fund’s operational rules.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Status tracking from request initiation to completion.</a:t>
            </a:r>
          </a:p>
          <a:p>
            <a:r>
              <a:rPr lang="en-US" b="1" dirty="0"/>
              <a:t>3. Portfolio Management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Consolidated view of all customer holdings across multiple funds.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Real-time updates of fund quantities, valuations, and asset composition.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Exportable reports for compliance and record-keeping.</a:t>
            </a:r>
          </a:p>
          <a:p>
            <a:r>
              <a:rPr lang="en-US" b="1" dirty="0"/>
              <a:t>4. Reporting &amp; Notifications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Transaction summaries for subscriptions and redemptions.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Periodic performance statements for each customer portfolio.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Alerts for key events such as NAV changes, dividend distributions, or fund suspensions.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0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1697862"/>
            <a:ext cx="40894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lang="en-US" sz="4000" spc="-10" dirty="0">
                <a:solidFill>
                  <a:srgbClr val="FFFFFF"/>
                </a:solidFill>
              </a:rPr>
              <a:t>Process Workflow</a:t>
            </a:r>
            <a:endParaRPr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ustomer">
            <a:extLst>
              <a:ext uri="{FF2B5EF4-FFF2-40B4-BE49-F238E27FC236}">
                <a16:creationId xmlns:a16="http://schemas.microsoft.com/office/drawing/2014/main" id="{73F064F1-00E5-04A3-998B-4494E678A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7650"/>
            <a:ext cx="107442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33600"/>
            <a:ext cx="540857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44525" algn="l"/>
              </a:tabLst>
            </a:pPr>
            <a:r>
              <a:rPr lang="en-US" sz="4000" dirty="0">
                <a:solidFill>
                  <a:schemeClr val="bg1"/>
                </a:solidFill>
              </a:rPr>
              <a:t>Inputs &amp; Outputs – Business Keys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Purpose: Explain what the client needs to provide and what they will get from the APIs.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</a:t>
            </a:r>
            <a:r>
              <a:rPr spc="40" dirty="0"/>
              <a:t> </a:t>
            </a:r>
            <a:r>
              <a:rPr spc="-50" dirty="0"/>
              <a:t>9</a:t>
            </a:r>
            <a:r>
              <a:rPr dirty="0"/>
              <a:t>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442C7765-66C9-0198-88F1-18F3A6B88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42241"/>
            <a:ext cx="1066800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Inputs (Business Perspective):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2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identification details (for KYC/Onboarding).</a:t>
            </a:r>
          </a:p>
          <a:p>
            <a:pPr marL="285750" lvl="2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selection and subscription/redemption details (fund ID, amount).</a:t>
            </a:r>
          </a:p>
          <a:p>
            <a:pPr marL="285750" lvl="2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Payment/wallet information.</a:t>
            </a:r>
          </a:p>
          <a:p>
            <a:pPr marL="285750" lvl="2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assessment questionnaire responses.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 (Business Perspective):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 details and pricing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Subscription/redemption confirmation and status.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summaries and performance reports.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 on transactions and dividends.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A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861</TotalTime>
  <Words>615</Words>
  <Application>Microsoft Office PowerPoint</Application>
  <PresentationFormat>Widescreen</PresentationFormat>
  <Paragraphs>80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Inter</vt:lpstr>
      <vt:lpstr>Quire Sans Pro Light</vt:lpstr>
      <vt:lpstr>Segoe UI</vt:lpstr>
      <vt:lpstr>Office Theme</vt:lpstr>
      <vt:lpstr>Api Marketplace  “Mutual Funds”</vt:lpstr>
      <vt:lpstr>Description</vt:lpstr>
      <vt:lpstr>Descriptions </vt:lpstr>
      <vt:lpstr>Terminologies </vt:lpstr>
      <vt:lpstr>PowerPoint Presentation</vt:lpstr>
      <vt:lpstr>PowerPoint Presentation</vt:lpstr>
      <vt:lpstr>Key Features </vt:lpstr>
      <vt:lpstr>Process Workflow</vt:lpstr>
      <vt:lpstr>PowerPoint Presentation</vt:lpstr>
      <vt:lpstr>Inputs &amp; Outputs – Business Keys</vt:lpstr>
      <vt:lpstr>Purpose: Explain what the client needs to provide and what they will get from the APIs.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 B. Basseet</dc:creator>
  <cp:lastModifiedBy>Marwan Ahmed Hafez | Ejada Systems</cp:lastModifiedBy>
  <cp:revision>4</cp:revision>
  <dcterms:created xsi:type="dcterms:W3CDTF">2025-08-14T10:33:30Z</dcterms:created>
  <dcterms:modified xsi:type="dcterms:W3CDTF">2025-09-01T14:12:12Z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2019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Ejada Internal Use Only</vt:lpwstr>
  </property>
</Properties>
</file>